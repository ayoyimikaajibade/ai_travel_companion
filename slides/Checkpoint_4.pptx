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grandir" pitchFamily="2" charset="77"/>
      <p:regular r:id="rId15"/>
    </p:embeddedFont>
    <p:embeddedFont>
      <p:font typeface="Canva Sans" panose="020B0503030501040103" pitchFamily="34" charset="0"/>
      <p:regular r:id="rId16"/>
    </p:embeddedFont>
    <p:embeddedFont>
      <p:font typeface="Canva Sans Bold" panose="020B0803030501040103" pitchFamily="34" charset="0"/>
      <p:regular r:id="rId17"/>
      <p:bold r:id="rId18"/>
    </p:embeddedFont>
    <p:embeddedFont>
      <p:font typeface="Canva Sans Italics" panose="020B0503030501040103" pitchFamily="34" charset="0"/>
      <p:regular r:id="rId19"/>
      <p:italic r:id="rId20"/>
    </p:embeddedFont>
    <p:embeddedFont>
      <p:font typeface="Canva Sans Medium" panose="020B0603030501040103" pitchFamily="34" charset="0"/>
      <p:regular r:id="rId21"/>
    </p:embeddedFont>
    <p:embeddedFont>
      <p:font typeface="Distillery Strong" pitchFamily="2" charset="77"/>
      <p:regular r:id="rId22"/>
    </p:embeddedFont>
    <p:embeddedFont>
      <p:font typeface="DM Sans Bold" pitchFamily="2" charset="77"/>
      <p:regular r:id="rId23"/>
      <p:bold r:id="rId24"/>
    </p:embeddedFont>
    <p:embeddedFont>
      <p:font typeface="Montserrat" pitchFamily="2" charset="77"/>
      <p:regular r:id="rId25"/>
      <p:bold r:id="rId26"/>
      <p:italic r:id="rId27"/>
      <p:boldItalic r:id="rId28"/>
    </p:embeddedFont>
    <p:embeddedFont>
      <p:font typeface="Montserrat Bold" pitchFamily="2" charset="77"/>
      <p:regular r:id="rId29"/>
      <p:bold r:id="rId30"/>
    </p:embeddedFont>
    <p:embeddedFont>
      <p:font typeface="Moontime" pitchFamily="2"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35" autoAdjust="0"/>
  </p:normalViewPr>
  <p:slideViewPr>
    <p:cSldViewPr>
      <p:cViewPr varScale="1">
        <p:scale>
          <a:sx n="80" d="100"/>
          <a:sy n="80" d="100"/>
        </p:scale>
        <p:origin x="73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a:t>
            </a:r>
          </a:p>
          <a:p>
            <a:endParaRPr lang="en-US"/>
          </a:p>
          <a:p>
            <a:r>
              <a:rPr lang="en-US"/>
              <a:t>We are Team TWOS</a:t>
            </a:r>
          </a:p>
          <a:p>
            <a:r>
              <a:rPr lang="en-US"/>
              <a:t>Umair, Sangmin, and Ayo.</a:t>
            </a:r>
          </a:p>
          <a:p>
            <a:endParaRPr lang="en-US"/>
          </a:p>
          <a:p>
            <a:r>
              <a:rPr lang="en-US"/>
              <a:t>Our project is AI-based Travel Companion</a:t>
            </a:r>
          </a:p>
          <a:p>
            <a:r>
              <a:rPr lang="en-US"/>
              <a:t>Travel Without Stress (TWOS).</a:t>
            </a:r>
          </a:p>
          <a:p>
            <a:endParaRPr lang="en-US"/>
          </a:p>
          <a:p>
            <a:r>
              <a:rPr lang="en-US"/>
              <a:t>It’s an intelligent platform that plans your entire trip</a:t>
            </a:r>
          </a:p>
          <a:p>
            <a:endParaRPr lang="en-US"/>
          </a:p>
          <a:p>
            <a:r>
              <a:rPr lang="en-US"/>
              <a:t>Flights, hotels, rentals, and attractions</a:t>
            </a:r>
          </a:p>
          <a:p>
            <a:endParaRPr lang="en-US"/>
          </a:p>
          <a:p>
            <a:r>
              <a:rPr lang="en-US"/>
              <a:t>All in one chat.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our references for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(Sangmin)</a:t>
            </a:r>
          </a:p>
          <a:p>
            <a:r>
              <a:rPr lang="en-US"/>
              <a:t>Thank you Umair,</a:t>
            </a:r>
          </a:p>
          <a:p>
            <a:endParaRPr lang="en-US"/>
          </a:p>
          <a:p>
            <a:r>
              <a:rPr lang="en-US"/>
              <a:t>Here is our 2nd progress. </a:t>
            </a:r>
          </a:p>
          <a:p>
            <a:r>
              <a:rPr lang="en-US"/>
              <a:t>The FastAPI services for APIs are built. Currently, we successfully get data for flights and hotels based on the user's input.</a:t>
            </a:r>
          </a:p>
          <a:p>
            <a:endParaRPr lang="en-US"/>
          </a:p>
          <a:p>
            <a:r>
              <a:rPr lang="en-US"/>
              <a:t>I don't have screenshots here, but because of these services, our NLP has also improved. Now, it parses the users' natural language and makes API calls using parsed data at once.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(Anyone)</a:t>
            </a:r>
          </a:p>
          <a:p>
            <a:r>
              <a:rPr lang="en-US"/>
              <a:t>Ok, here is our timeline</a:t>
            </a:r>
          </a:p>
          <a:p>
            <a:endParaRPr lang="en-US"/>
          </a:p>
          <a:p>
            <a:r>
              <a:rPr lang="en-US"/>
              <a:t>We are a little ahead of our plans. We already worked on Flights &amp; Hotels APIs, and are working. We are planning to push ourselves more to implement rentals and attractions integrations.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(Sangmin)</a:t>
            </a:r>
          </a:p>
          <a:p>
            <a:r>
              <a:rPr lang="en-US"/>
              <a:t>Here are our goals for the next two weeks.</a:t>
            </a:r>
          </a:p>
          <a:p>
            <a:endParaRPr lang="en-US"/>
          </a:p>
          <a:p>
            <a:r>
              <a:rPr lang="en-US"/>
              <a:t>Our next goal is to complete a user authentication system working with a database, and save the user's travel plan to the database for the user's next plan.</a:t>
            </a:r>
          </a:p>
          <a:p>
            <a:endParaRPr lang="en-US"/>
          </a:p>
          <a:p>
            <a:r>
              <a:rPr lang="en-US"/>
              <a:t>Second, we will keep working on the Rental car and the finding attractions APIs part. After that, we still start optimizing API requests and DB connections for the best user experiences.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(Umair!) </a:t>
            </a:r>
          </a:p>
          <a:p>
            <a:endParaRPr lang="en-US"/>
          </a:p>
          <a:p>
            <a:r>
              <a:rPr lang="en-US"/>
              <a:t>Thank you for your attention.</a:t>
            </a:r>
          </a:p>
          <a:p>
            <a:endParaRPr lang="en-US"/>
          </a:p>
          <a:p>
            <a:r>
              <a:rPr lang="en-US"/>
              <a:t>We’re excited to present TWOS, a smarter way to travel.</a:t>
            </a:r>
          </a:p>
          <a:p>
            <a:endParaRPr lang="en-US"/>
          </a:p>
          <a:p>
            <a:r>
              <a:rPr lang="en-US"/>
              <a:t>We’ll now open the floor for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894301" y="0"/>
            <a:ext cx="2102201" cy="10287000"/>
            <a:chOff x="0" y="0"/>
            <a:chExt cx="217946" cy="1066506"/>
          </a:xfrm>
        </p:grpSpPr>
        <p:sp>
          <p:nvSpPr>
            <p:cNvPr id="3" name="Freeform 3"/>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3"/>
              <a:stretch>
                <a:fillRect l="-317237" r="-317237"/>
              </a:stretch>
            </a:blipFill>
          </p:spPr>
        </p:sp>
      </p:grpSp>
      <p:grpSp>
        <p:nvGrpSpPr>
          <p:cNvPr id="4" name="Group 4"/>
          <p:cNvGrpSpPr/>
          <p:nvPr/>
        </p:nvGrpSpPr>
        <p:grpSpPr>
          <a:xfrm>
            <a:off x="11996501" y="0"/>
            <a:ext cx="2102201" cy="10287000"/>
            <a:chOff x="0" y="0"/>
            <a:chExt cx="217946" cy="1066506"/>
          </a:xfrm>
        </p:grpSpPr>
        <p:sp>
          <p:nvSpPr>
            <p:cNvPr id="5" name="Freeform 5"/>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4"/>
              <a:stretch>
                <a:fillRect l="-316674" r="-316674"/>
              </a:stretch>
            </a:blipFill>
          </p:spPr>
        </p:sp>
      </p:grpSp>
      <p:grpSp>
        <p:nvGrpSpPr>
          <p:cNvPr id="6" name="Group 6"/>
          <p:cNvGrpSpPr/>
          <p:nvPr/>
        </p:nvGrpSpPr>
        <p:grpSpPr>
          <a:xfrm>
            <a:off x="14098702" y="0"/>
            <a:ext cx="2102201" cy="10287000"/>
            <a:chOff x="0" y="0"/>
            <a:chExt cx="217946" cy="1066506"/>
          </a:xfrm>
        </p:grpSpPr>
        <p:sp>
          <p:nvSpPr>
            <p:cNvPr id="7" name="Freeform 7"/>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5"/>
              <a:stretch>
                <a:fillRect l="-317237" r="-317237"/>
              </a:stretch>
            </a:blipFill>
          </p:spPr>
        </p:sp>
      </p:grpSp>
      <p:grpSp>
        <p:nvGrpSpPr>
          <p:cNvPr id="8" name="Group 8"/>
          <p:cNvGrpSpPr/>
          <p:nvPr/>
        </p:nvGrpSpPr>
        <p:grpSpPr>
          <a:xfrm>
            <a:off x="16208200" y="0"/>
            <a:ext cx="2102201" cy="10287000"/>
            <a:chOff x="0" y="0"/>
            <a:chExt cx="217946" cy="1066506"/>
          </a:xfrm>
        </p:grpSpPr>
        <p:sp>
          <p:nvSpPr>
            <p:cNvPr id="9" name="Freeform 9"/>
            <p:cNvSpPr/>
            <p:nvPr/>
          </p:nvSpPr>
          <p:spPr>
            <a:xfrm>
              <a:off x="0" y="0"/>
              <a:ext cx="217946" cy="1066506"/>
            </a:xfrm>
            <a:custGeom>
              <a:avLst/>
              <a:gdLst/>
              <a:ahLst/>
              <a:cxnLst/>
              <a:rect l="l" t="t" r="r" b="b"/>
              <a:pathLst>
                <a:path w="217946" h="1066506">
                  <a:moveTo>
                    <a:pt x="0" y="0"/>
                  </a:moveTo>
                  <a:lnTo>
                    <a:pt x="217946" y="0"/>
                  </a:lnTo>
                  <a:lnTo>
                    <a:pt x="217946" y="1066506"/>
                  </a:lnTo>
                  <a:lnTo>
                    <a:pt x="0" y="1066506"/>
                  </a:lnTo>
                  <a:close/>
                </a:path>
              </a:pathLst>
            </a:custGeom>
            <a:blipFill>
              <a:blip r:embed="rId6"/>
              <a:stretch>
                <a:fillRect l="-317237" r="-317237"/>
              </a:stretch>
            </a:blipFill>
          </p:spPr>
        </p:sp>
      </p:grpSp>
      <p:sp>
        <p:nvSpPr>
          <p:cNvPr id="10" name="Freeform 10"/>
          <p:cNvSpPr/>
          <p:nvPr/>
        </p:nvSpPr>
        <p:spPr>
          <a:xfrm>
            <a:off x="6314025" y="1576669"/>
            <a:ext cx="1475251" cy="1588732"/>
          </a:xfrm>
          <a:custGeom>
            <a:avLst/>
            <a:gdLst/>
            <a:ahLst/>
            <a:cxnLst/>
            <a:rect l="l" t="t" r="r" b="b"/>
            <a:pathLst>
              <a:path w="1475251" h="1588732">
                <a:moveTo>
                  <a:pt x="0" y="0"/>
                </a:moveTo>
                <a:lnTo>
                  <a:pt x="1475251" y="0"/>
                </a:lnTo>
                <a:lnTo>
                  <a:pt x="1475251" y="1588732"/>
                </a:lnTo>
                <a:lnTo>
                  <a:pt x="0" y="1588732"/>
                </a:lnTo>
                <a:lnTo>
                  <a:pt x="0" y="0"/>
                </a:lnTo>
                <a:close/>
              </a:path>
            </a:pathLst>
          </a:custGeom>
          <a:blipFill>
            <a:blip r:embed="rId7"/>
            <a:stretch>
              <a:fillRect l="-104548" t="-64936" r="-105941" b="-123375"/>
            </a:stretch>
          </a:blipFill>
        </p:spPr>
      </p:sp>
      <p:sp>
        <p:nvSpPr>
          <p:cNvPr id="11" name="TextBox 11"/>
          <p:cNvSpPr txBox="1"/>
          <p:nvPr/>
        </p:nvSpPr>
        <p:spPr>
          <a:xfrm>
            <a:off x="1028700" y="6309107"/>
            <a:ext cx="6760576" cy="1666875"/>
          </a:xfrm>
          <a:prstGeom prst="rect">
            <a:avLst/>
          </a:prstGeom>
        </p:spPr>
        <p:txBody>
          <a:bodyPr lIns="0" tIns="0" rIns="0" bIns="0" rtlCol="0" anchor="t">
            <a:spAutoFit/>
          </a:bodyPr>
          <a:lstStyle/>
          <a:p>
            <a:pPr marL="0" lvl="0" indent="0" algn="l">
              <a:lnSpc>
                <a:spcPts val="4172"/>
              </a:lnSpc>
            </a:pPr>
            <a:r>
              <a:rPr lang="en-US" sz="3477">
                <a:solidFill>
                  <a:srgbClr val="314528"/>
                </a:solidFill>
                <a:latin typeface="Agrandir"/>
                <a:ea typeface="Agrandir"/>
                <a:cs typeface="Agrandir"/>
                <a:sym typeface="Agrandir"/>
              </a:rPr>
              <a:t>Capstone Project: Checkpoint 4</a:t>
            </a:r>
          </a:p>
          <a:p>
            <a:pPr marL="0" lvl="0" indent="0" algn="l">
              <a:lnSpc>
                <a:spcPts val="4172"/>
              </a:lnSpc>
            </a:pPr>
            <a:endParaRPr lang="en-US" sz="3477">
              <a:solidFill>
                <a:srgbClr val="314528"/>
              </a:solidFill>
              <a:latin typeface="Agrandir"/>
              <a:ea typeface="Agrandir"/>
              <a:cs typeface="Agrandir"/>
              <a:sym typeface="Agrandir"/>
            </a:endParaRPr>
          </a:p>
          <a:p>
            <a:pPr marL="0" lvl="0" indent="0" algn="l">
              <a:lnSpc>
                <a:spcPts val="4172"/>
              </a:lnSpc>
            </a:pPr>
            <a:r>
              <a:rPr lang="en-US" sz="3477">
                <a:solidFill>
                  <a:srgbClr val="314528"/>
                </a:solidFill>
                <a:latin typeface="Agrandir"/>
                <a:ea typeface="Agrandir"/>
                <a:cs typeface="Agrandir"/>
                <a:sym typeface="Agrandir"/>
              </a:rPr>
              <a:t>Umair, Sangmin, Ayo</a:t>
            </a:r>
          </a:p>
        </p:txBody>
      </p:sp>
      <p:grpSp>
        <p:nvGrpSpPr>
          <p:cNvPr id="12" name="Group 12"/>
          <p:cNvGrpSpPr/>
          <p:nvPr/>
        </p:nvGrpSpPr>
        <p:grpSpPr>
          <a:xfrm>
            <a:off x="1028700" y="1576669"/>
            <a:ext cx="8421199" cy="3477242"/>
            <a:chOff x="0" y="0"/>
            <a:chExt cx="11228265" cy="4636322"/>
          </a:xfrm>
        </p:grpSpPr>
        <p:sp>
          <p:nvSpPr>
            <p:cNvPr id="13" name="TextBox 13"/>
            <p:cNvSpPr txBox="1"/>
            <p:nvPr/>
          </p:nvSpPr>
          <p:spPr>
            <a:xfrm>
              <a:off x="0" y="3597250"/>
              <a:ext cx="11228265" cy="1039072"/>
            </a:xfrm>
            <a:prstGeom prst="rect">
              <a:avLst/>
            </a:prstGeom>
          </p:spPr>
          <p:txBody>
            <a:bodyPr lIns="0" tIns="0" rIns="0" bIns="0" rtlCol="0" anchor="t">
              <a:spAutoFit/>
            </a:bodyPr>
            <a:lstStyle/>
            <a:p>
              <a:pPr marL="0" lvl="0" indent="0" algn="l">
                <a:lnSpc>
                  <a:spcPts val="4900"/>
                </a:lnSpc>
              </a:pPr>
              <a:r>
                <a:rPr lang="en-US" sz="4900" spc="-49">
                  <a:solidFill>
                    <a:srgbClr val="314528"/>
                  </a:solidFill>
                  <a:latin typeface="Agrandir"/>
                  <a:ea typeface="Agrandir"/>
                  <a:cs typeface="Agrandir"/>
                  <a:sym typeface="Agrandir"/>
                </a:rPr>
                <a:t>Checkpoint 4 (Week 12-14)</a:t>
              </a:r>
            </a:p>
          </p:txBody>
        </p:sp>
        <p:sp>
          <p:nvSpPr>
            <p:cNvPr id="14" name="TextBox 14"/>
            <p:cNvSpPr txBox="1"/>
            <p:nvPr/>
          </p:nvSpPr>
          <p:spPr>
            <a:xfrm>
              <a:off x="0" y="-114300"/>
              <a:ext cx="11228265" cy="2722855"/>
            </a:xfrm>
            <a:prstGeom prst="rect">
              <a:avLst/>
            </a:prstGeom>
          </p:spPr>
          <p:txBody>
            <a:bodyPr lIns="0" tIns="0" rIns="0" bIns="0" rtlCol="0" anchor="t">
              <a:spAutoFit/>
            </a:bodyPr>
            <a:lstStyle/>
            <a:p>
              <a:pPr marL="0" lvl="0" indent="0" algn="l">
                <a:lnSpc>
                  <a:spcPts val="12899"/>
                </a:lnSpc>
              </a:pPr>
              <a:r>
                <a:rPr lang="en-US" sz="12899" spc="-128">
                  <a:solidFill>
                    <a:srgbClr val="34EBFD"/>
                  </a:solidFill>
                  <a:latin typeface="Agrandir"/>
                  <a:ea typeface="Agrandir"/>
                  <a:cs typeface="Agrandir"/>
                  <a:sym typeface="Agrandir"/>
                </a:rPr>
                <a:t>TWOS</a:t>
              </a:r>
            </a:p>
          </p:txBody>
        </p:sp>
        <p:sp>
          <p:nvSpPr>
            <p:cNvPr id="15" name="TextBox 15"/>
            <p:cNvSpPr txBox="1"/>
            <p:nvPr/>
          </p:nvSpPr>
          <p:spPr>
            <a:xfrm>
              <a:off x="0" y="2560930"/>
              <a:ext cx="11228265" cy="1100032"/>
            </a:xfrm>
            <a:prstGeom prst="rect">
              <a:avLst/>
            </a:prstGeom>
          </p:spPr>
          <p:txBody>
            <a:bodyPr lIns="0" tIns="0" rIns="0" bIns="0" rtlCol="0" anchor="t">
              <a:spAutoFit/>
            </a:bodyPr>
            <a:lstStyle/>
            <a:p>
              <a:pPr marL="0" lvl="0" indent="0" algn="l">
                <a:lnSpc>
                  <a:spcPts val="5200"/>
                </a:lnSpc>
              </a:pPr>
              <a:endParaRPr/>
            </a:p>
          </p:txBody>
        </p:sp>
      </p:grpSp>
      <p:sp>
        <p:nvSpPr>
          <p:cNvPr id="16" name="TextBox 16"/>
          <p:cNvSpPr txBox="1"/>
          <p:nvPr/>
        </p:nvSpPr>
        <p:spPr>
          <a:xfrm>
            <a:off x="4923304" y="9485334"/>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 Ayo, Umair</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1910541"/>
            <a:ext cx="16230600" cy="7347759"/>
            <a:chOff x="0" y="0"/>
            <a:chExt cx="5490351" cy="2485538"/>
          </a:xfrm>
        </p:grpSpPr>
        <p:sp>
          <p:nvSpPr>
            <p:cNvPr id="3" name="Freeform 3"/>
            <p:cNvSpPr/>
            <p:nvPr/>
          </p:nvSpPr>
          <p:spPr>
            <a:xfrm>
              <a:off x="0" y="0"/>
              <a:ext cx="5490351" cy="2485538"/>
            </a:xfrm>
            <a:custGeom>
              <a:avLst/>
              <a:gdLst/>
              <a:ahLst/>
              <a:cxnLst/>
              <a:rect l="l" t="t" r="r" b="b"/>
              <a:pathLst>
                <a:path w="5490351" h="2485538">
                  <a:moveTo>
                    <a:pt x="0" y="0"/>
                  </a:moveTo>
                  <a:lnTo>
                    <a:pt x="5490351" y="0"/>
                  </a:lnTo>
                  <a:lnTo>
                    <a:pt x="5490351" y="2485538"/>
                  </a:lnTo>
                  <a:lnTo>
                    <a:pt x="0" y="2485538"/>
                  </a:lnTo>
                  <a:close/>
                </a:path>
              </a:pathLst>
            </a:custGeom>
            <a:solidFill>
              <a:srgbClr val="E3E8E1"/>
            </a:solidFill>
          </p:spPr>
        </p:sp>
      </p:grpSp>
      <p:sp>
        <p:nvSpPr>
          <p:cNvPr id="4" name="TextBox 4"/>
          <p:cNvSpPr txBox="1"/>
          <p:nvPr/>
        </p:nvSpPr>
        <p:spPr>
          <a:xfrm>
            <a:off x="1028700" y="1076325"/>
            <a:ext cx="16230600" cy="628650"/>
          </a:xfrm>
          <a:prstGeom prst="rect">
            <a:avLst/>
          </a:prstGeom>
        </p:spPr>
        <p:txBody>
          <a:bodyPr lIns="0" tIns="0" rIns="0" bIns="0" rtlCol="0" anchor="t">
            <a:spAutoFit/>
          </a:bodyPr>
          <a:lstStyle/>
          <a:p>
            <a:pPr marL="0" lvl="0" indent="0" algn="l">
              <a:lnSpc>
                <a:spcPts val="4949"/>
              </a:lnSpc>
              <a:spcBef>
                <a:spcPct val="0"/>
              </a:spcBef>
            </a:pPr>
            <a:r>
              <a:rPr lang="en-US" sz="4499" b="1" u="none" spc="-44">
                <a:solidFill>
                  <a:srgbClr val="002217"/>
                </a:solidFill>
                <a:latin typeface="Canva Sans Bold"/>
                <a:ea typeface="Canva Sans Bold"/>
                <a:cs typeface="Canva Sans Bold"/>
                <a:sym typeface="Canva Sans Bold"/>
              </a:rPr>
              <a:t>References</a:t>
            </a:r>
          </a:p>
        </p:txBody>
      </p:sp>
      <p:sp>
        <p:nvSpPr>
          <p:cNvPr id="5" name="TextBox 5"/>
          <p:cNvSpPr txBox="1"/>
          <p:nvPr/>
        </p:nvSpPr>
        <p:spPr>
          <a:xfrm>
            <a:off x="1296616" y="2168755"/>
            <a:ext cx="15675719" cy="6764655"/>
          </a:xfrm>
          <a:prstGeom prst="rect">
            <a:avLst/>
          </a:prstGeom>
        </p:spPr>
        <p:txBody>
          <a:bodyPr lIns="0" tIns="0" rIns="0" bIns="0" rtlCol="0" anchor="t">
            <a:spAutoFit/>
          </a:bodyPr>
          <a:lstStyle/>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Booking.com Demand API. (2025). Booking.com. https://developers.booking.com/demand/docs/open-api/demand-api</a:t>
            </a:r>
          </a:p>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Connect to Amadeus travel APIs | Amadeus for Developers. (n.d.). Amadeus IT Group SA. https://developers.amadeus.com/self-service</a:t>
            </a:r>
          </a:p>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Flights - Expedia Group Developer Hub. (2025). Expediagroup.com. https://developers.expediagroup.com/rapid/flights#step-1---search-available-flight-offers</a:t>
            </a:r>
          </a:p>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https://dev.to/gbengelebs/netflix-system-design-backend-architecture-10i3</a:t>
            </a:r>
          </a:p>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Swagger-Api. (n.d.). GitHub - swagger-api/swagger-ui: Swagger UI is a collection of HTML, JavaScript, and CSS assets that dynamically generate beautiful documentation from a Swagger-compliant API. GitHub. https://github.com/swagger-api/swagger-ui</a:t>
            </a:r>
          </a:p>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The PostgreSQL Global Development Group. (2025). PostgreSQL: Documentation. Www.postgresql.org. https://www.postgresql.org/docs/</a:t>
            </a:r>
          </a:p>
          <a:p>
            <a:pPr marL="518158" lvl="1" indent="-259079" algn="l">
              <a:lnSpc>
                <a:spcPts val="3839"/>
              </a:lnSpc>
              <a:buAutoNum type="arabicPeriod"/>
            </a:pPr>
            <a:r>
              <a:rPr lang="en-US" sz="2399" b="1">
                <a:solidFill>
                  <a:srgbClr val="002217"/>
                </a:solidFill>
                <a:latin typeface="Canva Sans Medium"/>
                <a:ea typeface="Canva Sans Medium"/>
                <a:cs typeface="Canva Sans Medium"/>
                <a:sym typeface="Canva Sans Medium"/>
              </a:rPr>
              <a:t>Welcome to the Tiqets Distributor API | Tiqets for developers. (2025, September 5). Tiqets.dev. https://developers.tiqets.dev</a:t>
            </a:r>
          </a:p>
        </p:txBody>
      </p:sp>
      <p:sp>
        <p:nvSpPr>
          <p:cNvPr id="6" name="TextBox 6"/>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Umair, Sangmin, Ayo</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22934" y="2474125"/>
            <a:ext cx="5023379" cy="7336465"/>
            <a:chOff x="0" y="0"/>
            <a:chExt cx="1323030" cy="1932238"/>
          </a:xfrm>
        </p:grpSpPr>
        <p:sp>
          <p:nvSpPr>
            <p:cNvPr id="3" name="Freeform 3"/>
            <p:cNvSpPr/>
            <p:nvPr/>
          </p:nvSpPr>
          <p:spPr>
            <a:xfrm>
              <a:off x="0" y="0"/>
              <a:ext cx="1323030" cy="1932238"/>
            </a:xfrm>
            <a:custGeom>
              <a:avLst/>
              <a:gdLst/>
              <a:ahLst/>
              <a:cxnLst/>
              <a:rect l="l" t="t" r="r" b="b"/>
              <a:pathLst>
                <a:path w="1323030" h="1932238">
                  <a:moveTo>
                    <a:pt x="24659" y="0"/>
                  </a:moveTo>
                  <a:lnTo>
                    <a:pt x="1298371" y="0"/>
                  </a:lnTo>
                  <a:cubicBezTo>
                    <a:pt x="1304911" y="0"/>
                    <a:pt x="1311183" y="2598"/>
                    <a:pt x="1315807" y="7222"/>
                  </a:cubicBezTo>
                  <a:cubicBezTo>
                    <a:pt x="1320432" y="11847"/>
                    <a:pt x="1323030" y="18119"/>
                    <a:pt x="1323030" y="24659"/>
                  </a:cubicBezTo>
                  <a:lnTo>
                    <a:pt x="1323030" y="1907579"/>
                  </a:lnTo>
                  <a:cubicBezTo>
                    <a:pt x="1323030" y="1914119"/>
                    <a:pt x="1320432" y="1920391"/>
                    <a:pt x="1315807" y="1925015"/>
                  </a:cubicBezTo>
                  <a:cubicBezTo>
                    <a:pt x="1311183" y="1929640"/>
                    <a:pt x="1304911" y="1932238"/>
                    <a:pt x="1298371" y="1932238"/>
                  </a:cubicBezTo>
                  <a:lnTo>
                    <a:pt x="24659" y="1932238"/>
                  </a:lnTo>
                  <a:cubicBezTo>
                    <a:pt x="18119" y="1932238"/>
                    <a:pt x="11847" y="1929640"/>
                    <a:pt x="7222" y="1925015"/>
                  </a:cubicBezTo>
                  <a:cubicBezTo>
                    <a:pt x="2598" y="1920391"/>
                    <a:pt x="0" y="1914119"/>
                    <a:pt x="0" y="1907579"/>
                  </a:cubicBezTo>
                  <a:lnTo>
                    <a:pt x="0" y="24659"/>
                  </a:lnTo>
                  <a:cubicBezTo>
                    <a:pt x="0" y="18119"/>
                    <a:pt x="2598" y="11847"/>
                    <a:pt x="7222" y="7222"/>
                  </a:cubicBezTo>
                  <a:cubicBezTo>
                    <a:pt x="11847" y="2598"/>
                    <a:pt x="18119" y="0"/>
                    <a:pt x="24659" y="0"/>
                  </a:cubicBezTo>
                  <a:close/>
                </a:path>
              </a:pathLst>
            </a:custGeom>
            <a:solidFill>
              <a:srgbClr val="FFFFFF">
                <a:alpha val="34902"/>
              </a:srgbClr>
            </a:solidFill>
          </p:spPr>
        </p:sp>
        <p:sp>
          <p:nvSpPr>
            <p:cNvPr id="4" name="TextBox 4"/>
            <p:cNvSpPr txBox="1"/>
            <p:nvPr/>
          </p:nvSpPr>
          <p:spPr>
            <a:xfrm>
              <a:off x="0" y="-28575"/>
              <a:ext cx="1323030" cy="1960813"/>
            </a:xfrm>
            <a:prstGeom prst="rect">
              <a:avLst/>
            </a:prstGeom>
          </p:spPr>
          <p:txBody>
            <a:bodyPr lIns="50800" tIns="50800" rIns="50800" bIns="50800" rtlCol="0" anchor="ctr"/>
            <a:lstStyle/>
            <a:p>
              <a:pPr algn="ctr">
                <a:lnSpc>
                  <a:spcPts val="3314"/>
                </a:lnSpc>
              </a:pPr>
              <a:endParaRPr/>
            </a:p>
          </p:txBody>
        </p:sp>
      </p:grpSp>
      <p:sp>
        <p:nvSpPr>
          <p:cNvPr id="5" name="TextBox 5"/>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Roles for Team Members</a:t>
            </a:r>
          </a:p>
        </p:txBody>
      </p:sp>
      <p:grpSp>
        <p:nvGrpSpPr>
          <p:cNvPr id="6" name="Group 6"/>
          <p:cNvGrpSpPr/>
          <p:nvPr/>
        </p:nvGrpSpPr>
        <p:grpSpPr>
          <a:xfrm>
            <a:off x="6632533" y="2474125"/>
            <a:ext cx="5023379" cy="7336465"/>
            <a:chOff x="0" y="0"/>
            <a:chExt cx="1323030" cy="1932238"/>
          </a:xfrm>
        </p:grpSpPr>
        <p:sp>
          <p:nvSpPr>
            <p:cNvPr id="7" name="Freeform 7"/>
            <p:cNvSpPr/>
            <p:nvPr/>
          </p:nvSpPr>
          <p:spPr>
            <a:xfrm>
              <a:off x="0" y="0"/>
              <a:ext cx="1323030" cy="1932238"/>
            </a:xfrm>
            <a:custGeom>
              <a:avLst/>
              <a:gdLst/>
              <a:ahLst/>
              <a:cxnLst/>
              <a:rect l="l" t="t" r="r" b="b"/>
              <a:pathLst>
                <a:path w="1323030" h="1932238">
                  <a:moveTo>
                    <a:pt x="24659" y="0"/>
                  </a:moveTo>
                  <a:lnTo>
                    <a:pt x="1298371" y="0"/>
                  </a:lnTo>
                  <a:cubicBezTo>
                    <a:pt x="1304911" y="0"/>
                    <a:pt x="1311183" y="2598"/>
                    <a:pt x="1315807" y="7222"/>
                  </a:cubicBezTo>
                  <a:cubicBezTo>
                    <a:pt x="1320432" y="11847"/>
                    <a:pt x="1323030" y="18119"/>
                    <a:pt x="1323030" y="24659"/>
                  </a:cubicBezTo>
                  <a:lnTo>
                    <a:pt x="1323030" y="1907579"/>
                  </a:lnTo>
                  <a:cubicBezTo>
                    <a:pt x="1323030" y="1914119"/>
                    <a:pt x="1320432" y="1920391"/>
                    <a:pt x="1315807" y="1925015"/>
                  </a:cubicBezTo>
                  <a:cubicBezTo>
                    <a:pt x="1311183" y="1929640"/>
                    <a:pt x="1304911" y="1932238"/>
                    <a:pt x="1298371" y="1932238"/>
                  </a:cubicBezTo>
                  <a:lnTo>
                    <a:pt x="24659" y="1932238"/>
                  </a:lnTo>
                  <a:cubicBezTo>
                    <a:pt x="18119" y="1932238"/>
                    <a:pt x="11847" y="1929640"/>
                    <a:pt x="7222" y="1925015"/>
                  </a:cubicBezTo>
                  <a:cubicBezTo>
                    <a:pt x="2598" y="1920391"/>
                    <a:pt x="0" y="1914119"/>
                    <a:pt x="0" y="1907579"/>
                  </a:cubicBezTo>
                  <a:lnTo>
                    <a:pt x="0" y="24659"/>
                  </a:lnTo>
                  <a:cubicBezTo>
                    <a:pt x="0" y="18119"/>
                    <a:pt x="2598" y="11847"/>
                    <a:pt x="7222" y="7222"/>
                  </a:cubicBezTo>
                  <a:cubicBezTo>
                    <a:pt x="11847" y="2598"/>
                    <a:pt x="18119" y="0"/>
                    <a:pt x="24659" y="0"/>
                  </a:cubicBezTo>
                  <a:close/>
                </a:path>
              </a:pathLst>
            </a:custGeom>
            <a:solidFill>
              <a:srgbClr val="101416"/>
            </a:solidFill>
          </p:spPr>
        </p:sp>
        <p:sp>
          <p:nvSpPr>
            <p:cNvPr id="8" name="TextBox 8"/>
            <p:cNvSpPr txBox="1"/>
            <p:nvPr/>
          </p:nvSpPr>
          <p:spPr>
            <a:xfrm>
              <a:off x="0" y="-28575"/>
              <a:ext cx="1323030" cy="1960813"/>
            </a:xfrm>
            <a:prstGeom prst="rect">
              <a:avLst/>
            </a:prstGeom>
          </p:spPr>
          <p:txBody>
            <a:bodyPr lIns="50800" tIns="50800" rIns="50800" bIns="50800" rtlCol="0" anchor="ctr"/>
            <a:lstStyle/>
            <a:p>
              <a:pPr algn="ctr">
                <a:lnSpc>
                  <a:spcPts val="3314"/>
                </a:lnSpc>
              </a:pPr>
              <a:endParaRPr/>
            </a:p>
          </p:txBody>
        </p:sp>
      </p:grpSp>
      <p:grpSp>
        <p:nvGrpSpPr>
          <p:cNvPr id="9" name="Group 9"/>
          <p:cNvGrpSpPr/>
          <p:nvPr/>
        </p:nvGrpSpPr>
        <p:grpSpPr>
          <a:xfrm>
            <a:off x="12141687" y="2474125"/>
            <a:ext cx="5023379" cy="7336465"/>
            <a:chOff x="0" y="0"/>
            <a:chExt cx="1323030" cy="1932238"/>
          </a:xfrm>
        </p:grpSpPr>
        <p:sp>
          <p:nvSpPr>
            <p:cNvPr id="10" name="Freeform 10"/>
            <p:cNvSpPr/>
            <p:nvPr/>
          </p:nvSpPr>
          <p:spPr>
            <a:xfrm>
              <a:off x="0" y="0"/>
              <a:ext cx="1323030" cy="1932238"/>
            </a:xfrm>
            <a:custGeom>
              <a:avLst/>
              <a:gdLst/>
              <a:ahLst/>
              <a:cxnLst/>
              <a:rect l="l" t="t" r="r" b="b"/>
              <a:pathLst>
                <a:path w="1323030" h="1932238">
                  <a:moveTo>
                    <a:pt x="24659" y="0"/>
                  </a:moveTo>
                  <a:lnTo>
                    <a:pt x="1298371" y="0"/>
                  </a:lnTo>
                  <a:cubicBezTo>
                    <a:pt x="1304911" y="0"/>
                    <a:pt x="1311183" y="2598"/>
                    <a:pt x="1315807" y="7222"/>
                  </a:cubicBezTo>
                  <a:cubicBezTo>
                    <a:pt x="1320432" y="11847"/>
                    <a:pt x="1323030" y="18119"/>
                    <a:pt x="1323030" y="24659"/>
                  </a:cubicBezTo>
                  <a:lnTo>
                    <a:pt x="1323030" y="1907579"/>
                  </a:lnTo>
                  <a:cubicBezTo>
                    <a:pt x="1323030" y="1914119"/>
                    <a:pt x="1320432" y="1920391"/>
                    <a:pt x="1315807" y="1925015"/>
                  </a:cubicBezTo>
                  <a:cubicBezTo>
                    <a:pt x="1311183" y="1929640"/>
                    <a:pt x="1304911" y="1932238"/>
                    <a:pt x="1298371" y="1932238"/>
                  </a:cubicBezTo>
                  <a:lnTo>
                    <a:pt x="24659" y="1932238"/>
                  </a:lnTo>
                  <a:cubicBezTo>
                    <a:pt x="18119" y="1932238"/>
                    <a:pt x="11847" y="1929640"/>
                    <a:pt x="7222" y="1925015"/>
                  </a:cubicBezTo>
                  <a:cubicBezTo>
                    <a:pt x="2598" y="1920391"/>
                    <a:pt x="0" y="1914119"/>
                    <a:pt x="0" y="1907579"/>
                  </a:cubicBezTo>
                  <a:lnTo>
                    <a:pt x="0" y="24659"/>
                  </a:lnTo>
                  <a:cubicBezTo>
                    <a:pt x="0" y="18119"/>
                    <a:pt x="2598" y="11847"/>
                    <a:pt x="7222" y="7222"/>
                  </a:cubicBezTo>
                  <a:cubicBezTo>
                    <a:pt x="11847" y="2598"/>
                    <a:pt x="18119" y="0"/>
                    <a:pt x="24659" y="0"/>
                  </a:cubicBezTo>
                  <a:close/>
                </a:path>
              </a:pathLst>
            </a:custGeom>
            <a:solidFill>
              <a:srgbClr val="FFFFFF">
                <a:alpha val="34902"/>
              </a:srgbClr>
            </a:solidFill>
          </p:spPr>
        </p:sp>
        <p:sp>
          <p:nvSpPr>
            <p:cNvPr id="11" name="TextBox 11"/>
            <p:cNvSpPr txBox="1"/>
            <p:nvPr/>
          </p:nvSpPr>
          <p:spPr>
            <a:xfrm>
              <a:off x="0" y="-28575"/>
              <a:ext cx="1323030" cy="1960813"/>
            </a:xfrm>
            <a:prstGeom prst="rect">
              <a:avLst/>
            </a:prstGeom>
          </p:spPr>
          <p:txBody>
            <a:bodyPr lIns="50800" tIns="50800" rIns="50800" bIns="50800" rtlCol="0" anchor="ctr"/>
            <a:lstStyle/>
            <a:p>
              <a:pPr algn="ctr">
                <a:lnSpc>
                  <a:spcPts val="3314"/>
                </a:lnSpc>
              </a:pPr>
              <a:endParaRPr/>
            </a:p>
          </p:txBody>
        </p:sp>
      </p:grpSp>
      <p:grpSp>
        <p:nvGrpSpPr>
          <p:cNvPr id="12" name="Group 12"/>
          <p:cNvGrpSpPr>
            <a:grpSpLocks noChangeAspect="1"/>
          </p:cNvGrpSpPr>
          <p:nvPr/>
        </p:nvGrpSpPr>
        <p:grpSpPr>
          <a:xfrm>
            <a:off x="7473949" y="2592695"/>
            <a:ext cx="3362218" cy="3362204"/>
            <a:chOff x="0" y="0"/>
            <a:chExt cx="6350025" cy="6350000"/>
          </a:xfrm>
        </p:grpSpPr>
        <p:sp>
          <p:nvSpPr>
            <p:cNvPr id="13" name="Freeform 13"/>
            <p:cNvSpPr/>
            <p:nvPr/>
          </p:nvSpPr>
          <p:spPr>
            <a:xfrm>
              <a:off x="0" y="0"/>
              <a:ext cx="6350026" cy="6350000"/>
            </a:xfrm>
            <a:custGeom>
              <a:avLst/>
              <a:gdLst/>
              <a:ahLst/>
              <a:cxnLst/>
              <a:rect l="l" t="t" r="r" b="b"/>
              <a:pathLst>
                <a:path w="6350026" h="6350000">
                  <a:moveTo>
                    <a:pt x="0" y="0"/>
                  </a:moveTo>
                  <a:lnTo>
                    <a:pt x="6350026" y="0"/>
                  </a:lnTo>
                  <a:lnTo>
                    <a:pt x="6350026" y="6350000"/>
                  </a:lnTo>
                  <a:lnTo>
                    <a:pt x="0" y="6350000"/>
                  </a:lnTo>
                  <a:close/>
                </a:path>
              </a:pathLst>
            </a:custGeom>
            <a:blipFill>
              <a:blip r:embed="rId2"/>
              <a:stretch>
                <a:fillRect/>
              </a:stretch>
            </a:blipFill>
          </p:spPr>
        </p:sp>
      </p:grpSp>
      <p:grpSp>
        <p:nvGrpSpPr>
          <p:cNvPr id="14" name="Group 14"/>
          <p:cNvGrpSpPr>
            <a:grpSpLocks noChangeAspect="1"/>
          </p:cNvGrpSpPr>
          <p:nvPr/>
        </p:nvGrpSpPr>
        <p:grpSpPr>
          <a:xfrm>
            <a:off x="1955865" y="2592695"/>
            <a:ext cx="3362218" cy="3362204"/>
            <a:chOff x="0" y="0"/>
            <a:chExt cx="6350025" cy="6350000"/>
          </a:xfrm>
        </p:grpSpPr>
        <p:sp>
          <p:nvSpPr>
            <p:cNvPr id="15" name="Freeform 15"/>
            <p:cNvSpPr/>
            <p:nvPr/>
          </p:nvSpPr>
          <p:spPr>
            <a:xfrm>
              <a:off x="0" y="0"/>
              <a:ext cx="6350026" cy="6350000"/>
            </a:xfrm>
            <a:custGeom>
              <a:avLst/>
              <a:gdLst/>
              <a:ahLst/>
              <a:cxnLst/>
              <a:rect l="l" t="t" r="r" b="b"/>
              <a:pathLst>
                <a:path w="6350026" h="6350000">
                  <a:moveTo>
                    <a:pt x="0" y="0"/>
                  </a:moveTo>
                  <a:lnTo>
                    <a:pt x="6350026" y="0"/>
                  </a:lnTo>
                  <a:lnTo>
                    <a:pt x="6350026" y="6350000"/>
                  </a:lnTo>
                  <a:lnTo>
                    <a:pt x="0" y="6350000"/>
                  </a:lnTo>
                  <a:close/>
                </a:path>
              </a:pathLst>
            </a:custGeom>
            <a:blipFill>
              <a:blip r:embed="rId3"/>
              <a:stretch>
                <a:fillRect l="-1149" r="-1149"/>
              </a:stretch>
            </a:blipFill>
          </p:spPr>
        </p:sp>
      </p:grpSp>
      <p:grpSp>
        <p:nvGrpSpPr>
          <p:cNvPr id="16" name="Group 16"/>
          <p:cNvGrpSpPr>
            <a:grpSpLocks noChangeAspect="1"/>
          </p:cNvGrpSpPr>
          <p:nvPr/>
        </p:nvGrpSpPr>
        <p:grpSpPr>
          <a:xfrm>
            <a:off x="12970362" y="2592695"/>
            <a:ext cx="3362218" cy="3362204"/>
            <a:chOff x="0" y="0"/>
            <a:chExt cx="6350025" cy="6350000"/>
          </a:xfrm>
        </p:grpSpPr>
        <p:sp>
          <p:nvSpPr>
            <p:cNvPr id="17" name="Freeform 17"/>
            <p:cNvSpPr/>
            <p:nvPr/>
          </p:nvSpPr>
          <p:spPr>
            <a:xfrm rot="48000">
              <a:off x="-44020" y="-44021"/>
              <a:ext cx="6438066" cy="6438041"/>
            </a:xfrm>
            <a:custGeom>
              <a:avLst/>
              <a:gdLst/>
              <a:ahLst/>
              <a:cxnLst/>
              <a:rect l="l" t="t" r="r" b="b"/>
              <a:pathLst>
                <a:path w="6438066" h="6438041">
                  <a:moveTo>
                    <a:pt x="0" y="88661"/>
                  </a:moveTo>
                  <a:lnTo>
                    <a:pt x="6349406" y="0"/>
                  </a:lnTo>
                  <a:lnTo>
                    <a:pt x="6438066" y="6349381"/>
                  </a:lnTo>
                  <a:lnTo>
                    <a:pt x="88659" y="6438042"/>
                  </a:lnTo>
                  <a:close/>
                </a:path>
              </a:pathLst>
            </a:custGeom>
            <a:blipFill>
              <a:blip r:embed="rId4"/>
              <a:stretch>
                <a:fillRect r="-3971" b="-55631"/>
              </a:stretch>
            </a:blipFill>
          </p:spPr>
        </p:sp>
      </p:grpSp>
      <p:sp>
        <p:nvSpPr>
          <p:cNvPr id="18" name="TextBox 18"/>
          <p:cNvSpPr txBox="1"/>
          <p:nvPr/>
        </p:nvSpPr>
        <p:spPr>
          <a:xfrm>
            <a:off x="6740544" y="6113783"/>
            <a:ext cx="4806911" cy="3551238"/>
          </a:xfrm>
          <a:prstGeom prst="rect">
            <a:avLst/>
          </a:prstGeom>
        </p:spPr>
        <p:txBody>
          <a:bodyPr lIns="0" tIns="0" rIns="0" bIns="0" rtlCol="0" anchor="t">
            <a:spAutoFit/>
          </a:bodyPr>
          <a:lstStyle/>
          <a:p>
            <a:pPr algn="ctr">
              <a:lnSpc>
                <a:spcPts val="3639"/>
              </a:lnSpc>
            </a:pPr>
            <a:r>
              <a:rPr lang="en-US" sz="2799" b="1">
                <a:solidFill>
                  <a:srgbClr val="ADE466"/>
                </a:solidFill>
                <a:latin typeface="Canva Sans Bold"/>
                <a:ea typeface="Canva Sans Bold"/>
                <a:cs typeface="Canva Sans Bold"/>
                <a:sym typeface="Canva Sans Bold"/>
              </a:rPr>
              <a:t>Umair Dada</a:t>
            </a:r>
          </a:p>
          <a:p>
            <a:pPr algn="ctr">
              <a:lnSpc>
                <a:spcPts val="1950"/>
              </a:lnSpc>
              <a:spcBef>
                <a:spcPct val="0"/>
              </a:spcBef>
            </a:pPr>
            <a:endParaRPr lang="en-US" sz="2799" b="1">
              <a:solidFill>
                <a:srgbClr val="ADE466"/>
              </a:solidFill>
              <a:latin typeface="Canva Sans Bold"/>
              <a:ea typeface="Canva Sans Bold"/>
              <a:cs typeface="Canva Sans Bold"/>
              <a:sym typeface="Canva Sans Bold"/>
            </a:endParaRPr>
          </a:p>
          <a:p>
            <a:pPr algn="ctr">
              <a:lnSpc>
                <a:spcPts val="2534"/>
              </a:lnSpc>
              <a:spcBef>
                <a:spcPct val="0"/>
              </a:spcBef>
            </a:pPr>
            <a:r>
              <a:rPr lang="en-US" sz="1949" i="1">
                <a:solidFill>
                  <a:srgbClr val="FFFFFF"/>
                </a:solidFill>
                <a:latin typeface="Canva Sans Italics"/>
                <a:ea typeface="Canva Sans Italics"/>
                <a:cs typeface="Canva Sans Italics"/>
                <a:sym typeface="Canva Sans Italics"/>
              </a:rPr>
              <a:t>React Native Specialist, Node.js, Express</a:t>
            </a:r>
          </a:p>
          <a:p>
            <a:pPr algn="l">
              <a:lnSpc>
                <a:spcPts val="2534"/>
              </a:lnSpc>
              <a:spcBef>
                <a:spcPct val="0"/>
              </a:spcBef>
            </a:pPr>
            <a:endParaRPr lang="en-US" sz="1949" i="1">
              <a:solidFill>
                <a:srgbClr val="FFFFFF"/>
              </a:solidFill>
              <a:latin typeface="Canva Sans Italics"/>
              <a:ea typeface="Canva Sans Italics"/>
              <a:cs typeface="Canva Sans Italics"/>
              <a:sym typeface="Canva Sans Italics"/>
            </a:endParaRPr>
          </a:p>
          <a:p>
            <a:pPr algn="l">
              <a:lnSpc>
                <a:spcPts val="2664"/>
              </a:lnSpc>
              <a:spcBef>
                <a:spcPct val="0"/>
              </a:spcBef>
            </a:pPr>
            <a:r>
              <a:rPr lang="en-US" sz="2049" b="1">
                <a:solidFill>
                  <a:srgbClr val="ADE466"/>
                </a:solidFill>
                <a:latin typeface="Canva Sans Bold"/>
                <a:ea typeface="Canva Sans Bold"/>
                <a:cs typeface="Canva Sans Bold"/>
                <a:sym typeface="Canva Sans Bold"/>
              </a:rPr>
              <a:t>Key Responsibilities</a:t>
            </a:r>
          </a:p>
          <a:p>
            <a:pPr algn="l">
              <a:lnSpc>
                <a:spcPts val="2534"/>
              </a:lnSpc>
              <a:spcBef>
                <a:spcPct val="0"/>
              </a:spcBef>
            </a:pPr>
            <a:endParaRPr lang="en-US" sz="2049" b="1">
              <a:solidFill>
                <a:srgbClr val="ADE466"/>
              </a:solidFill>
              <a:latin typeface="Canva Sans Bold"/>
              <a:ea typeface="Canva Sans Bold"/>
              <a:cs typeface="Canva Sans Bold"/>
              <a:sym typeface="Canva Sans Bold"/>
            </a:endParaRPr>
          </a:p>
          <a:p>
            <a:pPr marL="420984" lvl="1" indent="-210492" algn="l">
              <a:lnSpc>
                <a:spcPts val="2534"/>
              </a:lnSpc>
              <a:buFont typeface="Arial"/>
              <a:buChar char="•"/>
            </a:pPr>
            <a:r>
              <a:rPr lang="en-US" sz="1949">
                <a:solidFill>
                  <a:srgbClr val="FFFFFF"/>
                </a:solidFill>
                <a:latin typeface="Canva Sans"/>
                <a:ea typeface="Canva Sans"/>
                <a:cs typeface="Canva Sans"/>
                <a:sym typeface="Canva Sans"/>
              </a:rPr>
              <a:t>Lead team &amp; milestones</a:t>
            </a:r>
          </a:p>
          <a:p>
            <a:pPr marL="420984" lvl="1" indent="-210492" algn="l">
              <a:lnSpc>
                <a:spcPts val="2534"/>
              </a:lnSpc>
              <a:buFont typeface="Arial"/>
              <a:buChar char="•"/>
            </a:pPr>
            <a:r>
              <a:rPr lang="en-US" sz="1949">
                <a:solidFill>
                  <a:srgbClr val="FFFFFF"/>
                </a:solidFill>
                <a:latin typeface="Canva Sans"/>
                <a:ea typeface="Canva Sans"/>
                <a:cs typeface="Canva Sans"/>
                <a:sym typeface="Canva Sans"/>
              </a:rPr>
              <a:t>Build React Native app</a:t>
            </a:r>
          </a:p>
          <a:p>
            <a:pPr marL="420984" lvl="1" indent="-210492" algn="l">
              <a:lnSpc>
                <a:spcPts val="2534"/>
              </a:lnSpc>
              <a:buFont typeface="Arial"/>
              <a:buChar char="•"/>
            </a:pPr>
            <a:r>
              <a:rPr lang="en-US" sz="1949">
                <a:solidFill>
                  <a:srgbClr val="FFFFFF"/>
                </a:solidFill>
                <a:latin typeface="Canva Sans"/>
                <a:ea typeface="Canva Sans"/>
                <a:cs typeface="Canva Sans"/>
                <a:sym typeface="Canva Sans"/>
              </a:rPr>
              <a:t>Manage Node.js gateway</a:t>
            </a:r>
          </a:p>
          <a:p>
            <a:pPr marL="420984" lvl="1" indent="-210492" algn="l">
              <a:lnSpc>
                <a:spcPts val="2534"/>
              </a:lnSpc>
              <a:buFont typeface="Arial"/>
              <a:buChar char="•"/>
            </a:pPr>
            <a:r>
              <a:rPr lang="en-US" sz="1949">
                <a:solidFill>
                  <a:srgbClr val="FFFFFF"/>
                </a:solidFill>
                <a:latin typeface="Canva Sans"/>
                <a:ea typeface="Canva Sans"/>
                <a:cs typeface="Canva Sans"/>
                <a:sym typeface="Canva Sans"/>
              </a:rPr>
              <a:t>Handle testing &amp; demo</a:t>
            </a:r>
          </a:p>
        </p:txBody>
      </p:sp>
      <p:sp>
        <p:nvSpPr>
          <p:cNvPr id="19" name="TextBox 19"/>
          <p:cNvSpPr txBox="1"/>
          <p:nvPr/>
        </p:nvSpPr>
        <p:spPr>
          <a:xfrm>
            <a:off x="1223144" y="6113783"/>
            <a:ext cx="4818839" cy="3551238"/>
          </a:xfrm>
          <a:prstGeom prst="rect">
            <a:avLst/>
          </a:prstGeom>
        </p:spPr>
        <p:txBody>
          <a:bodyPr lIns="0" tIns="0" rIns="0" bIns="0" rtlCol="0" anchor="t">
            <a:spAutoFit/>
          </a:bodyPr>
          <a:lstStyle/>
          <a:p>
            <a:pPr algn="ctr">
              <a:lnSpc>
                <a:spcPts val="3639"/>
              </a:lnSpc>
            </a:pPr>
            <a:r>
              <a:rPr lang="en-US" sz="2799" b="1">
                <a:solidFill>
                  <a:srgbClr val="314528"/>
                </a:solidFill>
                <a:latin typeface="Canva Sans Bold"/>
                <a:ea typeface="Canva Sans Bold"/>
                <a:cs typeface="Canva Sans Bold"/>
                <a:sym typeface="Canva Sans Bold"/>
              </a:rPr>
              <a:t>Sangmin Lee</a:t>
            </a:r>
          </a:p>
          <a:p>
            <a:pPr algn="ctr">
              <a:lnSpc>
                <a:spcPts val="1950"/>
              </a:lnSpc>
              <a:spcBef>
                <a:spcPct val="0"/>
              </a:spcBef>
            </a:pPr>
            <a:endParaRPr lang="en-US" sz="2799" b="1">
              <a:solidFill>
                <a:srgbClr val="314528"/>
              </a:solidFill>
              <a:latin typeface="Canva Sans Bold"/>
              <a:ea typeface="Canva Sans Bold"/>
              <a:cs typeface="Canva Sans Bold"/>
              <a:sym typeface="Canva Sans Bold"/>
            </a:endParaRPr>
          </a:p>
          <a:p>
            <a:pPr algn="ctr">
              <a:lnSpc>
                <a:spcPts val="2534"/>
              </a:lnSpc>
              <a:spcBef>
                <a:spcPct val="0"/>
              </a:spcBef>
            </a:pPr>
            <a:r>
              <a:rPr lang="en-US" sz="1949" i="1">
                <a:solidFill>
                  <a:srgbClr val="002217"/>
                </a:solidFill>
                <a:latin typeface="Canva Sans Italics"/>
                <a:ea typeface="Canva Sans Italics"/>
                <a:cs typeface="Canva Sans Italics"/>
                <a:sym typeface="Canva Sans Italics"/>
              </a:rPr>
              <a:t>Python, JS, Docker, Kubernetes</a:t>
            </a:r>
          </a:p>
          <a:p>
            <a:pPr algn="l">
              <a:lnSpc>
                <a:spcPts val="2534"/>
              </a:lnSpc>
              <a:spcBef>
                <a:spcPct val="0"/>
              </a:spcBef>
            </a:pPr>
            <a:endParaRPr lang="en-US" sz="1949" i="1">
              <a:solidFill>
                <a:srgbClr val="002217"/>
              </a:solidFill>
              <a:latin typeface="Canva Sans Italics"/>
              <a:ea typeface="Canva Sans Italics"/>
              <a:cs typeface="Canva Sans Italics"/>
              <a:sym typeface="Canva Sans Italics"/>
            </a:endParaRPr>
          </a:p>
          <a:p>
            <a:pPr algn="l">
              <a:lnSpc>
                <a:spcPts val="2664"/>
              </a:lnSpc>
              <a:spcBef>
                <a:spcPct val="0"/>
              </a:spcBef>
            </a:pPr>
            <a:r>
              <a:rPr lang="en-US" sz="2049" b="1">
                <a:solidFill>
                  <a:srgbClr val="314528"/>
                </a:solidFill>
                <a:latin typeface="Canva Sans Bold"/>
                <a:ea typeface="Canva Sans Bold"/>
                <a:cs typeface="Canva Sans Bold"/>
                <a:sym typeface="Canva Sans Bold"/>
              </a:rPr>
              <a:t>Key Responsibilities</a:t>
            </a:r>
          </a:p>
          <a:p>
            <a:pPr algn="l">
              <a:lnSpc>
                <a:spcPts val="2534"/>
              </a:lnSpc>
              <a:spcBef>
                <a:spcPct val="0"/>
              </a:spcBef>
            </a:pPr>
            <a:endParaRPr lang="en-US" sz="2049" b="1">
              <a:solidFill>
                <a:srgbClr val="314528"/>
              </a:solidFill>
              <a:latin typeface="Canva Sans Bold"/>
              <a:ea typeface="Canva Sans Bold"/>
              <a:cs typeface="Canva Sans Bold"/>
              <a:sym typeface="Canva Sans Bold"/>
            </a:endParaRP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Build NLU clarifier logic</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Track and maintain slot-filling states</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Optimize options based on rank/score</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Create an explanation</a:t>
            </a:r>
          </a:p>
        </p:txBody>
      </p:sp>
      <p:sp>
        <p:nvSpPr>
          <p:cNvPr id="20" name="TextBox 20"/>
          <p:cNvSpPr txBox="1"/>
          <p:nvPr/>
        </p:nvSpPr>
        <p:spPr>
          <a:xfrm>
            <a:off x="12249921" y="6113783"/>
            <a:ext cx="4806911" cy="3551238"/>
          </a:xfrm>
          <a:prstGeom prst="rect">
            <a:avLst/>
          </a:prstGeom>
        </p:spPr>
        <p:txBody>
          <a:bodyPr lIns="0" tIns="0" rIns="0" bIns="0" rtlCol="0" anchor="t">
            <a:spAutoFit/>
          </a:bodyPr>
          <a:lstStyle/>
          <a:p>
            <a:pPr algn="ctr">
              <a:lnSpc>
                <a:spcPts val="3639"/>
              </a:lnSpc>
            </a:pPr>
            <a:r>
              <a:rPr lang="en-US" sz="2799" b="1">
                <a:solidFill>
                  <a:srgbClr val="314528"/>
                </a:solidFill>
                <a:latin typeface="Canva Sans Bold"/>
                <a:ea typeface="Canva Sans Bold"/>
                <a:cs typeface="Canva Sans Bold"/>
                <a:sym typeface="Canva Sans Bold"/>
              </a:rPr>
              <a:t>Ayomika Ajibade</a:t>
            </a:r>
          </a:p>
          <a:p>
            <a:pPr algn="ctr">
              <a:lnSpc>
                <a:spcPts val="1950"/>
              </a:lnSpc>
              <a:spcBef>
                <a:spcPct val="0"/>
              </a:spcBef>
            </a:pPr>
            <a:endParaRPr lang="en-US" sz="2799" b="1">
              <a:solidFill>
                <a:srgbClr val="314528"/>
              </a:solidFill>
              <a:latin typeface="Canva Sans Bold"/>
              <a:ea typeface="Canva Sans Bold"/>
              <a:cs typeface="Canva Sans Bold"/>
              <a:sym typeface="Canva Sans Bold"/>
            </a:endParaRPr>
          </a:p>
          <a:p>
            <a:pPr algn="ctr">
              <a:lnSpc>
                <a:spcPts val="2534"/>
              </a:lnSpc>
              <a:spcBef>
                <a:spcPct val="0"/>
              </a:spcBef>
            </a:pPr>
            <a:r>
              <a:rPr lang="en-US" sz="1949" i="1">
                <a:solidFill>
                  <a:srgbClr val="002217"/>
                </a:solidFill>
                <a:latin typeface="Canva Sans Italics"/>
                <a:ea typeface="Canva Sans Italics"/>
                <a:cs typeface="Canva Sans Italics"/>
                <a:sym typeface="Canva Sans Italics"/>
              </a:rPr>
              <a:t>FastAPI, Database &amp; API Design, Cloud Integration</a:t>
            </a:r>
          </a:p>
          <a:p>
            <a:pPr algn="l">
              <a:lnSpc>
                <a:spcPts val="2534"/>
              </a:lnSpc>
              <a:spcBef>
                <a:spcPct val="0"/>
              </a:spcBef>
            </a:pPr>
            <a:endParaRPr lang="en-US" sz="1949" i="1">
              <a:solidFill>
                <a:srgbClr val="002217"/>
              </a:solidFill>
              <a:latin typeface="Canva Sans Italics"/>
              <a:ea typeface="Canva Sans Italics"/>
              <a:cs typeface="Canva Sans Italics"/>
              <a:sym typeface="Canva Sans Italics"/>
            </a:endParaRPr>
          </a:p>
          <a:p>
            <a:pPr algn="l">
              <a:lnSpc>
                <a:spcPts val="2664"/>
              </a:lnSpc>
              <a:spcBef>
                <a:spcPct val="0"/>
              </a:spcBef>
            </a:pPr>
            <a:r>
              <a:rPr lang="en-US" sz="2049" b="1">
                <a:solidFill>
                  <a:srgbClr val="314528"/>
                </a:solidFill>
                <a:latin typeface="Canva Sans Bold"/>
                <a:ea typeface="Canva Sans Bold"/>
                <a:cs typeface="Canva Sans Bold"/>
                <a:sym typeface="Canva Sans Bold"/>
              </a:rPr>
              <a:t>Key Responsibilities</a:t>
            </a:r>
          </a:p>
          <a:p>
            <a:pPr algn="l">
              <a:lnSpc>
                <a:spcPts val="2534"/>
              </a:lnSpc>
              <a:spcBef>
                <a:spcPct val="0"/>
              </a:spcBef>
            </a:pPr>
            <a:endParaRPr lang="en-US" sz="2049" b="1">
              <a:solidFill>
                <a:srgbClr val="314528"/>
              </a:solidFill>
              <a:latin typeface="Canva Sans Bold"/>
              <a:ea typeface="Canva Sans Bold"/>
              <a:cs typeface="Canva Sans Bold"/>
              <a:sym typeface="Canva Sans Bold"/>
            </a:endParaRP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Design API schema</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Create databases for local &amp; prod</a:t>
            </a:r>
          </a:p>
          <a:p>
            <a:pPr marL="420984" lvl="1" indent="-210492" algn="l">
              <a:lnSpc>
                <a:spcPts val="2534"/>
              </a:lnSpc>
              <a:buFont typeface="Arial"/>
              <a:buChar char="•"/>
            </a:pPr>
            <a:r>
              <a:rPr lang="en-US" sz="1949">
                <a:solidFill>
                  <a:srgbClr val="002217"/>
                </a:solidFill>
                <a:latin typeface="Canva Sans"/>
                <a:ea typeface="Canva Sans"/>
                <a:cs typeface="Canva Sans"/>
                <a:sym typeface="Canva Sans"/>
              </a:rPr>
              <a:t>Integrate and scale Al solutions for the mobile app</a:t>
            </a:r>
          </a:p>
        </p:txBody>
      </p:sp>
      <p:sp>
        <p:nvSpPr>
          <p:cNvPr id="21" name="TextBox 21"/>
          <p:cNvSpPr txBox="1"/>
          <p:nvPr/>
        </p:nvSpPr>
        <p:spPr>
          <a:xfrm>
            <a:off x="13572004" y="9782015"/>
            <a:ext cx="4715996" cy="318136"/>
          </a:xfrm>
          <a:prstGeom prst="rect">
            <a:avLst/>
          </a:prstGeom>
        </p:spPr>
        <p:txBody>
          <a:bodyPr lIns="0" tIns="0" rIns="0" bIns="0" rtlCol="0" anchor="t">
            <a:spAutoFit/>
          </a:bodyPr>
          <a:lstStyle/>
          <a:p>
            <a:pPr algn="ctr">
              <a:lnSpc>
                <a:spcPts val="2534"/>
              </a:lnSpc>
              <a:spcBef>
                <a:spcPct val="0"/>
              </a:spcBef>
            </a:pPr>
            <a:r>
              <a:rPr lang="en-US" sz="1949">
                <a:solidFill>
                  <a:srgbClr val="002217"/>
                </a:solidFill>
                <a:latin typeface="Canva Sans"/>
                <a:ea typeface="Canva Sans"/>
                <a:cs typeface="Canva Sans"/>
                <a:sym typeface="Canva Sans"/>
              </a:rPr>
              <a:t>Created by Umair, Sangmin, Ayo</a:t>
            </a:r>
          </a:p>
        </p:txBody>
      </p:sp>
      <p:sp>
        <p:nvSpPr>
          <p:cNvPr id="22" name="Freeform 22"/>
          <p:cNvSpPr/>
          <p:nvPr/>
        </p:nvSpPr>
        <p:spPr>
          <a:xfrm>
            <a:off x="7706581" y="6182350"/>
            <a:ext cx="313410" cy="337519"/>
          </a:xfrm>
          <a:custGeom>
            <a:avLst/>
            <a:gdLst/>
            <a:ahLst/>
            <a:cxnLst/>
            <a:rect l="l" t="t" r="r" b="b"/>
            <a:pathLst>
              <a:path w="313410" h="337519">
                <a:moveTo>
                  <a:pt x="0" y="0"/>
                </a:moveTo>
                <a:lnTo>
                  <a:pt x="313410" y="0"/>
                </a:lnTo>
                <a:lnTo>
                  <a:pt x="313410" y="337519"/>
                </a:lnTo>
                <a:lnTo>
                  <a:pt x="0" y="337519"/>
                </a:lnTo>
                <a:lnTo>
                  <a:pt x="0" y="0"/>
                </a:lnTo>
                <a:close/>
              </a:path>
            </a:pathLst>
          </a:custGeom>
          <a:blipFill>
            <a:blip r:embed="rId5"/>
            <a:stretch>
              <a:fillRect l="-104548" t="-64936" r="-105941" b="-123375"/>
            </a:stretch>
          </a:blipFill>
        </p:spPr>
      </p:sp>
      <p:sp>
        <p:nvSpPr>
          <p:cNvPr id="23" name="Freeform 23"/>
          <p:cNvSpPr/>
          <p:nvPr/>
        </p:nvSpPr>
        <p:spPr>
          <a:xfrm>
            <a:off x="2090022" y="6182350"/>
            <a:ext cx="313410" cy="337519"/>
          </a:xfrm>
          <a:custGeom>
            <a:avLst/>
            <a:gdLst/>
            <a:ahLst/>
            <a:cxnLst/>
            <a:rect l="l" t="t" r="r" b="b"/>
            <a:pathLst>
              <a:path w="313410" h="337519">
                <a:moveTo>
                  <a:pt x="0" y="0"/>
                </a:moveTo>
                <a:lnTo>
                  <a:pt x="313411" y="0"/>
                </a:lnTo>
                <a:lnTo>
                  <a:pt x="313411" y="337519"/>
                </a:lnTo>
                <a:lnTo>
                  <a:pt x="0" y="337519"/>
                </a:lnTo>
                <a:lnTo>
                  <a:pt x="0" y="0"/>
                </a:lnTo>
                <a:close/>
              </a:path>
            </a:pathLst>
          </a:custGeom>
          <a:blipFill>
            <a:blip r:embed="rId5"/>
            <a:stretch>
              <a:fillRect l="-104548" t="-64936" r="-105941" b="-123375"/>
            </a:stretch>
          </a:blipFill>
        </p:spPr>
      </p:sp>
      <p:sp>
        <p:nvSpPr>
          <p:cNvPr id="24" name="Freeform 24"/>
          <p:cNvSpPr/>
          <p:nvPr/>
        </p:nvSpPr>
        <p:spPr>
          <a:xfrm>
            <a:off x="12813657" y="6182350"/>
            <a:ext cx="313410" cy="337519"/>
          </a:xfrm>
          <a:custGeom>
            <a:avLst/>
            <a:gdLst/>
            <a:ahLst/>
            <a:cxnLst/>
            <a:rect l="l" t="t" r="r" b="b"/>
            <a:pathLst>
              <a:path w="313410" h="337519">
                <a:moveTo>
                  <a:pt x="0" y="0"/>
                </a:moveTo>
                <a:lnTo>
                  <a:pt x="313410" y="0"/>
                </a:lnTo>
                <a:lnTo>
                  <a:pt x="313410" y="337519"/>
                </a:lnTo>
                <a:lnTo>
                  <a:pt x="0" y="337519"/>
                </a:lnTo>
                <a:lnTo>
                  <a:pt x="0" y="0"/>
                </a:lnTo>
                <a:close/>
              </a:path>
            </a:pathLst>
          </a:custGeom>
          <a:blipFill>
            <a:blip r:embed="rId5"/>
            <a:stretch>
              <a:fillRect l="-104548" t="-64936" r="-105941" b="-123375"/>
            </a:stretch>
          </a:blipFill>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119740" y="1577340"/>
            <a:ext cx="11999193" cy="11159249"/>
          </a:xfrm>
          <a:custGeom>
            <a:avLst/>
            <a:gdLst/>
            <a:ahLst/>
            <a:cxnLst/>
            <a:rect l="l" t="t" r="r" b="b"/>
            <a:pathLst>
              <a:path w="11999193" h="11159249">
                <a:moveTo>
                  <a:pt x="0" y="0"/>
                </a:moveTo>
                <a:lnTo>
                  <a:pt x="11999193" y="0"/>
                </a:lnTo>
                <a:lnTo>
                  <a:pt x="11999193" y="11159249"/>
                </a:lnTo>
                <a:lnTo>
                  <a:pt x="0" y="11159249"/>
                </a:lnTo>
                <a:lnTo>
                  <a:pt x="0" y="0"/>
                </a:lnTo>
                <a:close/>
              </a:path>
            </a:pathLst>
          </a:custGeom>
          <a:blipFill>
            <a:blip r:embed="rId2"/>
            <a:stretch>
              <a:fillRect/>
            </a:stretch>
          </a:blipFill>
        </p:spPr>
      </p:sp>
      <p:sp>
        <p:nvSpPr>
          <p:cNvPr id="3" name="TextBox 3"/>
          <p:cNvSpPr txBox="1"/>
          <p:nvPr/>
        </p:nvSpPr>
        <p:spPr>
          <a:xfrm>
            <a:off x="810534"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 Progress #1 - Frontend</a:t>
            </a:r>
          </a:p>
        </p:txBody>
      </p:sp>
      <p:sp>
        <p:nvSpPr>
          <p:cNvPr id="4" name="TextBox 4"/>
          <p:cNvSpPr txBox="1"/>
          <p:nvPr/>
        </p:nvSpPr>
        <p:spPr>
          <a:xfrm>
            <a:off x="1028700" y="2474179"/>
            <a:ext cx="11689977" cy="1253491"/>
          </a:xfrm>
          <a:prstGeom prst="rect">
            <a:avLst/>
          </a:prstGeom>
        </p:spPr>
        <p:txBody>
          <a:bodyPr lIns="0" tIns="0" rIns="0" bIns="0" rtlCol="0" anchor="t">
            <a:spAutoFit/>
          </a:bodyPr>
          <a:lstStyle/>
          <a:p>
            <a:pPr algn="just">
              <a:lnSpc>
                <a:spcPts val="3314"/>
              </a:lnSpc>
            </a:pPr>
            <a:r>
              <a:rPr lang="en-US" sz="2549">
                <a:solidFill>
                  <a:srgbClr val="002217"/>
                </a:solidFill>
                <a:latin typeface="Canva Sans"/>
                <a:ea typeface="Canva Sans"/>
                <a:cs typeface="Canva Sans"/>
                <a:sym typeface="Canva Sans"/>
              </a:rPr>
              <a:t>One screen to review the whole trip: flight, hotel, and add-ons. Prices are itemized, totals are clear, and the “Confirm” button sits fixed at the bottom so you can pay without scrolling back up.</a:t>
            </a:r>
          </a:p>
        </p:txBody>
      </p:sp>
      <p:sp>
        <p:nvSpPr>
          <p:cNvPr id="5" name="TextBox 5"/>
          <p:cNvSpPr txBox="1"/>
          <p:nvPr/>
        </p:nvSpPr>
        <p:spPr>
          <a:xfrm>
            <a:off x="810534" y="4578514"/>
            <a:ext cx="9316098" cy="3219457"/>
          </a:xfrm>
          <a:prstGeom prst="rect">
            <a:avLst/>
          </a:prstGeom>
        </p:spPr>
        <p:txBody>
          <a:bodyPr lIns="0" tIns="0" rIns="0" bIns="0" rtlCol="0" anchor="t">
            <a:spAutoFit/>
          </a:bodyPr>
          <a:lstStyle/>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Single, secure checkout for flight + hotel + experiences</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Line-item pricing and running total</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Consistent UI for every provider (no webviews)</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Works on real device sizes; keyboard and safe-areas handled</a:t>
            </a:r>
          </a:p>
          <a:p>
            <a:pPr algn="just">
              <a:lnSpc>
                <a:spcPts val="4334"/>
              </a:lnSpc>
            </a:pPr>
            <a:endParaRPr lang="en-US" sz="2549">
              <a:solidFill>
                <a:srgbClr val="002217"/>
              </a:solidFill>
              <a:latin typeface="Canva Sans"/>
              <a:ea typeface="Canva Sans"/>
              <a:cs typeface="Canva Sans"/>
              <a:sym typeface="Canva Sans"/>
            </a:endParaRPr>
          </a:p>
        </p:txBody>
      </p:sp>
      <p:sp>
        <p:nvSpPr>
          <p:cNvPr id="6" name="TextBox 6"/>
          <p:cNvSpPr txBox="1"/>
          <p:nvPr/>
        </p:nvSpPr>
        <p:spPr>
          <a:xfrm>
            <a:off x="1157479" y="9615962"/>
            <a:ext cx="4715996" cy="370206"/>
          </a:xfrm>
          <a:prstGeom prst="rect">
            <a:avLst/>
          </a:prstGeom>
        </p:spPr>
        <p:txBody>
          <a:bodyPr lIns="0" tIns="0" rIns="0" bIns="0" rtlCol="0" anchor="t">
            <a:spAutoFit/>
          </a:bodyPr>
          <a:lstStyle/>
          <a:p>
            <a:pPr algn="l">
              <a:lnSpc>
                <a:spcPts val="3054"/>
              </a:lnSpc>
              <a:spcBef>
                <a:spcPct val="0"/>
              </a:spcBef>
            </a:pPr>
            <a:r>
              <a:rPr lang="en-US" sz="2349">
                <a:solidFill>
                  <a:srgbClr val="002217"/>
                </a:solidFill>
                <a:latin typeface="Canva Sans"/>
                <a:ea typeface="Canva Sans"/>
                <a:cs typeface="Canva Sans"/>
                <a:sym typeface="Canva Sans"/>
              </a:rPr>
              <a:t>Created by Umair</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65077" y="804765"/>
            <a:ext cx="16600016" cy="10891914"/>
          </a:xfrm>
          <a:custGeom>
            <a:avLst/>
            <a:gdLst/>
            <a:ahLst/>
            <a:cxnLst/>
            <a:rect l="l" t="t" r="r" b="b"/>
            <a:pathLst>
              <a:path w="16600016" h="10891914">
                <a:moveTo>
                  <a:pt x="0" y="0"/>
                </a:moveTo>
                <a:lnTo>
                  <a:pt x="16600016" y="0"/>
                </a:lnTo>
                <a:lnTo>
                  <a:pt x="16600016" y="10891914"/>
                </a:lnTo>
                <a:lnTo>
                  <a:pt x="0" y="10891914"/>
                </a:lnTo>
                <a:lnTo>
                  <a:pt x="0" y="0"/>
                </a:lnTo>
                <a:close/>
              </a:path>
            </a:pathLst>
          </a:custGeom>
          <a:blipFill>
            <a:blip r:embed="rId2"/>
            <a:stretch>
              <a:fillRect t="-770" b="-770"/>
            </a:stretch>
          </a:blipFill>
        </p:spPr>
      </p:sp>
      <p:sp>
        <p:nvSpPr>
          <p:cNvPr id="3" name="TextBox 3"/>
          <p:cNvSpPr txBox="1"/>
          <p:nvPr/>
        </p:nvSpPr>
        <p:spPr>
          <a:xfrm>
            <a:off x="810534"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 Progress #2 - Frontend</a:t>
            </a:r>
          </a:p>
        </p:txBody>
      </p:sp>
      <p:sp>
        <p:nvSpPr>
          <p:cNvPr id="4" name="TextBox 4"/>
          <p:cNvSpPr txBox="1"/>
          <p:nvPr/>
        </p:nvSpPr>
        <p:spPr>
          <a:xfrm>
            <a:off x="1028700" y="2474179"/>
            <a:ext cx="7680259" cy="2510791"/>
          </a:xfrm>
          <a:prstGeom prst="rect">
            <a:avLst/>
          </a:prstGeom>
        </p:spPr>
        <p:txBody>
          <a:bodyPr lIns="0" tIns="0" rIns="0" bIns="0" rtlCol="0" anchor="t">
            <a:spAutoFit/>
          </a:bodyPr>
          <a:lstStyle/>
          <a:p>
            <a:pPr algn="just">
              <a:lnSpc>
                <a:spcPts val="3314"/>
              </a:lnSpc>
            </a:pPr>
            <a:r>
              <a:rPr lang="en-US" sz="2549">
                <a:solidFill>
                  <a:srgbClr val="002217"/>
                </a:solidFill>
                <a:latin typeface="Canva Sans"/>
                <a:ea typeface="Canva Sans"/>
                <a:cs typeface="Canva Sans"/>
                <a:sym typeface="Canva Sans"/>
              </a:rPr>
              <a:t>After payment, each item is confirmed and visible in one list. Tap any card to open a detail sheet with a scannable QR and the booking facts you need at the counter</a:t>
            </a:r>
          </a:p>
          <a:p>
            <a:pPr algn="just">
              <a:lnSpc>
                <a:spcPts val="3314"/>
              </a:lnSpc>
            </a:pPr>
            <a:endParaRPr lang="en-US" sz="2549">
              <a:solidFill>
                <a:srgbClr val="002217"/>
              </a:solidFill>
              <a:latin typeface="Canva Sans"/>
              <a:ea typeface="Canva Sans"/>
              <a:cs typeface="Canva Sans"/>
              <a:sym typeface="Canva Sans"/>
            </a:endParaRPr>
          </a:p>
          <a:p>
            <a:pPr algn="just">
              <a:lnSpc>
                <a:spcPts val="3314"/>
              </a:lnSpc>
            </a:pPr>
            <a:r>
              <a:rPr lang="en-US" sz="2549">
                <a:solidFill>
                  <a:srgbClr val="002217"/>
                </a:solidFill>
                <a:latin typeface="Canva Sans"/>
                <a:ea typeface="Canva Sans"/>
                <a:cs typeface="Canva Sans"/>
                <a:sym typeface="Canva Sans"/>
              </a:rPr>
              <a:t>No external apps.</a:t>
            </a:r>
          </a:p>
        </p:txBody>
      </p:sp>
      <p:sp>
        <p:nvSpPr>
          <p:cNvPr id="5" name="TextBox 5"/>
          <p:cNvSpPr txBox="1"/>
          <p:nvPr/>
        </p:nvSpPr>
        <p:spPr>
          <a:xfrm>
            <a:off x="810534" y="5391173"/>
            <a:ext cx="9316098" cy="2676532"/>
          </a:xfrm>
          <a:prstGeom prst="rect">
            <a:avLst/>
          </a:prstGeom>
        </p:spPr>
        <p:txBody>
          <a:bodyPr lIns="0" tIns="0" rIns="0" bIns="0" rtlCol="0" anchor="t">
            <a:spAutoFit/>
          </a:bodyPr>
          <a:lstStyle/>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Per-item status: Flight, Hotel, and Attractions</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Tap to view QR + booking details</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“Show at hotel/ticket desk” ready</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Offline friendly layout</a:t>
            </a:r>
          </a:p>
          <a:p>
            <a:pPr marL="550521" lvl="1" indent="-275260" algn="just">
              <a:lnSpc>
                <a:spcPts val="4334"/>
              </a:lnSpc>
              <a:buFont typeface="Arial"/>
              <a:buChar char="•"/>
            </a:pPr>
            <a:r>
              <a:rPr lang="en-US" sz="2549">
                <a:solidFill>
                  <a:srgbClr val="002217"/>
                </a:solidFill>
                <a:latin typeface="Canva Sans"/>
                <a:ea typeface="Canva Sans"/>
                <a:cs typeface="Canva Sans"/>
                <a:sym typeface="Canva Sans"/>
              </a:rPr>
              <a:t>Time-stamped records for support</a:t>
            </a:r>
          </a:p>
        </p:txBody>
      </p:sp>
      <p:sp>
        <p:nvSpPr>
          <p:cNvPr id="6" name="TextBox 6"/>
          <p:cNvSpPr txBox="1"/>
          <p:nvPr/>
        </p:nvSpPr>
        <p:spPr>
          <a:xfrm>
            <a:off x="1157479" y="9615962"/>
            <a:ext cx="4715996" cy="370206"/>
          </a:xfrm>
          <a:prstGeom prst="rect">
            <a:avLst/>
          </a:prstGeom>
        </p:spPr>
        <p:txBody>
          <a:bodyPr lIns="0" tIns="0" rIns="0" bIns="0" rtlCol="0" anchor="t">
            <a:spAutoFit/>
          </a:bodyPr>
          <a:lstStyle/>
          <a:p>
            <a:pPr algn="l">
              <a:lnSpc>
                <a:spcPts val="3054"/>
              </a:lnSpc>
              <a:spcBef>
                <a:spcPct val="0"/>
              </a:spcBef>
            </a:pPr>
            <a:r>
              <a:rPr lang="en-US" sz="2349">
                <a:solidFill>
                  <a:srgbClr val="002217"/>
                </a:solidFill>
                <a:latin typeface="Canva Sans"/>
                <a:ea typeface="Canva Sans"/>
                <a:cs typeface="Canva Sans"/>
                <a:sym typeface="Canva Sans"/>
              </a:rPr>
              <a:t>Created by Umair</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53207" y="4198702"/>
            <a:ext cx="5622142" cy="5059598"/>
            <a:chOff x="0" y="0"/>
            <a:chExt cx="7496190" cy="6746131"/>
          </a:xfrm>
        </p:grpSpPr>
        <p:sp>
          <p:nvSpPr>
            <p:cNvPr id="3" name="Freeform 3"/>
            <p:cNvSpPr/>
            <p:nvPr/>
          </p:nvSpPr>
          <p:spPr>
            <a:xfrm>
              <a:off x="0" y="0"/>
              <a:ext cx="7496190" cy="6077473"/>
            </a:xfrm>
            <a:custGeom>
              <a:avLst/>
              <a:gdLst/>
              <a:ahLst/>
              <a:cxnLst/>
              <a:rect l="l" t="t" r="r" b="b"/>
              <a:pathLst>
                <a:path w="7496190" h="6077473">
                  <a:moveTo>
                    <a:pt x="0" y="0"/>
                  </a:moveTo>
                  <a:lnTo>
                    <a:pt x="7496190" y="0"/>
                  </a:lnTo>
                  <a:lnTo>
                    <a:pt x="7496190" y="6077473"/>
                  </a:lnTo>
                  <a:lnTo>
                    <a:pt x="0" y="6077473"/>
                  </a:lnTo>
                  <a:lnTo>
                    <a:pt x="0" y="0"/>
                  </a:lnTo>
                  <a:close/>
                </a:path>
              </a:pathLst>
            </a:custGeom>
            <a:blipFill>
              <a:blip r:embed="rId3"/>
              <a:stretch>
                <a:fillRect/>
              </a:stretch>
            </a:blipFill>
          </p:spPr>
        </p:sp>
        <p:sp>
          <p:nvSpPr>
            <p:cNvPr id="4" name="Freeform 4"/>
            <p:cNvSpPr/>
            <p:nvPr/>
          </p:nvSpPr>
          <p:spPr>
            <a:xfrm>
              <a:off x="0" y="6077473"/>
              <a:ext cx="7496190" cy="668658"/>
            </a:xfrm>
            <a:custGeom>
              <a:avLst/>
              <a:gdLst/>
              <a:ahLst/>
              <a:cxnLst/>
              <a:rect l="l" t="t" r="r" b="b"/>
              <a:pathLst>
                <a:path w="7496190" h="668658">
                  <a:moveTo>
                    <a:pt x="0" y="0"/>
                  </a:moveTo>
                  <a:lnTo>
                    <a:pt x="7496190" y="0"/>
                  </a:lnTo>
                  <a:lnTo>
                    <a:pt x="7496190" y="668658"/>
                  </a:lnTo>
                  <a:lnTo>
                    <a:pt x="0" y="668658"/>
                  </a:lnTo>
                  <a:lnTo>
                    <a:pt x="0" y="0"/>
                  </a:lnTo>
                  <a:close/>
                </a:path>
              </a:pathLst>
            </a:custGeom>
            <a:blipFill>
              <a:blip r:embed="rId4"/>
              <a:stretch>
                <a:fillRect r="-506"/>
              </a:stretch>
            </a:blipFill>
          </p:spPr>
        </p:sp>
      </p:grpSp>
      <p:sp>
        <p:nvSpPr>
          <p:cNvPr id="5" name="Freeform 5"/>
          <p:cNvSpPr/>
          <p:nvPr/>
        </p:nvSpPr>
        <p:spPr>
          <a:xfrm>
            <a:off x="6827750" y="4198702"/>
            <a:ext cx="5448827" cy="5059598"/>
          </a:xfrm>
          <a:custGeom>
            <a:avLst/>
            <a:gdLst/>
            <a:ahLst/>
            <a:cxnLst/>
            <a:rect l="l" t="t" r="r" b="b"/>
            <a:pathLst>
              <a:path w="5448827" h="5059598">
                <a:moveTo>
                  <a:pt x="0" y="0"/>
                </a:moveTo>
                <a:lnTo>
                  <a:pt x="5448827" y="0"/>
                </a:lnTo>
                <a:lnTo>
                  <a:pt x="5448827" y="5059598"/>
                </a:lnTo>
                <a:lnTo>
                  <a:pt x="0" y="5059598"/>
                </a:lnTo>
                <a:lnTo>
                  <a:pt x="0" y="0"/>
                </a:lnTo>
                <a:close/>
              </a:path>
            </a:pathLst>
          </a:custGeom>
          <a:blipFill>
            <a:blip r:embed="rId5"/>
            <a:stretch>
              <a:fillRect r="-82930"/>
            </a:stretch>
          </a:blipFill>
        </p:spPr>
      </p:sp>
      <p:sp>
        <p:nvSpPr>
          <p:cNvPr id="6" name="Freeform 6"/>
          <p:cNvSpPr/>
          <p:nvPr/>
        </p:nvSpPr>
        <p:spPr>
          <a:xfrm>
            <a:off x="12428977" y="4198702"/>
            <a:ext cx="5003127" cy="5059598"/>
          </a:xfrm>
          <a:custGeom>
            <a:avLst/>
            <a:gdLst/>
            <a:ahLst/>
            <a:cxnLst/>
            <a:rect l="l" t="t" r="r" b="b"/>
            <a:pathLst>
              <a:path w="5003127" h="5059598">
                <a:moveTo>
                  <a:pt x="0" y="0"/>
                </a:moveTo>
                <a:lnTo>
                  <a:pt x="5003127" y="0"/>
                </a:lnTo>
                <a:lnTo>
                  <a:pt x="5003127" y="5059598"/>
                </a:lnTo>
                <a:lnTo>
                  <a:pt x="0" y="5059598"/>
                </a:lnTo>
                <a:lnTo>
                  <a:pt x="0" y="0"/>
                </a:lnTo>
                <a:close/>
              </a:path>
            </a:pathLst>
          </a:custGeom>
          <a:blipFill>
            <a:blip r:embed="rId6"/>
            <a:stretch>
              <a:fillRect r="-116704"/>
            </a:stretch>
          </a:blipFill>
        </p:spPr>
      </p:sp>
      <p:sp>
        <p:nvSpPr>
          <p:cNvPr id="7" name="TextBox 7"/>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 Progress #3 - Package Tab</a:t>
            </a:r>
          </a:p>
        </p:txBody>
      </p:sp>
      <p:grpSp>
        <p:nvGrpSpPr>
          <p:cNvPr id="8" name="Group 8"/>
          <p:cNvGrpSpPr/>
          <p:nvPr/>
        </p:nvGrpSpPr>
        <p:grpSpPr>
          <a:xfrm>
            <a:off x="1028700" y="2386972"/>
            <a:ext cx="16230600" cy="1666109"/>
            <a:chOff x="0" y="0"/>
            <a:chExt cx="21640800" cy="2221479"/>
          </a:xfrm>
        </p:grpSpPr>
        <p:sp>
          <p:nvSpPr>
            <p:cNvPr id="9" name="TextBox 9"/>
            <p:cNvSpPr txBox="1"/>
            <p:nvPr/>
          </p:nvSpPr>
          <p:spPr>
            <a:xfrm>
              <a:off x="0" y="874171"/>
              <a:ext cx="21640800" cy="1347308"/>
            </a:xfrm>
            <a:prstGeom prst="rect">
              <a:avLst/>
            </a:prstGeom>
          </p:spPr>
          <p:txBody>
            <a:bodyPr lIns="0" tIns="0" rIns="0" bIns="0" rtlCol="0" anchor="t">
              <a:spAutoFit/>
            </a:bodyPr>
            <a:lstStyle/>
            <a:p>
              <a:pPr algn="just">
                <a:lnSpc>
                  <a:spcPts val="4058"/>
                </a:lnSpc>
              </a:pPr>
              <a:r>
                <a:rPr lang="en-US" sz="3122">
                  <a:solidFill>
                    <a:srgbClr val="002217"/>
                  </a:solidFill>
                  <a:latin typeface="Canva Sans"/>
                  <a:ea typeface="Canva Sans"/>
                  <a:cs typeface="Canva Sans"/>
                  <a:sym typeface="Canva Sans"/>
                </a:rPr>
                <a:t>The package endpoint will generate three random trips based on the budget.</a:t>
              </a:r>
            </a:p>
            <a:p>
              <a:pPr marL="674053" lvl="1" indent="-337027" algn="just">
                <a:lnSpc>
                  <a:spcPts val="4058"/>
                </a:lnSpc>
                <a:buFont typeface="Arial"/>
                <a:buChar char="•"/>
              </a:pPr>
              <a:r>
                <a:rPr lang="en-US" sz="3122">
                  <a:solidFill>
                    <a:srgbClr val="002217"/>
                  </a:solidFill>
                  <a:latin typeface="Canva Sans"/>
                  <a:ea typeface="Canva Sans"/>
                  <a:cs typeface="Canva Sans"/>
                  <a:sym typeface="Canva Sans"/>
                </a:rPr>
                <a:t>Under $2000 | $2000 - $5000 | Over $5000</a:t>
              </a:r>
            </a:p>
          </p:txBody>
        </p:sp>
        <p:sp>
          <p:nvSpPr>
            <p:cNvPr id="10" name="TextBox 10"/>
            <p:cNvSpPr txBox="1"/>
            <p:nvPr/>
          </p:nvSpPr>
          <p:spPr>
            <a:xfrm>
              <a:off x="0" y="57150"/>
              <a:ext cx="21640800" cy="620536"/>
            </a:xfrm>
            <a:prstGeom prst="rect">
              <a:avLst/>
            </a:prstGeom>
          </p:spPr>
          <p:txBody>
            <a:bodyPr lIns="0" tIns="0" rIns="0" bIns="0" rtlCol="0" anchor="t">
              <a:spAutoFit/>
            </a:bodyPr>
            <a:lstStyle/>
            <a:p>
              <a:pPr marL="0" lvl="0" indent="0" algn="l">
                <a:lnSpc>
                  <a:spcPts val="3406"/>
                </a:lnSpc>
              </a:pPr>
              <a:r>
                <a:rPr lang="en-US" sz="3406" b="1">
                  <a:solidFill>
                    <a:srgbClr val="002217"/>
                  </a:solidFill>
                  <a:latin typeface="Canva Sans Bold"/>
                  <a:ea typeface="Canva Sans Bold"/>
                  <a:cs typeface="Canva Sans Bold"/>
                  <a:sym typeface="Canva Sans Bold"/>
                </a:rPr>
                <a:t>/Package endpoint</a:t>
              </a:r>
            </a:p>
          </p:txBody>
        </p:sp>
      </p:grpSp>
      <p:sp>
        <p:nvSpPr>
          <p:cNvPr id="11" name="TextBox 11"/>
          <p:cNvSpPr txBox="1"/>
          <p:nvPr/>
        </p:nvSpPr>
        <p:spPr>
          <a:xfrm>
            <a:off x="878842"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28236" y="4205596"/>
            <a:ext cx="5018595" cy="3640211"/>
          </a:xfrm>
          <a:custGeom>
            <a:avLst/>
            <a:gdLst/>
            <a:ahLst/>
            <a:cxnLst/>
            <a:rect l="l" t="t" r="r" b="b"/>
            <a:pathLst>
              <a:path w="5018595" h="3640211">
                <a:moveTo>
                  <a:pt x="0" y="0"/>
                </a:moveTo>
                <a:lnTo>
                  <a:pt x="5018595" y="0"/>
                </a:lnTo>
                <a:lnTo>
                  <a:pt x="5018595" y="3640211"/>
                </a:lnTo>
                <a:lnTo>
                  <a:pt x="0" y="3640211"/>
                </a:lnTo>
                <a:lnTo>
                  <a:pt x="0" y="0"/>
                </a:lnTo>
                <a:close/>
              </a:path>
            </a:pathLst>
          </a:custGeom>
          <a:blipFill>
            <a:blip r:embed="rId2"/>
            <a:stretch>
              <a:fillRect/>
            </a:stretch>
          </a:blipFill>
        </p:spPr>
      </p:sp>
      <p:sp>
        <p:nvSpPr>
          <p:cNvPr id="3" name="Freeform 3"/>
          <p:cNvSpPr/>
          <p:nvPr/>
        </p:nvSpPr>
        <p:spPr>
          <a:xfrm>
            <a:off x="4311154" y="5649470"/>
            <a:ext cx="4530254" cy="3597724"/>
          </a:xfrm>
          <a:custGeom>
            <a:avLst/>
            <a:gdLst/>
            <a:ahLst/>
            <a:cxnLst/>
            <a:rect l="l" t="t" r="r" b="b"/>
            <a:pathLst>
              <a:path w="4530254" h="3597724">
                <a:moveTo>
                  <a:pt x="0" y="0"/>
                </a:moveTo>
                <a:lnTo>
                  <a:pt x="4530254" y="0"/>
                </a:lnTo>
                <a:lnTo>
                  <a:pt x="4530254" y="3597724"/>
                </a:lnTo>
                <a:lnTo>
                  <a:pt x="0" y="3597724"/>
                </a:lnTo>
                <a:lnTo>
                  <a:pt x="0" y="0"/>
                </a:lnTo>
                <a:close/>
              </a:path>
            </a:pathLst>
          </a:custGeom>
          <a:blipFill>
            <a:blip r:embed="rId3"/>
            <a:stretch>
              <a:fillRect/>
            </a:stretch>
          </a:blipFill>
        </p:spPr>
      </p:sp>
      <p:sp>
        <p:nvSpPr>
          <p:cNvPr id="4" name="Freeform 4"/>
          <p:cNvSpPr/>
          <p:nvPr/>
        </p:nvSpPr>
        <p:spPr>
          <a:xfrm>
            <a:off x="9144000" y="4548496"/>
            <a:ext cx="4591056" cy="4491854"/>
          </a:xfrm>
          <a:custGeom>
            <a:avLst/>
            <a:gdLst/>
            <a:ahLst/>
            <a:cxnLst/>
            <a:rect l="l" t="t" r="r" b="b"/>
            <a:pathLst>
              <a:path w="4591056" h="4491854">
                <a:moveTo>
                  <a:pt x="0" y="0"/>
                </a:moveTo>
                <a:lnTo>
                  <a:pt x="4591056" y="0"/>
                </a:lnTo>
                <a:lnTo>
                  <a:pt x="4591056" y="4491854"/>
                </a:lnTo>
                <a:lnTo>
                  <a:pt x="0" y="4491854"/>
                </a:lnTo>
                <a:lnTo>
                  <a:pt x="0" y="0"/>
                </a:lnTo>
                <a:close/>
              </a:path>
            </a:pathLst>
          </a:custGeom>
          <a:blipFill>
            <a:blip r:embed="rId4"/>
            <a:stretch>
              <a:fillRect t="-2095" b="-2095"/>
            </a:stretch>
          </a:blipFill>
        </p:spPr>
      </p:sp>
      <p:sp>
        <p:nvSpPr>
          <p:cNvPr id="5" name="Freeform 5"/>
          <p:cNvSpPr/>
          <p:nvPr/>
        </p:nvSpPr>
        <p:spPr>
          <a:xfrm>
            <a:off x="13152291" y="6043684"/>
            <a:ext cx="4684655" cy="3604246"/>
          </a:xfrm>
          <a:custGeom>
            <a:avLst/>
            <a:gdLst/>
            <a:ahLst/>
            <a:cxnLst/>
            <a:rect l="l" t="t" r="r" b="b"/>
            <a:pathLst>
              <a:path w="4684655" h="3604246">
                <a:moveTo>
                  <a:pt x="0" y="0"/>
                </a:moveTo>
                <a:lnTo>
                  <a:pt x="4684656" y="0"/>
                </a:lnTo>
                <a:lnTo>
                  <a:pt x="4684656" y="3604246"/>
                </a:lnTo>
                <a:lnTo>
                  <a:pt x="0" y="3604246"/>
                </a:lnTo>
                <a:lnTo>
                  <a:pt x="0" y="0"/>
                </a:lnTo>
                <a:close/>
              </a:path>
            </a:pathLst>
          </a:custGeom>
          <a:blipFill>
            <a:blip r:embed="rId5"/>
            <a:stretch>
              <a:fillRect/>
            </a:stretch>
          </a:blipFill>
        </p:spPr>
      </p:sp>
      <p:sp>
        <p:nvSpPr>
          <p:cNvPr id="6" name="TextBox 6"/>
          <p:cNvSpPr txBox="1"/>
          <p:nvPr/>
        </p:nvSpPr>
        <p:spPr>
          <a:xfrm>
            <a:off x="1028700" y="855521"/>
            <a:ext cx="16208483" cy="612142"/>
          </a:xfrm>
          <a:prstGeom prst="rect">
            <a:avLst/>
          </a:prstGeom>
        </p:spPr>
        <p:txBody>
          <a:bodyPr lIns="0" tIns="0" rIns="0" bIns="0" rtlCol="0" anchor="t">
            <a:spAutoFit/>
          </a:bodyPr>
          <a:lstStyle/>
          <a:p>
            <a:pPr marL="0" lvl="0" indent="0" algn="l">
              <a:lnSpc>
                <a:spcPts val="4600"/>
              </a:lnSpc>
            </a:pPr>
            <a:r>
              <a:rPr lang="en-US" sz="4600" b="1" spc="-46">
                <a:solidFill>
                  <a:srgbClr val="002217"/>
                </a:solidFill>
                <a:latin typeface="DM Sans Bold"/>
                <a:ea typeface="DM Sans Bold"/>
                <a:cs typeface="DM Sans Bold"/>
                <a:sym typeface="DM Sans Bold"/>
              </a:rPr>
              <a:t> Progress #4 - Chats, ChatMessages and Plans API</a:t>
            </a:r>
          </a:p>
        </p:txBody>
      </p:sp>
      <p:sp>
        <p:nvSpPr>
          <p:cNvPr id="7" name="TextBox 7"/>
          <p:cNvSpPr txBox="1"/>
          <p:nvPr/>
        </p:nvSpPr>
        <p:spPr>
          <a:xfrm>
            <a:off x="12543304" y="9762230"/>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Ayo</a:t>
            </a:r>
          </a:p>
        </p:txBody>
      </p:sp>
      <p:sp>
        <p:nvSpPr>
          <p:cNvPr id="8" name="TextBox 8"/>
          <p:cNvSpPr txBox="1"/>
          <p:nvPr/>
        </p:nvSpPr>
        <p:spPr>
          <a:xfrm>
            <a:off x="1028700" y="2384469"/>
            <a:ext cx="7130324" cy="1706827"/>
          </a:xfrm>
          <a:prstGeom prst="rect">
            <a:avLst/>
          </a:prstGeom>
        </p:spPr>
        <p:txBody>
          <a:bodyPr lIns="0" tIns="0" rIns="0" bIns="0" rtlCol="0" anchor="t">
            <a:spAutoFit/>
          </a:bodyPr>
          <a:lstStyle/>
          <a:p>
            <a:pPr algn="l">
              <a:lnSpc>
                <a:spcPts val="2735"/>
              </a:lnSpc>
            </a:pPr>
            <a:r>
              <a:rPr lang="en-US" sz="2104">
                <a:solidFill>
                  <a:srgbClr val="002217"/>
                </a:solidFill>
                <a:latin typeface="Canva Sans"/>
                <a:ea typeface="Canva Sans"/>
                <a:cs typeface="Canva Sans"/>
                <a:sym typeface="Canva Sans"/>
              </a:rPr>
              <a:t>The endpoint parses the user’s inputs, clarifies the user's Natural language intuitively, searches for information, and saves the chats and generated plans to their mobile device storage or database (IBM PSQL) based on their authentication status.</a:t>
            </a:r>
          </a:p>
        </p:txBody>
      </p:sp>
      <p:sp>
        <p:nvSpPr>
          <p:cNvPr id="9" name="TextBox 9"/>
          <p:cNvSpPr txBox="1"/>
          <p:nvPr/>
        </p:nvSpPr>
        <p:spPr>
          <a:xfrm>
            <a:off x="1028700" y="1811743"/>
            <a:ext cx="7812708" cy="476887"/>
          </a:xfrm>
          <a:prstGeom prst="rect">
            <a:avLst/>
          </a:prstGeom>
        </p:spPr>
        <p:txBody>
          <a:bodyPr lIns="0" tIns="0" rIns="0" bIns="0" rtlCol="0" anchor="t">
            <a:spAutoFit/>
          </a:bodyPr>
          <a:lstStyle/>
          <a:p>
            <a:pPr marL="0" lvl="0" indent="0" algn="l">
              <a:lnSpc>
                <a:spcPts val="3834"/>
              </a:lnSpc>
            </a:pPr>
            <a:r>
              <a:rPr lang="en-US" sz="2949" b="1">
                <a:solidFill>
                  <a:srgbClr val="002217"/>
                </a:solidFill>
                <a:latin typeface="Canva Sans Bold"/>
                <a:ea typeface="Canva Sans Bold"/>
                <a:cs typeface="Canva Sans Bold"/>
                <a:sym typeface="Canva Sans Bold"/>
              </a:rPr>
              <a:t>/ai/chat </a:t>
            </a:r>
            <a:r>
              <a:rPr lang="en-US" sz="2949" b="1">
                <a:solidFill>
                  <a:srgbClr val="FF3131"/>
                </a:solidFill>
                <a:latin typeface="Canva Sans Bold"/>
                <a:ea typeface="Canva Sans Bold"/>
                <a:cs typeface="Canva Sans Bold"/>
                <a:sym typeface="Canva Sans Bold"/>
              </a:rPr>
              <a:t>(DONE)</a:t>
            </a:r>
          </a:p>
        </p:txBody>
      </p:sp>
      <p:sp>
        <p:nvSpPr>
          <p:cNvPr id="10" name="TextBox 10"/>
          <p:cNvSpPr txBox="1"/>
          <p:nvPr/>
        </p:nvSpPr>
        <p:spPr>
          <a:xfrm>
            <a:off x="8978142" y="1682860"/>
            <a:ext cx="8717672" cy="476887"/>
          </a:xfrm>
          <a:prstGeom prst="rect">
            <a:avLst/>
          </a:prstGeom>
        </p:spPr>
        <p:txBody>
          <a:bodyPr lIns="0" tIns="0" rIns="0" bIns="0" rtlCol="0" anchor="t">
            <a:spAutoFit/>
          </a:bodyPr>
          <a:lstStyle/>
          <a:p>
            <a:pPr marL="0" lvl="0" indent="0" algn="l">
              <a:lnSpc>
                <a:spcPts val="3834"/>
              </a:lnSpc>
            </a:pPr>
            <a:r>
              <a:rPr lang="en-US" sz="2949" b="1">
                <a:solidFill>
                  <a:srgbClr val="002217"/>
                </a:solidFill>
                <a:latin typeface="Canva Sans Bold"/>
                <a:ea typeface="Canva Sans Bold"/>
                <a:cs typeface="Canva Sans Bold"/>
                <a:sym typeface="Canva Sans Bold"/>
              </a:rPr>
              <a:t>Chats, Plans, ChatMessages, APIs </a:t>
            </a:r>
            <a:r>
              <a:rPr lang="en-US" sz="2949" b="1">
                <a:solidFill>
                  <a:srgbClr val="FF3131"/>
                </a:solidFill>
                <a:latin typeface="Canva Sans Bold"/>
                <a:ea typeface="Canva Sans Bold"/>
                <a:cs typeface="Canva Sans Bold"/>
                <a:sym typeface="Canva Sans Bold"/>
              </a:rPr>
              <a:t>(DONE)</a:t>
            </a:r>
          </a:p>
        </p:txBody>
      </p:sp>
      <p:sp>
        <p:nvSpPr>
          <p:cNvPr id="11" name="TextBox 11"/>
          <p:cNvSpPr txBox="1"/>
          <p:nvPr/>
        </p:nvSpPr>
        <p:spPr>
          <a:xfrm>
            <a:off x="8978142" y="2269579"/>
            <a:ext cx="8570879" cy="2125292"/>
          </a:xfrm>
          <a:prstGeom prst="rect">
            <a:avLst/>
          </a:prstGeom>
        </p:spPr>
        <p:txBody>
          <a:bodyPr lIns="0" tIns="0" rIns="0" bIns="0" rtlCol="0" anchor="t">
            <a:spAutoFit/>
          </a:bodyPr>
          <a:lstStyle/>
          <a:p>
            <a:pPr marL="475875" lvl="1" indent="-237937" algn="l">
              <a:lnSpc>
                <a:spcPts val="2865"/>
              </a:lnSpc>
              <a:buFont typeface="Arial"/>
              <a:buChar char="•"/>
            </a:pPr>
            <a:r>
              <a:rPr lang="en-US" sz="2204" b="1">
                <a:solidFill>
                  <a:srgbClr val="FFD308"/>
                </a:solidFill>
                <a:latin typeface="Canva Sans Bold"/>
                <a:ea typeface="Canva Sans Bold"/>
                <a:cs typeface="Canva Sans Bold"/>
                <a:sym typeface="Canva Sans Bold"/>
              </a:rPr>
              <a:t>/chat:</a:t>
            </a:r>
            <a:r>
              <a:rPr lang="en-US" sz="2204">
                <a:solidFill>
                  <a:srgbClr val="002217"/>
                </a:solidFill>
                <a:latin typeface="Canva Sans"/>
                <a:ea typeface="Canva Sans"/>
                <a:cs typeface="Canva Sans"/>
                <a:sym typeface="Canva Sans"/>
              </a:rPr>
              <a:t> it retrieves chat history from the DB for only authenticated users</a:t>
            </a:r>
          </a:p>
          <a:p>
            <a:pPr marL="475875" lvl="1" indent="-237937" algn="l">
              <a:lnSpc>
                <a:spcPts val="2865"/>
              </a:lnSpc>
              <a:buFont typeface="Arial"/>
              <a:buChar char="•"/>
            </a:pPr>
            <a:r>
              <a:rPr lang="en-US" sz="2204" b="1">
                <a:solidFill>
                  <a:srgbClr val="FFD308"/>
                </a:solidFill>
                <a:latin typeface="Canva Sans Bold"/>
                <a:ea typeface="Canva Sans Bold"/>
                <a:cs typeface="Canva Sans Bold"/>
                <a:sym typeface="Canva Sans Bold"/>
              </a:rPr>
              <a:t>/chat/{{chat_id}}/message: </a:t>
            </a:r>
            <a:r>
              <a:rPr lang="en-US" sz="2204">
                <a:solidFill>
                  <a:srgbClr val="002217"/>
                </a:solidFill>
                <a:latin typeface="Canva Sans"/>
                <a:ea typeface="Canva Sans"/>
                <a:cs typeface="Canva Sans"/>
                <a:sym typeface="Canva Sans"/>
              </a:rPr>
              <a:t>retrieves individual messages and the AI bot response, plus timestamp</a:t>
            </a:r>
          </a:p>
          <a:p>
            <a:pPr marL="454285" lvl="1" indent="-227143" algn="l">
              <a:lnSpc>
                <a:spcPts val="2735"/>
              </a:lnSpc>
              <a:buFont typeface="Arial"/>
              <a:buChar char="•"/>
            </a:pPr>
            <a:r>
              <a:rPr lang="en-US" sz="2104" b="1">
                <a:solidFill>
                  <a:srgbClr val="FF3131"/>
                </a:solidFill>
                <a:latin typeface="Canva Sans Bold"/>
                <a:ea typeface="Canva Sans Bold"/>
                <a:cs typeface="Canva Sans Bold"/>
                <a:sym typeface="Canva Sans Bold"/>
              </a:rPr>
              <a:t>DELETE:</a:t>
            </a:r>
            <a:r>
              <a:rPr lang="en-US" sz="2104">
                <a:solidFill>
                  <a:srgbClr val="000000"/>
                </a:solidFill>
                <a:latin typeface="Canva Sans"/>
                <a:ea typeface="Canva Sans"/>
                <a:cs typeface="Canva Sans"/>
                <a:sym typeface="Canva Sans"/>
              </a:rPr>
              <a:t> Both the </a:t>
            </a:r>
            <a:r>
              <a:rPr lang="en-US" sz="2104" b="1">
                <a:solidFill>
                  <a:srgbClr val="000000"/>
                </a:solidFill>
                <a:latin typeface="Canva Sans Bold"/>
                <a:ea typeface="Canva Sans Bold"/>
                <a:cs typeface="Canva Sans Bold"/>
                <a:sym typeface="Canva Sans Bold"/>
              </a:rPr>
              <a:t>chat, plan</a:t>
            </a:r>
            <a:r>
              <a:rPr lang="en-US" sz="2104">
                <a:solidFill>
                  <a:srgbClr val="000000"/>
                </a:solidFill>
                <a:latin typeface="Canva Sans"/>
                <a:ea typeface="Canva Sans"/>
                <a:cs typeface="Canva Sans"/>
                <a:sym typeface="Canva Sans"/>
              </a:rPr>
              <a:t> and </a:t>
            </a:r>
            <a:r>
              <a:rPr lang="en-US" sz="2104" b="1">
                <a:solidFill>
                  <a:srgbClr val="000000"/>
                </a:solidFill>
                <a:latin typeface="Canva Sans Bold"/>
                <a:ea typeface="Canva Sans Bold"/>
                <a:cs typeface="Canva Sans Bold"/>
                <a:sym typeface="Canva Sans Bold"/>
              </a:rPr>
              <a:t>chat_messages</a:t>
            </a:r>
            <a:r>
              <a:rPr lang="en-US" sz="2104">
                <a:solidFill>
                  <a:srgbClr val="000000"/>
                </a:solidFill>
                <a:latin typeface="Canva Sans"/>
                <a:ea typeface="Canva Sans"/>
                <a:cs typeface="Canva Sans"/>
                <a:sym typeface="Canva Sans"/>
              </a:rPr>
              <a:t> api have the delete functionality</a:t>
            </a:r>
          </a:p>
        </p:txBody>
      </p:sp>
      <p:sp>
        <p:nvSpPr>
          <p:cNvPr id="12" name="TextBox 12"/>
          <p:cNvSpPr txBox="1"/>
          <p:nvPr/>
        </p:nvSpPr>
        <p:spPr>
          <a:xfrm>
            <a:off x="1084531" y="8188707"/>
            <a:ext cx="1953486" cy="421259"/>
          </a:xfrm>
          <a:prstGeom prst="rect">
            <a:avLst/>
          </a:prstGeom>
        </p:spPr>
        <p:txBody>
          <a:bodyPr lIns="0" tIns="0" rIns="0" bIns="0" rtlCol="0" anchor="t">
            <a:spAutoFit/>
          </a:bodyPr>
          <a:lstStyle/>
          <a:p>
            <a:pPr algn="ctr">
              <a:lnSpc>
                <a:spcPts val="3327"/>
              </a:lnSpc>
              <a:spcBef>
                <a:spcPct val="0"/>
              </a:spcBef>
            </a:pPr>
            <a:r>
              <a:rPr lang="en-US" sz="2599" b="1">
                <a:solidFill>
                  <a:srgbClr val="ADE466"/>
                </a:solidFill>
                <a:latin typeface="Canva Sans Bold"/>
                <a:ea typeface="Canva Sans Bold"/>
                <a:cs typeface="Canva Sans Bold"/>
                <a:sym typeface="Canva Sans Bold"/>
              </a:rPr>
              <a:t>Request</a:t>
            </a:r>
          </a:p>
        </p:txBody>
      </p:sp>
      <p:sp>
        <p:nvSpPr>
          <p:cNvPr id="13" name="TextBox 13"/>
          <p:cNvSpPr txBox="1"/>
          <p:nvPr/>
        </p:nvSpPr>
        <p:spPr>
          <a:xfrm>
            <a:off x="5170753" y="9606437"/>
            <a:ext cx="1953486" cy="421259"/>
          </a:xfrm>
          <a:prstGeom prst="rect">
            <a:avLst/>
          </a:prstGeom>
        </p:spPr>
        <p:txBody>
          <a:bodyPr lIns="0" tIns="0" rIns="0" bIns="0" rtlCol="0" anchor="t">
            <a:spAutoFit/>
          </a:bodyPr>
          <a:lstStyle/>
          <a:p>
            <a:pPr algn="ctr">
              <a:lnSpc>
                <a:spcPts val="3327"/>
              </a:lnSpc>
              <a:spcBef>
                <a:spcPct val="0"/>
              </a:spcBef>
            </a:pPr>
            <a:r>
              <a:rPr lang="en-US" sz="2599" b="1">
                <a:solidFill>
                  <a:srgbClr val="ADE466"/>
                </a:solidFill>
                <a:latin typeface="Canva Sans Bold"/>
                <a:ea typeface="Canva Sans Bold"/>
                <a:cs typeface="Canva Sans Bold"/>
                <a:sym typeface="Canva Sans Bold"/>
              </a:rPr>
              <a:t>Response</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2676939"/>
            <a:ext cx="5961929" cy="6845177"/>
          </a:xfrm>
          <a:custGeom>
            <a:avLst/>
            <a:gdLst/>
            <a:ahLst/>
            <a:cxnLst/>
            <a:rect l="l" t="t" r="r" b="b"/>
            <a:pathLst>
              <a:path w="5961929" h="6845177">
                <a:moveTo>
                  <a:pt x="0" y="0"/>
                </a:moveTo>
                <a:lnTo>
                  <a:pt x="5961929" y="0"/>
                </a:lnTo>
                <a:lnTo>
                  <a:pt x="5961929" y="6845178"/>
                </a:lnTo>
                <a:lnTo>
                  <a:pt x="0" y="6845178"/>
                </a:lnTo>
                <a:lnTo>
                  <a:pt x="0" y="0"/>
                </a:lnTo>
                <a:close/>
              </a:path>
            </a:pathLst>
          </a:custGeom>
          <a:blipFill>
            <a:blip r:embed="rId2"/>
            <a:stretch>
              <a:fillRect/>
            </a:stretch>
          </a:blipFill>
        </p:spPr>
      </p:sp>
      <p:sp>
        <p:nvSpPr>
          <p:cNvPr id="3" name="Freeform 3"/>
          <p:cNvSpPr/>
          <p:nvPr/>
        </p:nvSpPr>
        <p:spPr>
          <a:xfrm>
            <a:off x="10556112" y="3029525"/>
            <a:ext cx="5631644" cy="6998876"/>
          </a:xfrm>
          <a:custGeom>
            <a:avLst/>
            <a:gdLst/>
            <a:ahLst/>
            <a:cxnLst/>
            <a:rect l="l" t="t" r="r" b="b"/>
            <a:pathLst>
              <a:path w="5631644" h="6998876">
                <a:moveTo>
                  <a:pt x="0" y="0"/>
                </a:moveTo>
                <a:lnTo>
                  <a:pt x="5631644" y="0"/>
                </a:lnTo>
                <a:lnTo>
                  <a:pt x="5631644" y="6998876"/>
                </a:lnTo>
                <a:lnTo>
                  <a:pt x="0" y="6998876"/>
                </a:lnTo>
                <a:lnTo>
                  <a:pt x="0" y="0"/>
                </a:lnTo>
                <a:close/>
              </a:path>
            </a:pathLst>
          </a:custGeom>
          <a:blipFill>
            <a:blip r:embed="rId3"/>
            <a:stretch>
              <a:fillRect b="-3694"/>
            </a:stretch>
          </a:blipFill>
        </p:spPr>
      </p:sp>
      <p:sp>
        <p:nvSpPr>
          <p:cNvPr id="4" name="TextBox 4"/>
          <p:cNvSpPr txBox="1"/>
          <p:nvPr/>
        </p:nvSpPr>
        <p:spPr>
          <a:xfrm>
            <a:off x="656808" y="752157"/>
            <a:ext cx="16974384" cy="648336"/>
          </a:xfrm>
          <a:prstGeom prst="rect">
            <a:avLst/>
          </a:prstGeom>
        </p:spPr>
        <p:txBody>
          <a:bodyPr lIns="0" tIns="0" rIns="0" bIns="0" rtlCol="0" anchor="t">
            <a:spAutoFit/>
          </a:bodyPr>
          <a:lstStyle/>
          <a:p>
            <a:pPr marL="0" lvl="0" indent="0" algn="l">
              <a:lnSpc>
                <a:spcPts val="4900"/>
              </a:lnSpc>
            </a:pPr>
            <a:r>
              <a:rPr lang="en-US" sz="4900" b="1" spc="-49">
                <a:solidFill>
                  <a:srgbClr val="002217"/>
                </a:solidFill>
                <a:latin typeface="DM Sans Bold"/>
                <a:ea typeface="DM Sans Bold"/>
                <a:cs typeface="DM Sans Bold"/>
                <a:sym typeface="DM Sans Bold"/>
              </a:rPr>
              <a:t> Progress #5 - Chats, ChatMessages and Plans API Cont’d</a:t>
            </a:r>
          </a:p>
        </p:txBody>
      </p:sp>
      <p:sp>
        <p:nvSpPr>
          <p:cNvPr id="5" name="TextBox 5"/>
          <p:cNvSpPr txBox="1"/>
          <p:nvPr/>
        </p:nvSpPr>
        <p:spPr>
          <a:xfrm>
            <a:off x="311401" y="9658194"/>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Ayo</a:t>
            </a:r>
          </a:p>
        </p:txBody>
      </p:sp>
      <p:sp>
        <p:nvSpPr>
          <p:cNvPr id="6" name="TextBox 6"/>
          <p:cNvSpPr txBox="1"/>
          <p:nvPr/>
        </p:nvSpPr>
        <p:spPr>
          <a:xfrm>
            <a:off x="1028700" y="1807436"/>
            <a:ext cx="7277117" cy="714376"/>
          </a:xfrm>
          <a:prstGeom prst="rect">
            <a:avLst/>
          </a:prstGeom>
        </p:spPr>
        <p:txBody>
          <a:bodyPr lIns="0" tIns="0" rIns="0" bIns="0" rtlCol="0" anchor="t">
            <a:spAutoFit/>
          </a:bodyPr>
          <a:lstStyle/>
          <a:p>
            <a:pPr marL="485752" lvl="1" indent="-242876" algn="l">
              <a:lnSpc>
                <a:spcPts val="2924"/>
              </a:lnSpc>
              <a:buFont typeface="Arial"/>
              <a:buChar char="•"/>
            </a:pPr>
            <a:r>
              <a:rPr lang="en-US" sz="2249" b="1">
                <a:solidFill>
                  <a:srgbClr val="FFD308"/>
                </a:solidFill>
                <a:latin typeface="Canva Sans Bold"/>
                <a:ea typeface="Canva Sans Bold"/>
                <a:cs typeface="Canva Sans Bold"/>
                <a:sym typeface="Canva Sans Bold"/>
              </a:rPr>
              <a:t>chats/{{chat_id}}: </a:t>
            </a:r>
            <a:r>
              <a:rPr lang="en-US" sz="2249">
                <a:solidFill>
                  <a:srgbClr val="002217"/>
                </a:solidFill>
                <a:latin typeface="Canva Sans"/>
                <a:ea typeface="Canva Sans"/>
                <a:cs typeface="Canva Sans"/>
                <a:sym typeface="Canva Sans"/>
              </a:rPr>
              <a:t>retreives individual chat with the chat_id or slot_id</a:t>
            </a:r>
          </a:p>
        </p:txBody>
      </p:sp>
      <p:sp>
        <p:nvSpPr>
          <p:cNvPr id="7" name="TextBox 7"/>
          <p:cNvSpPr txBox="1"/>
          <p:nvPr/>
        </p:nvSpPr>
        <p:spPr>
          <a:xfrm>
            <a:off x="8455868" y="1816961"/>
            <a:ext cx="9832132" cy="1072515"/>
          </a:xfrm>
          <a:prstGeom prst="rect">
            <a:avLst/>
          </a:prstGeom>
        </p:spPr>
        <p:txBody>
          <a:bodyPr lIns="0" tIns="0" rIns="0" bIns="0" rtlCol="0" anchor="t">
            <a:spAutoFit/>
          </a:bodyPr>
          <a:lstStyle/>
          <a:p>
            <a:pPr marL="485775" lvl="1" indent="-242888" algn="l">
              <a:lnSpc>
                <a:spcPts val="2880"/>
              </a:lnSpc>
              <a:buFont typeface="Arial"/>
              <a:buChar char="•"/>
            </a:pPr>
            <a:r>
              <a:rPr lang="en-US" sz="2250" b="1">
                <a:solidFill>
                  <a:srgbClr val="FFD308"/>
                </a:solidFill>
                <a:latin typeface="Canva Sans Bold"/>
                <a:ea typeface="Canva Sans Bold"/>
                <a:cs typeface="Canva Sans Bold"/>
                <a:sym typeface="Canva Sans Bold"/>
              </a:rPr>
              <a:t>/plans/chat/{{chat_id}}:</a:t>
            </a:r>
            <a:r>
              <a:rPr lang="en-US" sz="2250">
                <a:solidFill>
                  <a:srgbClr val="000000"/>
                </a:solidFill>
                <a:latin typeface="Canva Sans"/>
                <a:ea typeface="Canva Sans"/>
                <a:cs typeface="Canva Sans"/>
                <a:sym typeface="Canva Sans"/>
              </a:rPr>
              <a:t> retreives individual chat AI generated plans with the chat_id or slot_id for optimized future plan generation based on analysing user behavoir</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33607" y="2227109"/>
            <a:ext cx="8260337" cy="6838476"/>
          </a:xfrm>
          <a:custGeom>
            <a:avLst/>
            <a:gdLst/>
            <a:ahLst/>
            <a:cxnLst/>
            <a:rect l="l" t="t" r="r" b="b"/>
            <a:pathLst>
              <a:path w="8260337" h="6838476">
                <a:moveTo>
                  <a:pt x="0" y="0"/>
                </a:moveTo>
                <a:lnTo>
                  <a:pt x="8260337" y="0"/>
                </a:lnTo>
                <a:lnTo>
                  <a:pt x="8260337" y="6838476"/>
                </a:lnTo>
                <a:lnTo>
                  <a:pt x="0" y="6838476"/>
                </a:lnTo>
                <a:lnTo>
                  <a:pt x="0" y="0"/>
                </a:lnTo>
                <a:close/>
              </a:path>
            </a:pathLst>
          </a:custGeom>
          <a:blipFill>
            <a:blip r:embed="rId2"/>
            <a:stretch>
              <a:fillRect/>
            </a:stretch>
          </a:blipFill>
        </p:spPr>
      </p:sp>
      <p:sp>
        <p:nvSpPr>
          <p:cNvPr id="3" name="Freeform 3"/>
          <p:cNvSpPr/>
          <p:nvPr/>
        </p:nvSpPr>
        <p:spPr>
          <a:xfrm>
            <a:off x="9132942" y="3381104"/>
            <a:ext cx="9090706" cy="4308862"/>
          </a:xfrm>
          <a:custGeom>
            <a:avLst/>
            <a:gdLst/>
            <a:ahLst/>
            <a:cxnLst/>
            <a:rect l="l" t="t" r="r" b="b"/>
            <a:pathLst>
              <a:path w="9090706" h="4308862">
                <a:moveTo>
                  <a:pt x="0" y="0"/>
                </a:moveTo>
                <a:lnTo>
                  <a:pt x="9090706" y="0"/>
                </a:lnTo>
                <a:lnTo>
                  <a:pt x="9090706" y="4308863"/>
                </a:lnTo>
                <a:lnTo>
                  <a:pt x="0" y="4308863"/>
                </a:lnTo>
                <a:lnTo>
                  <a:pt x="0" y="0"/>
                </a:lnTo>
                <a:close/>
              </a:path>
            </a:pathLst>
          </a:custGeom>
          <a:blipFill>
            <a:blip r:embed="rId3"/>
            <a:stretch>
              <a:fillRect/>
            </a:stretch>
          </a:blipFill>
        </p:spPr>
      </p:sp>
      <p:sp>
        <p:nvSpPr>
          <p:cNvPr id="4" name="TextBox 4"/>
          <p:cNvSpPr txBox="1"/>
          <p:nvPr/>
        </p:nvSpPr>
        <p:spPr>
          <a:xfrm>
            <a:off x="433607" y="723900"/>
            <a:ext cx="17651313" cy="645797"/>
          </a:xfrm>
          <a:prstGeom prst="rect">
            <a:avLst/>
          </a:prstGeom>
        </p:spPr>
        <p:txBody>
          <a:bodyPr lIns="0" tIns="0" rIns="0" bIns="0" rtlCol="0" anchor="t">
            <a:spAutoFit/>
          </a:bodyPr>
          <a:lstStyle/>
          <a:p>
            <a:pPr marL="0" lvl="0" indent="0" algn="l">
              <a:lnSpc>
                <a:spcPts val="4800"/>
              </a:lnSpc>
            </a:pPr>
            <a:r>
              <a:rPr lang="en-US" sz="4800" b="1" spc="-48">
                <a:solidFill>
                  <a:srgbClr val="002217"/>
                </a:solidFill>
                <a:latin typeface="DM Sans Bold"/>
                <a:ea typeface="DM Sans Bold"/>
                <a:cs typeface="DM Sans Bold"/>
                <a:sym typeface="DM Sans Bold"/>
              </a:rPr>
              <a:t>Progress#6 - Optimisation of Data flow for low latency </a:t>
            </a:r>
            <a:r>
              <a:rPr lang="en-US" sz="4800" b="1" spc="-48">
                <a:solidFill>
                  <a:srgbClr val="FFA678"/>
                </a:solidFill>
                <a:latin typeface="DM Sans Bold"/>
                <a:ea typeface="DM Sans Bold"/>
                <a:cs typeface="DM Sans Bold"/>
                <a:sym typeface="DM Sans Bold"/>
              </a:rPr>
              <a:t>(WIP) </a:t>
            </a:r>
          </a:p>
        </p:txBody>
      </p:sp>
      <p:sp>
        <p:nvSpPr>
          <p:cNvPr id="5" name="TextBox 5"/>
          <p:cNvSpPr txBox="1"/>
          <p:nvPr/>
        </p:nvSpPr>
        <p:spPr>
          <a:xfrm>
            <a:off x="13128642" y="9491977"/>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Ayo</a:t>
            </a:r>
          </a:p>
        </p:txBody>
      </p:sp>
      <p:sp>
        <p:nvSpPr>
          <p:cNvPr id="6" name="TextBox 6"/>
          <p:cNvSpPr txBox="1"/>
          <p:nvPr/>
        </p:nvSpPr>
        <p:spPr>
          <a:xfrm>
            <a:off x="2231697" y="1604093"/>
            <a:ext cx="2956620" cy="393700"/>
          </a:xfrm>
          <a:prstGeom prst="rect">
            <a:avLst/>
          </a:prstGeom>
        </p:spPr>
        <p:txBody>
          <a:bodyPr lIns="0" tIns="0" rIns="0" bIns="0" rtlCol="0" anchor="t">
            <a:spAutoFit/>
          </a:bodyPr>
          <a:lstStyle/>
          <a:p>
            <a:pPr algn="ctr">
              <a:lnSpc>
                <a:spcPts val="3199"/>
              </a:lnSpc>
              <a:spcBef>
                <a:spcPct val="0"/>
              </a:spcBef>
            </a:pPr>
            <a:r>
              <a:rPr lang="en-US" sz="2499" b="1">
                <a:solidFill>
                  <a:srgbClr val="FF3131"/>
                </a:solidFill>
                <a:latin typeface="Canva Sans Bold"/>
                <a:ea typeface="Canva Sans Bold"/>
                <a:cs typeface="Canva Sans Bold"/>
                <a:sym typeface="Canva Sans Bold"/>
              </a:rPr>
              <a:t>from ~ max(6 mins)</a:t>
            </a:r>
          </a:p>
        </p:txBody>
      </p:sp>
      <p:sp>
        <p:nvSpPr>
          <p:cNvPr id="7" name="TextBox 7"/>
          <p:cNvSpPr txBox="1"/>
          <p:nvPr/>
        </p:nvSpPr>
        <p:spPr>
          <a:xfrm>
            <a:off x="12144733" y="2554651"/>
            <a:ext cx="3067124" cy="421259"/>
          </a:xfrm>
          <a:prstGeom prst="rect">
            <a:avLst/>
          </a:prstGeom>
        </p:spPr>
        <p:txBody>
          <a:bodyPr lIns="0" tIns="0" rIns="0" bIns="0" rtlCol="0" anchor="t">
            <a:spAutoFit/>
          </a:bodyPr>
          <a:lstStyle/>
          <a:p>
            <a:pPr algn="ctr">
              <a:lnSpc>
                <a:spcPts val="3327"/>
              </a:lnSpc>
              <a:spcBef>
                <a:spcPct val="0"/>
              </a:spcBef>
            </a:pPr>
            <a:r>
              <a:rPr lang="en-US" sz="2599" b="1">
                <a:solidFill>
                  <a:srgbClr val="ADE466"/>
                </a:solidFill>
                <a:latin typeface="Canva Sans Bold"/>
                <a:ea typeface="Canva Sans Bold"/>
                <a:cs typeface="Canva Sans Bold"/>
                <a:sym typeface="Canva Sans Bold"/>
              </a:rPr>
              <a:t>to ~ max(1 - 2 mins)</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4991352"/>
            <a:ext cx="2318657" cy="553437"/>
            <a:chOff x="0" y="0"/>
            <a:chExt cx="808177" cy="192903"/>
          </a:xfrm>
        </p:grpSpPr>
        <p:sp>
          <p:nvSpPr>
            <p:cNvPr id="3" name="Freeform 3"/>
            <p:cNvSpPr/>
            <p:nvPr/>
          </p:nvSpPr>
          <p:spPr>
            <a:xfrm>
              <a:off x="0" y="0"/>
              <a:ext cx="808177" cy="192903"/>
            </a:xfrm>
            <a:custGeom>
              <a:avLst/>
              <a:gdLst/>
              <a:ahLst/>
              <a:cxnLst/>
              <a:rect l="l" t="t" r="r" b="b"/>
              <a:pathLst>
                <a:path w="808177" h="192903">
                  <a:moveTo>
                    <a:pt x="0" y="0"/>
                  </a:moveTo>
                  <a:lnTo>
                    <a:pt x="808177" y="0"/>
                  </a:lnTo>
                  <a:lnTo>
                    <a:pt x="808177" y="192903"/>
                  </a:lnTo>
                  <a:lnTo>
                    <a:pt x="0" y="192903"/>
                  </a:lnTo>
                  <a:close/>
                </a:path>
              </a:pathLst>
            </a:custGeom>
            <a:solidFill>
              <a:srgbClr val="CED5E6"/>
            </a:solidFill>
          </p:spPr>
        </p:sp>
        <p:sp>
          <p:nvSpPr>
            <p:cNvPr id="4" name="TextBox 4"/>
            <p:cNvSpPr txBox="1"/>
            <p:nvPr/>
          </p:nvSpPr>
          <p:spPr>
            <a:xfrm>
              <a:off x="0" y="-28575"/>
              <a:ext cx="808177" cy="221478"/>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1-3 </a:t>
              </a:r>
            </a:p>
          </p:txBody>
        </p:sp>
      </p:grpSp>
      <p:grpSp>
        <p:nvGrpSpPr>
          <p:cNvPr id="5" name="Group 5"/>
          <p:cNvGrpSpPr/>
          <p:nvPr/>
        </p:nvGrpSpPr>
        <p:grpSpPr>
          <a:xfrm>
            <a:off x="3347357" y="4991352"/>
            <a:ext cx="2318657" cy="553437"/>
            <a:chOff x="0" y="0"/>
            <a:chExt cx="768727" cy="183486"/>
          </a:xfrm>
        </p:grpSpPr>
        <p:sp>
          <p:nvSpPr>
            <p:cNvPr id="6" name="Freeform 6"/>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979BFF"/>
            </a:solidFill>
          </p:spPr>
        </p:sp>
        <p:sp>
          <p:nvSpPr>
            <p:cNvPr id="7" name="TextBox 7"/>
            <p:cNvSpPr txBox="1"/>
            <p:nvPr/>
          </p:nvSpPr>
          <p:spPr>
            <a:xfrm>
              <a:off x="0" y="-28575"/>
              <a:ext cx="768727" cy="212061"/>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4-5</a:t>
              </a:r>
            </a:p>
          </p:txBody>
        </p:sp>
      </p:grpSp>
      <p:grpSp>
        <p:nvGrpSpPr>
          <p:cNvPr id="8" name="Group 8"/>
          <p:cNvGrpSpPr/>
          <p:nvPr/>
        </p:nvGrpSpPr>
        <p:grpSpPr>
          <a:xfrm>
            <a:off x="5666014" y="4991352"/>
            <a:ext cx="2318657" cy="553437"/>
            <a:chOff x="0" y="0"/>
            <a:chExt cx="768727" cy="183486"/>
          </a:xfrm>
        </p:grpSpPr>
        <p:sp>
          <p:nvSpPr>
            <p:cNvPr id="9" name="Freeform 9"/>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89E2E8"/>
            </a:solidFill>
          </p:spPr>
        </p:sp>
        <p:sp>
          <p:nvSpPr>
            <p:cNvPr id="10" name="TextBox 10"/>
            <p:cNvSpPr txBox="1"/>
            <p:nvPr/>
          </p:nvSpPr>
          <p:spPr>
            <a:xfrm>
              <a:off x="0" y="-28575"/>
              <a:ext cx="768727" cy="212061"/>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6-7</a:t>
              </a:r>
            </a:p>
          </p:txBody>
        </p:sp>
      </p:grpSp>
      <p:grpSp>
        <p:nvGrpSpPr>
          <p:cNvPr id="11" name="Group 11"/>
          <p:cNvGrpSpPr/>
          <p:nvPr/>
        </p:nvGrpSpPr>
        <p:grpSpPr>
          <a:xfrm>
            <a:off x="7984671" y="4991352"/>
            <a:ext cx="2318657" cy="553437"/>
            <a:chOff x="0" y="0"/>
            <a:chExt cx="768727" cy="183486"/>
          </a:xfrm>
        </p:grpSpPr>
        <p:sp>
          <p:nvSpPr>
            <p:cNvPr id="12" name="Freeform 12"/>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ADE466"/>
            </a:solidFill>
          </p:spPr>
        </p:sp>
        <p:sp>
          <p:nvSpPr>
            <p:cNvPr id="13" name="TextBox 13"/>
            <p:cNvSpPr txBox="1"/>
            <p:nvPr/>
          </p:nvSpPr>
          <p:spPr>
            <a:xfrm>
              <a:off x="0" y="-28575"/>
              <a:ext cx="768727" cy="212061"/>
            </a:xfrm>
            <a:prstGeom prst="rect">
              <a:avLst/>
            </a:prstGeom>
          </p:spPr>
          <p:txBody>
            <a:bodyPr lIns="50800" tIns="50800" rIns="50800" bIns="50800" rtlCol="0" anchor="ctr"/>
            <a:lstStyle/>
            <a:p>
              <a:pPr algn="ctr">
                <a:lnSpc>
                  <a:spcPts val="2239"/>
                </a:lnSpc>
              </a:pPr>
              <a:r>
                <a:rPr lang="en-US" sz="1599" b="1">
                  <a:solidFill>
                    <a:srgbClr val="000000"/>
                  </a:solidFill>
                  <a:latin typeface="Montserrat Bold"/>
                  <a:ea typeface="Montserrat Bold"/>
                  <a:cs typeface="Montserrat Bold"/>
                  <a:sym typeface="Montserrat Bold"/>
                </a:rPr>
                <a:t>Week 8-9</a:t>
              </a:r>
            </a:p>
          </p:txBody>
        </p:sp>
      </p:grpSp>
      <p:grpSp>
        <p:nvGrpSpPr>
          <p:cNvPr id="14" name="Group 14"/>
          <p:cNvGrpSpPr/>
          <p:nvPr/>
        </p:nvGrpSpPr>
        <p:grpSpPr>
          <a:xfrm>
            <a:off x="10303329" y="4991352"/>
            <a:ext cx="2318657" cy="553437"/>
            <a:chOff x="0" y="0"/>
            <a:chExt cx="768727" cy="183486"/>
          </a:xfrm>
        </p:grpSpPr>
        <p:sp>
          <p:nvSpPr>
            <p:cNvPr id="15" name="Freeform 15"/>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E8E252"/>
            </a:solidFill>
            <a:ln cap="sq">
              <a:noFill/>
              <a:prstDash val="solid"/>
              <a:miter/>
            </a:ln>
          </p:spPr>
        </p:sp>
        <p:sp>
          <p:nvSpPr>
            <p:cNvPr id="16" name="TextBox 16"/>
            <p:cNvSpPr txBox="1"/>
            <p:nvPr/>
          </p:nvSpPr>
          <p:spPr>
            <a:xfrm>
              <a:off x="0" y="-28575"/>
              <a:ext cx="768727" cy="212061"/>
            </a:xfrm>
            <a:prstGeom prst="rect">
              <a:avLst/>
            </a:prstGeom>
          </p:spPr>
          <p:txBody>
            <a:bodyPr lIns="50800" tIns="50800" rIns="50800" bIns="50800" rtlCol="0" anchor="ctr"/>
            <a:lstStyle/>
            <a:p>
              <a:pPr marL="0" lvl="0" indent="0" algn="ctr">
                <a:lnSpc>
                  <a:spcPts val="2239"/>
                </a:lnSpc>
                <a:spcBef>
                  <a:spcPct val="0"/>
                </a:spcBef>
              </a:pPr>
              <a:r>
                <a:rPr lang="en-US" sz="1599" b="1">
                  <a:solidFill>
                    <a:srgbClr val="000000"/>
                  </a:solidFill>
                  <a:latin typeface="Montserrat Bold"/>
                  <a:ea typeface="Montserrat Bold"/>
                  <a:cs typeface="Montserrat Bold"/>
                  <a:sym typeface="Montserrat Bold"/>
                </a:rPr>
                <a:t>Week 10-11</a:t>
              </a:r>
            </a:p>
          </p:txBody>
        </p:sp>
      </p:grpSp>
      <p:grpSp>
        <p:nvGrpSpPr>
          <p:cNvPr id="17" name="Group 17"/>
          <p:cNvGrpSpPr/>
          <p:nvPr/>
        </p:nvGrpSpPr>
        <p:grpSpPr>
          <a:xfrm>
            <a:off x="12621986" y="4991352"/>
            <a:ext cx="2318657" cy="553437"/>
            <a:chOff x="0" y="0"/>
            <a:chExt cx="768727" cy="183486"/>
          </a:xfrm>
        </p:grpSpPr>
        <p:sp>
          <p:nvSpPr>
            <p:cNvPr id="18" name="Freeform 18"/>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FFD308"/>
            </a:solidFill>
            <a:ln cap="sq">
              <a:noFill/>
              <a:prstDash val="solid"/>
              <a:miter/>
            </a:ln>
          </p:spPr>
        </p:sp>
        <p:sp>
          <p:nvSpPr>
            <p:cNvPr id="19" name="TextBox 19"/>
            <p:cNvSpPr txBox="1"/>
            <p:nvPr/>
          </p:nvSpPr>
          <p:spPr>
            <a:xfrm>
              <a:off x="0" y="-28575"/>
              <a:ext cx="768727" cy="212061"/>
            </a:xfrm>
            <a:prstGeom prst="rect">
              <a:avLst/>
            </a:prstGeom>
          </p:spPr>
          <p:txBody>
            <a:bodyPr lIns="50800" tIns="50800" rIns="50800" bIns="50800" rtlCol="0" anchor="ctr"/>
            <a:lstStyle/>
            <a:p>
              <a:pPr marL="0" lvl="0" indent="0" algn="ctr">
                <a:lnSpc>
                  <a:spcPts val="2239"/>
                </a:lnSpc>
                <a:spcBef>
                  <a:spcPct val="0"/>
                </a:spcBef>
              </a:pPr>
              <a:r>
                <a:rPr lang="en-US" sz="1599" b="1">
                  <a:solidFill>
                    <a:srgbClr val="000000"/>
                  </a:solidFill>
                  <a:latin typeface="Montserrat Bold"/>
                  <a:ea typeface="Montserrat Bold"/>
                  <a:cs typeface="Montserrat Bold"/>
                  <a:sym typeface="Montserrat Bold"/>
                </a:rPr>
                <a:t>Week 12-13</a:t>
              </a:r>
            </a:p>
          </p:txBody>
        </p:sp>
      </p:grpSp>
      <p:grpSp>
        <p:nvGrpSpPr>
          <p:cNvPr id="20" name="Group 20"/>
          <p:cNvGrpSpPr/>
          <p:nvPr/>
        </p:nvGrpSpPr>
        <p:grpSpPr>
          <a:xfrm>
            <a:off x="14940643" y="4991352"/>
            <a:ext cx="2318657" cy="553437"/>
            <a:chOff x="0" y="0"/>
            <a:chExt cx="768727" cy="183486"/>
          </a:xfrm>
        </p:grpSpPr>
        <p:sp>
          <p:nvSpPr>
            <p:cNvPr id="21" name="Freeform 21"/>
            <p:cNvSpPr/>
            <p:nvPr/>
          </p:nvSpPr>
          <p:spPr>
            <a:xfrm>
              <a:off x="0" y="0"/>
              <a:ext cx="768727" cy="183486"/>
            </a:xfrm>
            <a:custGeom>
              <a:avLst/>
              <a:gdLst/>
              <a:ahLst/>
              <a:cxnLst/>
              <a:rect l="l" t="t" r="r" b="b"/>
              <a:pathLst>
                <a:path w="768727" h="183486">
                  <a:moveTo>
                    <a:pt x="0" y="0"/>
                  </a:moveTo>
                  <a:lnTo>
                    <a:pt x="768727" y="0"/>
                  </a:lnTo>
                  <a:lnTo>
                    <a:pt x="768727" y="183486"/>
                  </a:lnTo>
                  <a:lnTo>
                    <a:pt x="0" y="183486"/>
                  </a:lnTo>
                  <a:close/>
                </a:path>
              </a:pathLst>
            </a:custGeom>
            <a:solidFill>
              <a:srgbClr val="FFA678"/>
            </a:solidFill>
            <a:ln cap="sq">
              <a:noFill/>
              <a:prstDash val="solid"/>
              <a:miter/>
            </a:ln>
          </p:spPr>
        </p:sp>
        <p:sp>
          <p:nvSpPr>
            <p:cNvPr id="22" name="TextBox 22"/>
            <p:cNvSpPr txBox="1"/>
            <p:nvPr/>
          </p:nvSpPr>
          <p:spPr>
            <a:xfrm>
              <a:off x="0" y="-28575"/>
              <a:ext cx="768727" cy="212061"/>
            </a:xfrm>
            <a:prstGeom prst="rect">
              <a:avLst/>
            </a:prstGeom>
          </p:spPr>
          <p:txBody>
            <a:bodyPr lIns="50800" tIns="50800" rIns="50800" bIns="50800" rtlCol="0" anchor="ctr"/>
            <a:lstStyle/>
            <a:p>
              <a:pPr marL="0" lvl="0" indent="0" algn="ctr">
                <a:lnSpc>
                  <a:spcPts val="2239"/>
                </a:lnSpc>
                <a:spcBef>
                  <a:spcPct val="0"/>
                </a:spcBef>
              </a:pPr>
              <a:r>
                <a:rPr lang="en-US" sz="1599" b="1">
                  <a:solidFill>
                    <a:srgbClr val="000000"/>
                  </a:solidFill>
                  <a:latin typeface="Montserrat Bold"/>
                  <a:ea typeface="Montserrat Bold"/>
                  <a:cs typeface="Montserrat Bold"/>
                  <a:sym typeface="Montserrat Bold"/>
                </a:rPr>
                <a:t>Week 14</a:t>
              </a:r>
            </a:p>
          </p:txBody>
        </p:sp>
      </p:grpSp>
      <p:sp>
        <p:nvSpPr>
          <p:cNvPr id="23" name="AutoShape 23"/>
          <p:cNvSpPr/>
          <p:nvPr/>
        </p:nvSpPr>
        <p:spPr>
          <a:xfrm flipV="1">
            <a:off x="3347357" y="2671575"/>
            <a:ext cx="0" cy="2319776"/>
          </a:xfrm>
          <a:prstGeom prst="line">
            <a:avLst/>
          </a:prstGeom>
          <a:ln w="38100" cap="flat">
            <a:solidFill>
              <a:srgbClr val="CED5E6"/>
            </a:solidFill>
            <a:prstDash val="solid"/>
            <a:headEnd type="none" w="sm" len="sm"/>
            <a:tailEnd type="diamond" w="lg" len="lg"/>
          </a:ln>
        </p:spPr>
      </p:sp>
      <p:sp>
        <p:nvSpPr>
          <p:cNvPr id="24" name="AutoShape 24"/>
          <p:cNvSpPr/>
          <p:nvPr/>
        </p:nvSpPr>
        <p:spPr>
          <a:xfrm flipV="1">
            <a:off x="7965621" y="2671575"/>
            <a:ext cx="0" cy="2319776"/>
          </a:xfrm>
          <a:prstGeom prst="line">
            <a:avLst/>
          </a:prstGeom>
          <a:ln w="38100" cap="flat">
            <a:solidFill>
              <a:srgbClr val="89E2E8"/>
            </a:solidFill>
            <a:prstDash val="solid"/>
            <a:headEnd type="none" w="sm" len="sm"/>
            <a:tailEnd type="diamond" w="lg" len="lg"/>
          </a:ln>
        </p:spPr>
      </p:sp>
      <p:sp>
        <p:nvSpPr>
          <p:cNvPr id="25" name="AutoShape 25"/>
          <p:cNvSpPr/>
          <p:nvPr/>
        </p:nvSpPr>
        <p:spPr>
          <a:xfrm flipH="1">
            <a:off x="5646964" y="5544789"/>
            <a:ext cx="0" cy="2319776"/>
          </a:xfrm>
          <a:prstGeom prst="line">
            <a:avLst/>
          </a:prstGeom>
          <a:ln w="38100" cap="flat">
            <a:solidFill>
              <a:srgbClr val="979BFF"/>
            </a:solidFill>
            <a:prstDash val="solid"/>
            <a:headEnd type="none" w="sm" len="sm"/>
            <a:tailEnd type="diamond" w="lg" len="lg"/>
          </a:ln>
        </p:spPr>
      </p:sp>
      <p:sp>
        <p:nvSpPr>
          <p:cNvPr id="26" name="AutoShape 26"/>
          <p:cNvSpPr/>
          <p:nvPr/>
        </p:nvSpPr>
        <p:spPr>
          <a:xfrm>
            <a:off x="10284279" y="5544789"/>
            <a:ext cx="0" cy="2319776"/>
          </a:xfrm>
          <a:prstGeom prst="line">
            <a:avLst/>
          </a:prstGeom>
          <a:ln w="38100" cap="flat">
            <a:solidFill>
              <a:srgbClr val="ADE466"/>
            </a:solidFill>
            <a:prstDash val="solid"/>
            <a:headEnd type="none" w="sm" len="sm"/>
            <a:tailEnd type="diamond" w="lg" len="lg"/>
          </a:ln>
        </p:spPr>
      </p:sp>
      <p:sp>
        <p:nvSpPr>
          <p:cNvPr id="27" name="AutoShape 27"/>
          <p:cNvSpPr/>
          <p:nvPr/>
        </p:nvSpPr>
        <p:spPr>
          <a:xfrm flipV="1">
            <a:off x="12602936" y="2671575"/>
            <a:ext cx="0" cy="2319776"/>
          </a:xfrm>
          <a:prstGeom prst="line">
            <a:avLst/>
          </a:prstGeom>
          <a:ln w="38100" cap="flat">
            <a:solidFill>
              <a:srgbClr val="E8E252"/>
            </a:solidFill>
            <a:prstDash val="solid"/>
            <a:headEnd type="none" w="sm" len="sm"/>
            <a:tailEnd type="diamond" w="lg" len="lg"/>
          </a:ln>
        </p:spPr>
      </p:sp>
      <p:sp>
        <p:nvSpPr>
          <p:cNvPr id="28" name="AutoShape 28"/>
          <p:cNvSpPr/>
          <p:nvPr/>
        </p:nvSpPr>
        <p:spPr>
          <a:xfrm>
            <a:off x="14921593" y="5544789"/>
            <a:ext cx="0" cy="2319776"/>
          </a:xfrm>
          <a:prstGeom prst="line">
            <a:avLst/>
          </a:prstGeom>
          <a:ln w="38100" cap="flat">
            <a:solidFill>
              <a:srgbClr val="FFD308"/>
            </a:solidFill>
            <a:prstDash val="solid"/>
            <a:headEnd type="none" w="sm" len="sm"/>
            <a:tailEnd type="diamond" w="lg" len="lg"/>
          </a:ln>
        </p:spPr>
      </p:sp>
      <p:sp>
        <p:nvSpPr>
          <p:cNvPr id="29" name="AutoShape 29"/>
          <p:cNvSpPr/>
          <p:nvPr/>
        </p:nvSpPr>
        <p:spPr>
          <a:xfrm flipV="1">
            <a:off x="17240250" y="2671575"/>
            <a:ext cx="0" cy="2319776"/>
          </a:xfrm>
          <a:prstGeom prst="line">
            <a:avLst/>
          </a:prstGeom>
          <a:ln w="38100" cap="flat">
            <a:solidFill>
              <a:srgbClr val="FFA678"/>
            </a:solidFill>
            <a:prstDash val="solid"/>
            <a:headEnd type="none" w="sm" len="sm"/>
            <a:tailEnd type="diamond" w="lg" len="lg"/>
          </a:ln>
        </p:spPr>
      </p:sp>
      <p:sp>
        <p:nvSpPr>
          <p:cNvPr id="30" name="TextBox 30"/>
          <p:cNvSpPr txBox="1"/>
          <p:nvPr/>
        </p:nvSpPr>
        <p:spPr>
          <a:xfrm>
            <a:off x="572668" y="3054298"/>
            <a:ext cx="2544845" cy="1497331"/>
          </a:xfrm>
          <a:prstGeom prst="rect">
            <a:avLst/>
          </a:prstGeom>
        </p:spPr>
        <p:txBody>
          <a:bodyPr lIns="0" tIns="0" rIns="0" bIns="0" rtlCol="0" anchor="t">
            <a:spAutoFit/>
          </a:bodyPr>
          <a:lstStyle/>
          <a:p>
            <a:pPr algn="r">
              <a:lnSpc>
                <a:spcPts val="3059"/>
              </a:lnSpc>
            </a:pPr>
            <a:r>
              <a:rPr lang="en-US" sz="1999">
                <a:solidFill>
                  <a:srgbClr val="000000"/>
                </a:solidFill>
                <a:latin typeface="Montserrat"/>
                <a:ea typeface="Montserrat"/>
                <a:cs typeface="Montserrat"/>
                <a:sym typeface="Montserrat"/>
              </a:rPr>
              <a:t>Prepare the project proposal and set up the development environment  </a:t>
            </a:r>
          </a:p>
        </p:txBody>
      </p:sp>
      <p:sp>
        <p:nvSpPr>
          <p:cNvPr id="31" name="TextBox 31"/>
          <p:cNvSpPr txBox="1"/>
          <p:nvPr/>
        </p:nvSpPr>
        <p:spPr>
          <a:xfrm>
            <a:off x="1246108" y="2220582"/>
            <a:ext cx="1883842"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Proposal and Setup</a:t>
            </a:r>
          </a:p>
        </p:txBody>
      </p:sp>
      <p:sp>
        <p:nvSpPr>
          <p:cNvPr id="32" name="TextBox 32"/>
          <p:cNvSpPr txBox="1"/>
          <p:nvPr/>
        </p:nvSpPr>
        <p:spPr>
          <a:xfrm>
            <a:off x="5234088" y="3054298"/>
            <a:ext cx="2520739" cy="1878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Integrate LLM API,  API, implement classification slots, and create chat endpoints </a:t>
            </a:r>
          </a:p>
        </p:txBody>
      </p:sp>
      <p:sp>
        <p:nvSpPr>
          <p:cNvPr id="33" name="TextBox 33"/>
          <p:cNvSpPr txBox="1"/>
          <p:nvPr/>
        </p:nvSpPr>
        <p:spPr>
          <a:xfrm>
            <a:off x="5883422" y="2220582"/>
            <a:ext cx="1883842"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LLM + Chat Setup</a:t>
            </a:r>
          </a:p>
        </p:txBody>
      </p:sp>
      <p:sp>
        <p:nvSpPr>
          <p:cNvPr id="34" name="TextBox 34"/>
          <p:cNvSpPr txBox="1"/>
          <p:nvPr/>
        </p:nvSpPr>
        <p:spPr>
          <a:xfrm>
            <a:off x="9668247" y="3054298"/>
            <a:ext cx="2723895" cy="1878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Integrate APIs for car rental, hotels and attractions search, and add an API endpoint</a:t>
            </a:r>
          </a:p>
        </p:txBody>
      </p:sp>
      <p:sp>
        <p:nvSpPr>
          <p:cNvPr id="35" name="TextBox 35"/>
          <p:cNvSpPr txBox="1"/>
          <p:nvPr/>
        </p:nvSpPr>
        <p:spPr>
          <a:xfrm>
            <a:off x="15170487" y="3054298"/>
            <a:ext cx="1858969" cy="1116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Publish an app to the Expo/Vercel</a:t>
            </a:r>
          </a:p>
        </p:txBody>
      </p:sp>
      <p:sp>
        <p:nvSpPr>
          <p:cNvPr id="36" name="TextBox 36"/>
          <p:cNvSpPr txBox="1"/>
          <p:nvPr/>
        </p:nvSpPr>
        <p:spPr>
          <a:xfrm>
            <a:off x="14921593" y="2220582"/>
            <a:ext cx="2120299"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Publish &amp; Deployment</a:t>
            </a:r>
          </a:p>
        </p:txBody>
      </p:sp>
      <p:sp>
        <p:nvSpPr>
          <p:cNvPr id="37" name="TextBox 37"/>
          <p:cNvSpPr txBox="1"/>
          <p:nvPr/>
        </p:nvSpPr>
        <p:spPr>
          <a:xfrm>
            <a:off x="3347357" y="6486107"/>
            <a:ext cx="2088813" cy="2259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Initialize and design the frontend basic layout and the backend basic endpoints</a:t>
            </a:r>
          </a:p>
        </p:txBody>
      </p:sp>
      <p:sp>
        <p:nvSpPr>
          <p:cNvPr id="38" name="TextBox 38"/>
          <p:cNvSpPr txBox="1"/>
          <p:nvPr/>
        </p:nvSpPr>
        <p:spPr>
          <a:xfrm>
            <a:off x="3129949" y="5652392"/>
            <a:ext cx="2318657"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Frontend &amp; backend Setup</a:t>
            </a:r>
          </a:p>
        </p:txBody>
      </p:sp>
      <p:sp>
        <p:nvSpPr>
          <p:cNvPr id="39" name="TextBox 39"/>
          <p:cNvSpPr txBox="1"/>
          <p:nvPr/>
        </p:nvSpPr>
        <p:spPr>
          <a:xfrm>
            <a:off x="8214516" y="6486107"/>
            <a:ext cx="1858969" cy="1878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Integrate APIs for flights and hotels, and add each API endpoint </a:t>
            </a:r>
          </a:p>
        </p:txBody>
      </p:sp>
      <p:sp>
        <p:nvSpPr>
          <p:cNvPr id="40" name="TextBox 40"/>
          <p:cNvSpPr txBox="1"/>
          <p:nvPr/>
        </p:nvSpPr>
        <p:spPr>
          <a:xfrm>
            <a:off x="12392142" y="6486107"/>
            <a:ext cx="2318657" cy="1497330"/>
          </a:xfrm>
          <a:prstGeom prst="rect">
            <a:avLst/>
          </a:prstGeom>
        </p:spPr>
        <p:txBody>
          <a:bodyPr lIns="0" tIns="0" rIns="0" bIns="0" rtlCol="0" anchor="t">
            <a:spAutoFit/>
          </a:bodyPr>
          <a:lstStyle/>
          <a:p>
            <a:pPr algn="r">
              <a:lnSpc>
                <a:spcPts val="3060"/>
              </a:lnSpc>
            </a:pPr>
            <a:r>
              <a:rPr lang="en-US" sz="2000">
                <a:solidFill>
                  <a:srgbClr val="000000"/>
                </a:solidFill>
                <a:latin typeface="Montserrat"/>
                <a:ea typeface="Montserrat"/>
                <a:cs typeface="Montserrat"/>
                <a:sym typeface="Montserrat"/>
              </a:rPr>
              <a:t>Orchestrate flight, hotel, rental,  and attractions based on inputs</a:t>
            </a:r>
          </a:p>
        </p:txBody>
      </p:sp>
      <p:sp>
        <p:nvSpPr>
          <p:cNvPr id="41" name="TextBox 41"/>
          <p:cNvSpPr txBox="1"/>
          <p:nvPr/>
        </p:nvSpPr>
        <p:spPr>
          <a:xfrm>
            <a:off x="12417015" y="5652392"/>
            <a:ext cx="2306221"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Orchestration &amp; Testing</a:t>
            </a:r>
          </a:p>
        </p:txBody>
      </p:sp>
      <p:sp>
        <p:nvSpPr>
          <p:cNvPr id="42" name="TextBox 42"/>
          <p:cNvSpPr txBox="1"/>
          <p:nvPr/>
        </p:nvSpPr>
        <p:spPr>
          <a:xfrm>
            <a:off x="1028700" y="839267"/>
            <a:ext cx="7584203" cy="1075563"/>
          </a:xfrm>
          <a:prstGeom prst="rect">
            <a:avLst/>
          </a:prstGeom>
        </p:spPr>
        <p:txBody>
          <a:bodyPr lIns="0" tIns="0" rIns="0" bIns="0" rtlCol="0" anchor="t">
            <a:spAutoFit/>
          </a:bodyPr>
          <a:lstStyle/>
          <a:p>
            <a:pPr marL="0" lvl="0" indent="0" algn="ctr">
              <a:lnSpc>
                <a:spcPts val="8496"/>
              </a:lnSpc>
              <a:spcBef>
                <a:spcPct val="0"/>
              </a:spcBef>
            </a:pPr>
            <a:r>
              <a:rPr lang="en-US" sz="7200" b="1">
                <a:solidFill>
                  <a:srgbClr val="000000"/>
                </a:solidFill>
                <a:latin typeface="DM Sans Bold"/>
                <a:ea typeface="DM Sans Bold"/>
                <a:cs typeface="DM Sans Bold"/>
                <a:sym typeface="DM Sans Bold"/>
              </a:rPr>
              <a:t>Project Timeline</a:t>
            </a:r>
          </a:p>
        </p:txBody>
      </p:sp>
      <p:sp>
        <p:nvSpPr>
          <p:cNvPr id="43" name="TextBox 43"/>
          <p:cNvSpPr txBox="1"/>
          <p:nvPr/>
        </p:nvSpPr>
        <p:spPr>
          <a:xfrm>
            <a:off x="7537113" y="5652392"/>
            <a:ext cx="2561244"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Flights &amp; Hotels Integration</a:t>
            </a:r>
          </a:p>
        </p:txBody>
      </p:sp>
      <p:sp>
        <p:nvSpPr>
          <p:cNvPr id="44" name="TextBox 44"/>
          <p:cNvSpPr txBox="1"/>
          <p:nvPr/>
        </p:nvSpPr>
        <p:spPr>
          <a:xfrm>
            <a:off x="9409528" y="2220582"/>
            <a:ext cx="3007486" cy="738632"/>
          </a:xfrm>
          <a:prstGeom prst="rect">
            <a:avLst/>
          </a:prstGeom>
        </p:spPr>
        <p:txBody>
          <a:bodyPr lIns="0" tIns="0" rIns="0" bIns="0" rtlCol="0" anchor="t">
            <a:spAutoFit/>
          </a:bodyPr>
          <a:lstStyle/>
          <a:p>
            <a:pPr marL="0" lvl="0" indent="0" algn="r">
              <a:lnSpc>
                <a:spcPts val="2944"/>
              </a:lnSpc>
            </a:pPr>
            <a:r>
              <a:rPr lang="en-US" sz="2300" b="1">
                <a:solidFill>
                  <a:srgbClr val="000000"/>
                </a:solidFill>
                <a:latin typeface="Montserrat Bold"/>
                <a:ea typeface="Montserrat Bold"/>
                <a:cs typeface="Montserrat Bold"/>
                <a:sym typeface="Montserrat Bold"/>
              </a:rPr>
              <a:t>Rent &amp; Attractions Integration</a:t>
            </a:r>
          </a:p>
        </p:txBody>
      </p:sp>
      <p:sp>
        <p:nvSpPr>
          <p:cNvPr id="45" name="TextBox 45"/>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 Umair, Ayo</a:t>
            </a:r>
          </a:p>
        </p:txBody>
      </p:sp>
      <p:sp>
        <p:nvSpPr>
          <p:cNvPr id="46" name="AutoShape 46"/>
          <p:cNvSpPr/>
          <p:nvPr/>
        </p:nvSpPr>
        <p:spPr>
          <a:xfrm>
            <a:off x="16147596" y="5820181"/>
            <a:ext cx="0" cy="1446153"/>
          </a:xfrm>
          <a:prstGeom prst="line">
            <a:avLst/>
          </a:prstGeom>
          <a:ln w="95250" cap="flat">
            <a:solidFill>
              <a:srgbClr val="FF3131"/>
            </a:solidFill>
            <a:prstDash val="solid"/>
            <a:headEnd type="arrow" w="med" len="sm"/>
            <a:tailEnd type="none" w="sm" len="sm"/>
          </a:ln>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50817" y="1162050"/>
            <a:ext cx="16208483" cy="963930"/>
          </a:xfrm>
          <a:prstGeom prst="rect">
            <a:avLst/>
          </a:prstGeom>
        </p:spPr>
        <p:txBody>
          <a:bodyPr lIns="0" tIns="0" rIns="0" bIns="0" rtlCol="0" anchor="t">
            <a:spAutoFit/>
          </a:bodyPr>
          <a:lstStyle/>
          <a:p>
            <a:pPr marL="0" lvl="0" indent="0" algn="l">
              <a:lnSpc>
                <a:spcPts val="7200"/>
              </a:lnSpc>
            </a:pPr>
            <a:r>
              <a:rPr lang="en-US" sz="7200" b="1" spc="-72">
                <a:solidFill>
                  <a:srgbClr val="002217"/>
                </a:solidFill>
                <a:latin typeface="DM Sans Bold"/>
                <a:ea typeface="DM Sans Bold"/>
                <a:cs typeface="DM Sans Bold"/>
                <a:sym typeface="DM Sans Bold"/>
              </a:rPr>
              <a:t>What’s next?</a:t>
            </a:r>
          </a:p>
        </p:txBody>
      </p:sp>
      <p:grpSp>
        <p:nvGrpSpPr>
          <p:cNvPr id="3" name="Group 3"/>
          <p:cNvGrpSpPr/>
          <p:nvPr/>
        </p:nvGrpSpPr>
        <p:grpSpPr>
          <a:xfrm>
            <a:off x="1050817" y="2365005"/>
            <a:ext cx="16208483" cy="3316689"/>
            <a:chOff x="0" y="0"/>
            <a:chExt cx="21611311" cy="4422252"/>
          </a:xfrm>
        </p:grpSpPr>
        <p:sp>
          <p:nvSpPr>
            <p:cNvPr id="4" name="TextBox 4"/>
            <p:cNvSpPr txBox="1"/>
            <p:nvPr/>
          </p:nvSpPr>
          <p:spPr>
            <a:xfrm>
              <a:off x="0" y="766555"/>
              <a:ext cx="21611311" cy="3655697"/>
            </a:xfrm>
            <a:prstGeom prst="rect">
              <a:avLst/>
            </a:prstGeom>
          </p:spPr>
          <p:txBody>
            <a:bodyPr lIns="0" tIns="0" rIns="0" bIns="0" rtlCol="0" anchor="t">
              <a:spAutoFit/>
            </a:bodyPr>
            <a:lstStyle/>
            <a:p>
              <a:pPr marL="550521" lvl="1" indent="-275260" algn="l">
                <a:lnSpc>
                  <a:spcPts val="3314"/>
                </a:lnSpc>
                <a:buFont typeface="Arial"/>
                <a:buChar char="•"/>
              </a:pPr>
              <a:r>
                <a:rPr lang="en-US" sz="2549">
                  <a:solidFill>
                    <a:srgbClr val="002217"/>
                  </a:solidFill>
                  <a:latin typeface="Canva Sans"/>
                  <a:ea typeface="Canva Sans"/>
                  <a:cs typeface="Canva Sans"/>
                  <a:sym typeface="Canva Sans"/>
                </a:rPr>
                <a:t>Goal:  Test and make sure that the chatbox is working properly in the app.</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Expected Result: Chatbox in the app should handle multiple use cases </a:t>
              </a:r>
            </a:p>
            <a:p>
              <a:pPr marL="1101041" lvl="2" indent="-367014" algn="l">
                <a:lnSpc>
                  <a:spcPts val="5099"/>
                </a:lnSpc>
                <a:buFont typeface="Arial"/>
                <a:buChar char="⚬"/>
              </a:pPr>
              <a:r>
                <a:rPr lang="en-US" sz="2549">
                  <a:solidFill>
                    <a:srgbClr val="002217"/>
                  </a:solidFill>
                  <a:latin typeface="Canva Sans"/>
                  <a:ea typeface="Canva Sans"/>
                  <a:cs typeface="Canva Sans"/>
                  <a:sym typeface="Canva Sans"/>
                </a:rPr>
                <a:t>Fix the bug that the API service sends multiple travel plans to FE</a:t>
              </a:r>
            </a:p>
            <a:p>
              <a:pPr marL="1101041" lvl="2" indent="-367014" algn="l">
                <a:lnSpc>
                  <a:spcPts val="5099"/>
                </a:lnSpc>
                <a:buFont typeface="Arial"/>
                <a:buChar char="⚬"/>
              </a:pPr>
              <a:r>
                <a:rPr lang="en-US" sz="2549">
                  <a:solidFill>
                    <a:srgbClr val="002217"/>
                  </a:solidFill>
                  <a:latin typeface="Canva Sans"/>
                  <a:ea typeface="Canva Sans"/>
                  <a:cs typeface="Canva Sans"/>
                  <a:sym typeface="Canva Sans"/>
                </a:rPr>
                <a:t>Improve slot-filling logic when the user sends the same information multiple times</a:t>
              </a:r>
            </a:p>
            <a:p>
              <a:pPr algn="l">
                <a:lnSpc>
                  <a:spcPts val="3314"/>
                </a:lnSpc>
              </a:pPr>
              <a:endParaRPr lang="en-US" sz="2549">
                <a:solidFill>
                  <a:srgbClr val="002217"/>
                </a:solidFill>
                <a:latin typeface="Canva Sans"/>
                <a:ea typeface="Canva Sans"/>
                <a:cs typeface="Canva Sans"/>
                <a:sym typeface="Canva Sans"/>
              </a:endParaRPr>
            </a:p>
          </p:txBody>
        </p:sp>
        <p:sp>
          <p:nvSpPr>
            <p:cNvPr id="5" name="TextBox 5"/>
            <p:cNvSpPr txBox="1"/>
            <p:nvPr/>
          </p:nvSpPr>
          <p:spPr>
            <a:xfrm>
              <a:off x="0" y="57150"/>
              <a:ext cx="10909441" cy="507577"/>
            </a:xfrm>
            <a:prstGeom prst="rect">
              <a:avLst/>
            </a:prstGeom>
          </p:spPr>
          <p:txBody>
            <a:bodyPr lIns="0" tIns="0" rIns="0" bIns="0" rtlCol="0" anchor="t">
              <a:spAutoFit/>
            </a:bodyPr>
            <a:lstStyle/>
            <a:p>
              <a:pPr marL="0" lvl="0" indent="0" algn="l">
                <a:lnSpc>
                  <a:spcPts val="2799"/>
                </a:lnSpc>
              </a:pPr>
              <a:r>
                <a:rPr lang="en-US" sz="2799" b="1">
                  <a:solidFill>
                    <a:srgbClr val="002217"/>
                  </a:solidFill>
                  <a:latin typeface="Canva Sans Bold"/>
                  <a:ea typeface="Canva Sans Bold"/>
                  <a:cs typeface="Canva Sans Bold"/>
                  <a:sym typeface="Canva Sans Bold"/>
                </a:rPr>
                <a:t>Debugging/Testing chatbox in the frontend</a:t>
              </a:r>
            </a:p>
          </p:txBody>
        </p:sp>
      </p:grpSp>
      <p:grpSp>
        <p:nvGrpSpPr>
          <p:cNvPr id="6" name="Group 6"/>
          <p:cNvGrpSpPr/>
          <p:nvPr/>
        </p:nvGrpSpPr>
        <p:grpSpPr>
          <a:xfrm>
            <a:off x="1028700" y="5681694"/>
            <a:ext cx="16230600" cy="2250451"/>
            <a:chOff x="0" y="0"/>
            <a:chExt cx="21640800" cy="3000602"/>
          </a:xfrm>
        </p:grpSpPr>
        <p:sp>
          <p:nvSpPr>
            <p:cNvPr id="7" name="TextBox 7"/>
            <p:cNvSpPr txBox="1"/>
            <p:nvPr/>
          </p:nvSpPr>
          <p:spPr>
            <a:xfrm>
              <a:off x="0" y="602827"/>
              <a:ext cx="21640800" cy="2397775"/>
            </a:xfrm>
            <a:prstGeom prst="rect">
              <a:avLst/>
            </a:prstGeom>
          </p:spPr>
          <p:txBody>
            <a:bodyPr lIns="0" tIns="0" rIns="0" bIns="0" rtlCol="0" anchor="t">
              <a:spAutoFit/>
            </a:bodyPr>
            <a:lstStyle/>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Goal #1: Save the user’s chat, slots, and plan information into mobile devices/DB</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Expected Result #1: Save the user’s chat and travel information into the DB</a:t>
              </a:r>
            </a:p>
            <a:p>
              <a:pPr marL="550521" lvl="1" indent="-275260" algn="l">
                <a:lnSpc>
                  <a:spcPts val="5099"/>
                </a:lnSpc>
                <a:buFont typeface="Arial"/>
                <a:buChar char="•"/>
              </a:pPr>
              <a:r>
                <a:rPr lang="en-US" sz="2549">
                  <a:solidFill>
                    <a:srgbClr val="002217"/>
                  </a:solidFill>
                  <a:latin typeface="Canva Sans"/>
                  <a:ea typeface="Canva Sans"/>
                  <a:cs typeface="Canva Sans"/>
                  <a:sym typeface="Canva Sans"/>
                </a:rPr>
                <a:t>Expected Result #2: Pull out the previous chat/plan from the DB for registered users </a:t>
              </a:r>
            </a:p>
          </p:txBody>
        </p:sp>
        <p:sp>
          <p:nvSpPr>
            <p:cNvPr id="8" name="TextBox 8"/>
            <p:cNvSpPr txBox="1"/>
            <p:nvPr/>
          </p:nvSpPr>
          <p:spPr>
            <a:xfrm>
              <a:off x="0" y="57150"/>
              <a:ext cx="21640800" cy="507577"/>
            </a:xfrm>
            <a:prstGeom prst="rect">
              <a:avLst/>
            </a:prstGeom>
          </p:spPr>
          <p:txBody>
            <a:bodyPr lIns="0" tIns="0" rIns="0" bIns="0" rtlCol="0" anchor="t">
              <a:spAutoFit/>
            </a:bodyPr>
            <a:lstStyle/>
            <a:p>
              <a:pPr marL="0" lvl="0" indent="0" algn="l">
                <a:lnSpc>
                  <a:spcPts val="2799"/>
                </a:lnSpc>
                <a:spcBef>
                  <a:spcPct val="0"/>
                </a:spcBef>
              </a:pPr>
              <a:r>
                <a:rPr lang="en-US" sz="2799" b="1">
                  <a:solidFill>
                    <a:srgbClr val="002217"/>
                  </a:solidFill>
                  <a:latin typeface="Canva Sans Bold"/>
                  <a:ea typeface="Canva Sans Bold"/>
                  <a:cs typeface="Canva Sans Bold"/>
                  <a:sym typeface="Canva Sans Bold"/>
                </a:rPr>
                <a:t>Debugging/Testing backend in the frontend</a:t>
              </a:r>
            </a:p>
          </p:txBody>
        </p:sp>
      </p:grpSp>
      <p:sp>
        <p:nvSpPr>
          <p:cNvPr id="9" name="TextBox 9"/>
          <p:cNvSpPr txBox="1"/>
          <p:nvPr/>
        </p:nvSpPr>
        <p:spPr>
          <a:xfrm>
            <a:off x="12543304" y="9615962"/>
            <a:ext cx="4715996" cy="370206"/>
          </a:xfrm>
          <a:prstGeom prst="rect">
            <a:avLst/>
          </a:prstGeom>
        </p:spPr>
        <p:txBody>
          <a:bodyPr lIns="0" tIns="0" rIns="0" bIns="0" rtlCol="0" anchor="t">
            <a:spAutoFit/>
          </a:bodyPr>
          <a:lstStyle/>
          <a:p>
            <a:pPr algn="ctr">
              <a:lnSpc>
                <a:spcPts val="3054"/>
              </a:lnSpc>
              <a:spcBef>
                <a:spcPct val="0"/>
              </a:spcBef>
            </a:pPr>
            <a:r>
              <a:rPr lang="en-US" sz="2349">
                <a:solidFill>
                  <a:srgbClr val="002217"/>
                </a:solidFill>
                <a:latin typeface="Canva Sans"/>
                <a:ea typeface="Canva Sans"/>
                <a:cs typeface="Canva Sans"/>
                <a:sym typeface="Canva Sans"/>
              </a:rPr>
              <a:t>Created by Sangmin, Ayo, Umair</a:t>
            </a:r>
          </a:p>
        </p:txBody>
      </p:sp>
      <p:sp>
        <p:nvSpPr>
          <p:cNvPr id="10" name="Freeform 10"/>
          <p:cNvSpPr/>
          <p:nvPr/>
        </p:nvSpPr>
        <p:spPr>
          <a:xfrm>
            <a:off x="15209049" y="1028700"/>
            <a:ext cx="2050251" cy="2207963"/>
          </a:xfrm>
          <a:custGeom>
            <a:avLst/>
            <a:gdLst/>
            <a:ahLst/>
            <a:cxnLst/>
            <a:rect l="l" t="t" r="r" b="b"/>
            <a:pathLst>
              <a:path w="2050251" h="2207963">
                <a:moveTo>
                  <a:pt x="0" y="0"/>
                </a:moveTo>
                <a:lnTo>
                  <a:pt x="2050251" y="0"/>
                </a:lnTo>
                <a:lnTo>
                  <a:pt x="2050251" y="2207963"/>
                </a:lnTo>
                <a:lnTo>
                  <a:pt x="0" y="2207963"/>
                </a:lnTo>
                <a:lnTo>
                  <a:pt x="0" y="0"/>
                </a:lnTo>
                <a:close/>
              </a:path>
            </a:pathLst>
          </a:custGeom>
          <a:blipFill>
            <a:blip r:embed="rId3"/>
            <a:stretch>
              <a:fillRect l="-104548" t="-64936" r="-105941" b="-123375"/>
            </a:stretch>
          </a:blipFill>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063551" y="6387987"/>
            <a:ext cx="2160899" cy="2327122"/>
          </a:xfrm>
          <a:custGeom>
            <a:avLst/>
            <a:gdLst/>
            <a:ahLst/>
            <a:cxnLst/>
            <a:rect l="l" t="t" r="r" b="b"/>
            <a:pathLst>
              <a:path w="2160899" h="2327122">
                <a:moveTo>
                  <a:pt x="0" y="0"/>
                </a:moveTo>
                <a:lnTo>
                  <a:pt x="2160898" y="0"/>
                </a:lnTo>
                <a:lnTo>
                  <a:pt x="2160898" y="2327122"/>
                </a:lnTo>
                <a:lnTo>
                  <a:pt x="0" y="2327122"/>
                </a:lnTo>
                <a:lnTo>
                  <a:pt x="0" y="0"/>
                </a:lnTo>
                <a:close/>
              </a:path>
            </a:pathLst>
          </a:custGeom>
          <a:blipFill>
            <a:blip r:embed="rId3"/>
            <a:stretch>
              <a:fillRect l="-104548" t="-64936" r="-105941" b="-123375"/>
            </a:stretch>
          </a:blipFill>
        </p:spPr>
      </p:sp>
      <p:grpSp>
        <p:nvGrpSpPr>
          <p:cNvPr id="3" name="Group 3"/>
          <p:cNvGrpSpPr/>
          <p:nvPr/>
        </p:nvGrpSpPr>
        <p:grpSpPr>
          <a:xfrm>
            <a:off x="2551286" y="2144127"/>
            <a:ext cx="13185428" cy="4787052"/>
            <a:chOff x="0" y="0"/>
            <a:chExt cx="17580570" cy="6382736"/>
          </a:xfrm>
        </p:grpSpPr>
        <p:sp>
          <p:nvSpPr>
            <p:cNvPr id="4" name="TextBox 4"/>
            <p:cNvSpPr txBox="1"/>
            <p:nvPr/>
          </p:nvSpPr>
          <p:spPr>
            <a:xfrm>
              <a:off x="0" y="400050"/>
              <a:ext cx="17580570" cy="5982686"/>
            </a:xfrm>
            <a:prstGeom prst="rect">
              <a:avLst/>
            </a:prstGeom>
          </p:spPr>
          <p:txBody>
            <a:bodyPr lIns="0" tIns="0" rIns="0" bIns="0" rtlCol="0" anchor="t">
              <a:spAutoFit/>
            </a:bodyPr>
            <a:lstStyle/>
            <a:p>
              <a:pPr algn="ctr">
                <a:lnSpc>
                  <a:spcPts val="17707"/>
                </a:lnSpc>
              </a:pPr>
              <a:r>
                <a:rPr lang="en-US" sz="18255">
                  <a:solidFill>
                    <a:srgbClr val="000000"/>
                  </a:solidFill>
                  <a:latin typeface="Distillery Strong"/>
                  <a:ea typeface="Distillery Strong"/>
                  <a:cs typeface="Distillery Strong"/>
                  <a:sym typeface="Distillery Strong"/>
                </a:rPr>
                <a:t>THANK YOU</a:t>
              </a:r>
            </a:p>
          </p:txBody>
        </p:sp>
        <p:sp>
          <p:nvSpPr>
            <p:cNvPr id="5" name="TextBox 5"/>
            <p:cNvSpPr txBox="1"/>
            <p:nvPr/>
          </p:nvSpPr>
          <p:spPr>
            <a:xfrm>
              <a:off x="5090449" y="3834941"/>
              <a:ext cx="7399672" cy="2187298"/>
            </a:xfrm>
            <a:prstGeom prst="rect">
              <a:avLst/>
            </a:prstGeom>
          </p:spPr>
          <p:txBody>
            <a:bodyPr lIns="0" tIns="0" rIns="0" bIns="0" rtlCol="0" anchor="t">
              <a:spAutoFit/>
            </a:bodyPr>
            <a:lstStyle/>
            <a:p>
              <a:pPr algn="ctr">
                <a:lnSpc>
                  <a:spcPts val="9035"/>
                </a:lnSpc>
              </a:pPr>
              <a:r>
                <a:rPr lang="en-US" sz="15059">
                  <a:solidFill>
                    <a:srgbClr val="000000"/>
                  </a:solidFill>
                  <a:latin typeface="Moontime"/>
                  <a:ea typeface="Moontime"/>
                  <a:cs typeface="Moontime"/>
                  <a:sym typeface="Moontime"/>
                </a:rPr>
                <a:t>twos</a:t>
              </a:r>
            </a:p>
          </p:txBody>
        </p:sp>
      </p:grpSp>
      <p:sp>
        <p:nvSpPr>
          <p:cNvPr id="6" name="TextBox 6"/>
          <p:cNvSpPr txBox="1"/>
          <p:nvPr/>
        </p:nvSpPr>
        <p:spPr>
          <a:xfrm>
            <a:off x="1101679" y="9615962"/>
            <a:ext cx="4877361" cy="370206"/>
          </a:xfrm>
          <a:prstGeom prst="rect">
            <a:avLst/>
          </a:prstGeom>
        </p:spPr>
        <p:txBody>
          <a:bodyPr lIns="0" tIns="0" rIns="0" bIns="0" rtlCol="0" anchor="t">
            <a:spAutoFit/>
          </a:bodyPr>
          <a:lstStyle/>
          <a:p>
            <a:pPr algn="l">
              <a:lnSpc>
                <a:spcPts val="3054"/>
              </a:lnSpc>
              <a:spcBef>
                <a:spcPct val="0"/>
              </a:spcBef>
            </a:pPr>
            <a:r>
              <a:rPr lang="en-US" sz="2349">
                <a:solidFill>
                  <a:srgbClr val="002217"/>
                </a:solidFill>
                <a:latin typeface="Canva Sans"/>
                <a:ea typeface="Canva Sans"/>
                <a:cs typeface="Canva Sans"/>
                <a:sym typeface="Canva Sans"/>
              </a:rPr>
              <a:t>Created by Umair, Sangmin, Ayo</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1326</Words>
  <Application>Microsoft Macintosh PowerPoint</Application>
  <PresentationFormat>Custom</PresentationFormat>
  <Paragraphs>173</Paragraphs>
  <Slides>12</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Calibri</vt:lpstr>
      <vt:lpstr>Agrandir</vt:lpstr>
      <vt:lpstr>Montserrat Bold</vt:lpstr>
      <vt:lpstr>Moontime</vt:lpstr>
      <vt:lpstr>Arial</vt:lpstr>
      <vt:lpstr>Canva Sans Bold</vt:lpstr>
      <vt:lpstr>Distillery Strong</vt:lpstr>
      <vt:lpstr>Canva Sans</vt:lpstr>
      <vt:lpstr>Montserrat</vt:lpstr>
      <vt:lpstr>DM Sans Bold</vt:lpstr>
      <vt:lpstr>Canva Sans Medium</vt:lpstr>
      <vt:lpstr>Canva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Checkpoint_4</dc:title>
  <cp:lastModifiedBy>talkthetaste@outlook.com</cp:lastModifiedBy>
  <cp:revision>2</cp:revision>
  <dcterms:created xsi:type="dcterms:W3CDTF">2006-08-16T00:00:00Z</dcterms:created>
  <dcterms:modified xsi:type="dcterms:W3CDTF">2025-11-18T09:32:37Z</dcterms:modified>
  <dc:identifier>DAG4p-zGzLI</dc:identifier>
</cp:coreProperties>
</file>