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68" r:id="rId2"/>
    <p:sldId id="256" r:id="rId3"/>
    <p:sldId id="257" r:id="rId4"/>
    <p:sldId id="258" r:id="rId5"/>
    <p:sldId id="260" r:id="rId6"/>
    <p:sldId id="261" r:id="rId7"/>
    <p:sldId id="262" r:id="rId8"/>
    <p:sldId id="263" r:id="rId9"/>
    <p:sldId id="264" r:id="rId10"/>
    <p:sldId id="265" r:id="rId11"/>
    <p:sldId id="267" r:id="rId12"/>
  </p:sldIdLst>
  <p:sldSz cx="18288000" cy="10287000"/>
  <p:notesSz cx="6858000" cy="9144000"/>
  <p:embeddedFontLst>
    <p:embeddedFont>
      <p:font typeface="Agrandir" pitchFamily="2" charset="77"/>
      <p:regular r:id="rId14"/>
    </p:embeddedFont>
    <p:embeddedFont>
      <p:font typeface="Canva Sans" panose="020B0503030501040103" pitchFamily="34" charset="0"/>
      <p:regular r:id="rId15"/>
    </p:embeddedFont>
    <p:embeddedFont>
      <p:font typeface="Canva Sans Bold" panose="020B0803030501040103" pitchFamily="34" charset="0"/>
      <p:regular r:id="rId16"/>
      <p:bold r:id="rId17"/>
    </p:embeddedFont>
    <p:embeddedFont>
      <p:font typeface="Canva Sans Italics" panose="020B0503030501040103" pitchFamily="34" charset="0"/>
      <p:regular r:id="rId18"/>
      <p:italic r:id="rId19"/>
    </p:embeddedFont>
    <p:embeddedFont>
      <p:font typeface="Canva Sans Medium" panose="020B0603030501040103" pitchFamily="34" charset="0"/>
      <p:regular r:id="rId20"/>
    </p:embeddedFont>
    <p:embeddedFont>
      <p:font typeface="Distillery Strong" pitchFamily="2" charset="77"/>
      <p:regular r:id="rId21"/>
    </p:embeddedFont>
    <p:embeddedFont>
      <p:font typeface="DM Sans Bold" pitchFamily="2" charset="77"/>
      <p:regular r:id="rId22"/>
      <p:bold r:id="rId23"/>
    </p:embeddedFont>
    <p:embeddedFont>
      <p:font typeface="Montserrat" pitchFamily="2" charset="77"/>
      <p:regular r:id="rId24"/>
      <p:bold r:id="rId25"/>
      <p:italic r:id="rId26"/>
      <p:boldItalic r:id="rId27"/>
    </p:embeddedFont>
    <p:embeddedFont>
      <p:font typeface="Montserrat Bold" pitchFamily="2" charset="77"/>
      <p:regular r:id="rId28"/>
      <p:bold r:id="rId29"/>
    </p:embeddedFont>
    <p:embeddedFont>
      <p:font typeface="Moontime" pitchFamily="2"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51" autoAdjust="0"/>
    <p:restoredTop sz="94626" autoAdjust="0"/>
  </p:normalViewPr>
  <p:slideViewPr>
    <p:cSldViewPr>
      <p:cViewPr varScale="1">
        <p:scale>
          <a:sx n="80" d="100"/>
          <a:sy n="80" d="100"/>
        </p:scale>
        <p:origin x="944"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29.09.2025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a:t>
            </a:r>
          </a:p>
          <a:p>
            <a:endParaRPr lang="en-US" dirty="0"/>
          </a:p>
          <a:p>
            <a:r>
              <a:rPr lang="en-US" dirty="0"/>
              <a:t>We are Team TWOS</a:t>
            </a:r>
          </a:p>
          <a:p>
            <a:r>
              <a:rPr lang="en-US" dirty="0"/>
              <a:t>Umair, </a:t>
            </a:r>
            <a:r>
              <a:rPr lang="en-US" dirty="0" err="1"/>
              <a:t>Sangmin</a:t>
            </a:r>
            <a:r>
              <a:rPr lang="en-US" dirty="0"/>
              <a:t>, and Ayo.</a:t>
            </a:r>
          </a:p>
          <a:p>
            <a:endParaRPr lang="en-US" dirty="0"/>
          </a:p>
          <a:p>
            <a:r>
              <a:rPr lang="en-US" dirty="0"/>
              <a:t>Our project is AI-based Travel Companion</a:t>
            </a:r>
          </a:p>
          <a:p>
            <a:r>
              <a:rPr lang="en-US" dirty="0"/>
              <a:t>Travel Without Stress (TWOS).</a:t>
            </a:r>
          </a:p>
          <a:p>
            <a:endParaRPr lang="en-US" dirty="0"/>
          </a:p>
          <a:p>
            <a:r>
              <a:rPr lang="en-US" dirty="0"/>
              <a:t>It’s an intelligent platform that plans your entire trip</a:t>
            </a:r>
          </a:p>
          <a:p>
            <a:endParaRPr lang="en-US" dirty="0"/>
          </a:p>
          <a:p>
            <a:r>
              <a:rPr lang="en-US" dirty="0"/>
              <a:t>Flights, hotels, rentals, and attractions</a:t>
            </a:r>
          </a:p>
          <a:p>
            <a:endParaRPr lang="en-US" dirty="0"/>
          </a:p>
          <a:p>
            <a:r>
              <a:rPr lang="en-US" dirty="0"/>
              <a:t>All in one chat.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 are our references for the project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(Sangmin)</a:t>
            </a:r>
          </a:p>
          <a:p>
            <a:r>
              <a:rPr lang="en-US"/>
              <a:t>Thank you Umair,</a:t>
            </a:r>
          </a:p>
          <a:p>
            <a:endParaRPr lang="en-US"/>
          </a:p>
          <a:p>
            <a:r>
              <a:rPr lang="en-US"/>
              <a:t>Here is our 3rd progress. </a:t>
            </a:r>
          </a:p>
          <a:p>
            <a:r>
              <a:rPr lang="en-US"/>
              <a:t>We built the NLP service using FastAPI.</a:t>
            </a:r>
          </a:p>
          <a:p>
            <a:endParaRPr lang="en-US"/>
          </a:p>
          <a:p>
            <a:r>
              <a:rPr lang="en-US"/>
              <a:t>This service takes the user's natural language information and extracts entities for planning.</a:t>
            </a:r>
          </a:p>
          <a:p>
            <a:endParaRPr lang="en-US"/>
          </a:p>
          <a:p>
            <a:r>
              <a:rPr lang="en-US"/>
              <a:t>We made these(from origin to hotel amenities) as essential entities, and the car as an option entity.</a:t>
            </a:r>
          </a:p>
          <a:p>
            <a:endParaRPr lang="en-US"/>
          </a:p>
          <a:p>
            <a:r>
              <a:rPr lang="en-US"/>
              <a:t>Also, we started to set up the deployment in the LinuxOne community cloud. </a:t>
            </a:r>
          </a:p>
          <a:p>
            <a:endParaRPr lang="en-US"/>
          </a:p>
          <a:p>
            <a:r>
              <a:rPr lang="en-US"/>
              <a:t>The deployment manual has been created, and we are updating it if there is any progress.</a:t>
            </a:r>
          </a:p>
          <a:p>
            <a:endParaRPr lang="en-US"/>
          </a:p>
          <a:p>
            <a:r>
              <a:rPr lang="en-US"/>
              <a:t>One problem we have is that we finished firewall configuration and checked that the ports are active, but we were not able to ping the server from the local browser; it could be LinuxOne's issue, so we sent an email and are waiting for LinuxOne.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(Sangmin)</a:t>
            </a:r>
          </a:p>
          <a:p>
            <a:r>
              <a:rPr lang="en-US"/>
              <a:t>Ok, here is our timeline</a:t>
            </a:r>
          </a:p>
          <a:p>
            <a:endParaRPr lang="en-US"/>
          </a:p>
          <a:p>
            <a:r>
              <a:rPr lang="en-US"/>
              <a:t>We are a little ahead of our plans. We finished the setups and are working on LLM and also deployment at the same time.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t>
            </a:r>
            <a:r>
              <a:rPr lang="en-US" dirty="0" err="1"/>
              <a:t>Sangmin</a:t>
            </a:r>
            <a:r>
              <a:rPr lang="en-US" dirty="0"/>
              <a:t>)</a:t>
            </a:r>
          </a:p>
          <a:p>
            <a:endParaRPr lang="en-US" dirty="0"/>
          </a:p>
          <a:p>
            <a:r>
              <a:rPr lang="en-US" dirty="0"/>
              <a:t>Ok. Thank you, Ayo</a:t>
            </a:r>
          </a:p>
          <a:p>
            <a:endParaRPr lang="en-US" dirty="0"/>
          </a:p>
          <a:p>
            <a:r>
              <a:rPr lang="en-US" dirty="0"/>
              <a:t>Here are our goals for the next two weeks.</a:t>
            </a:r>
          </a:p>
          <a:p>
            <a:endParaRPr lang="en-US" dirty="0"/>
          </a:p>
          <a:p>
            <a:r>
              <a:rPr lang="en-US" dirty="0"/>
              <a:t>First, we have wonderful frontend and backend assets, and it's time to make the chatbot work. </a:t>
            </a:r>
          </a:p>
          <a:p>
            <a:endParaRPr lang="en-US" dirty="0"/>
          </a:p>
          <a:p>
            <a:r>
              <a:rPr lang="en-US" dirty="0"/>
              <a:t>We expect our AI service to extract and track the essential information from users. </a:t>
            </a:r>
          </a:p>
          <a:p>
            <a:endParaRPr lang="en-US" dirty="0"/>
          </a:p>
          <a:p>
            <a:endParaRPr lang="en-US" dirty="0"/>
          </a:p>
          <a:p>
            <a:r>
              <a:rPr lang="en-US" dirty="0"/>
              <a:t>Second, based on the extracted information, we reconstruct it and provide it to the required APIs, and expect responses from them.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Thank you for your attention.</a:t>
            </a:r>
          </a:p>
          <a:p>
            <a:endParaRPr lang="en-US"/>
          </a:p>
          <a:p>
            <a:r>
              <a:rPr lang="en-US"/>
              <a:t>We’re excited to present TWOS, a smarter way to travel.</a:t>
            </a:r>
          </a:p>
          <a:p>
            <a:endParaRPr lang="en-US"/>
          </a:p>
          <a:p>
            <a:r>
              <a:rPr lang="en-US"/>
              <a:t>We’ll now open the floor for any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6214B1-0B20-6D72-39B0-741DCC35806D}"/>
              </a:ext>
            </a:extLst>
          </p:cNvPr>
          <p:cNvPicPr>
            <a:picLocks noChangeAspect="1"/>
          </p:cNvPicPr>
          <p:nvPr/>
        </p:nvPicPr>
        <p:blipFill>
          <a:blip r:embed="rId2"/>
          <a:stretch>
            <a:fillRect/>
          </a:stretch>
        </p:blipFill>
        <p:spPr>
          <a:xfrm>
            <a:off x="-20444" y="-1113263"/>
            <a:ext cx="18299151" cy="13724363"/>
          </a:xfrm>
          <a:prstGeom prst="rect">
            <a:avLst/>
          </a:prstGeom>
        </p:spPr>
      </p:pic>
      <p:pic>
        <p:nvPicPr>
          <p:cNvPr id="1026" name="Picture 2" descr="Flying Airplane by Austin Remer on Dribbble">
            <a:extLst>
              <a:ext uri="{FF2B5EF4-FFF2-40B4-BE49-F238E27FC236}">
                <a16:creationId xmlns:a16="http://schemas.microsoft.com/office/drawing/2014/main" id="{4C6F5E15-13D1-950F-14DC-8CFD18B116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04900"/>
            <a:ext cx="18288000" cy="1371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06024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9894301" y="0"/>
            <a:ext cx="2102201" cy="10287000"/>
            <a:chOff x="0" y="0"/>
            <a:chExt cx="217946" cy="1066506"/>
          </a:xfrm>
        </p:grpSpPr>
        <p:sp>
          <p:nvSpPr>
            <p:cNvPr id="3" name="Freeform 3"/>
            <p:cNvSpPr/>
            <p:nvPr/>
          </p:nvSpPr>
          <p:spPr>
            <a:xfrm>
              <a:off x="0" y="0"/>
              <a:ext cx="217946" cy="1066506"/>
            </a:xfrm>
            <a:custGeom>
              <a:avLst/>
              <a:gdLst/>
              <a:ahLst/>
              <a:cxnLst/>
              <a:rect l="l" t="t" r="r" b="b"/>
              <a:pathLst>
                <a:path w="217946" h="1066506">
                  <a:moveTo>
                    <a:pt x="0" y="0"/>
                  </a:moveTo>
                  <a:lnTo>
                    <a:pt x="217946" y="0"/>
                  </a:lnTo>
                  <a:lnTo>
                    <a:pt x="217946" y="1066506"/>
                  </a:lnTo>
                  <a:lnTo>
                    <a:pt x="0" y="1066506"/>
                  </a:lnTo>
                  <a:close/>
                </a:path>
              </a:pathLst>
            </a:custGeom>
            <a:blipFill>
              <a:blip r:embed="rId3"/>
              <a:stretch>
                <a:fillRect l="-317237" r="-317237"/>
              </a:stretch>
            </a:blipFill>
          </p:spPr>
        </p:sp>
      </p:grpSp>
      <p:grpSp>
        <p:nvGrpSpPr>
          <p:cNvPr id="4" name="Group 4"/>
          <p:cNvGrpSpPr/>
          <p:nvPr/>
        </p:nvGrpSpPr>
        <p:grpSpPr>
          <a:xfrm>
            <a:off x="11996501" y="0"/>
            <a:ext cx="2102201" cy="10287000"/>
            <a:chOff x="0" y="0"/>
            <a:chExt cx="217946" cy="1066506"/>
          </a:xfrm>
        </p:grpSpPr>
        <p:sp>
          <p:nvSpPr>
            <p:cNvPr id="5" name="Freeform 5"/>
            <p:cNvSpPr/>
            <p:nvPr/>
          </p:nvSpPr>
          <p:spPr>
            <a:xfrm>
              <a:off x="0" y="0"/>
              <a:ext cx="217946" cy="1066506"/>
            </a:xfrm>
            <a:custGeom>
              <a:avLst/>
              <a:gdLst/>
              <a:ahLst/>
              <a:cxnLst/>
              <a:rect l="l" t="t" r="r" b="b"/>
              <a:pathLst>
                <a:path w="217946" h="1066506">
                  <a:moveTo>
                    <a:pt x="0" y="0"/>
                  </a:moveTo>
                  <a:lnTo>
                    <a:pt x="217946" y="0"/>
                  </a:lnTo>
                  <a:lnTo>
                    <a:pt x="217946" y="1066506"/>
                  </a:lnTo>
                  <a:lnTo>
                    <a:pt x="0" y="1066506"/>
                  </a:lnTo>
                  <a:close/>
                </a:path>
              </a:pathLst>
            </a:custGeom>
            <a:blipFill>
              <a:blip r:embed="rId4"/>
              <a:stretch>
                <a:fillRect l="-316674" r="-316674"/>
              </a:stretch>
            </a:blipFill>
          </p:spPr>
        </p:sp>
      </p:grpSp>
      <p:grpSp>
        <p:nvGrpSpPr>
          <p:cNvPr id="6" name="Group 6"/>
          <p:cNvGrpSpPr/>
          <p:nvPr/>
        </p:nvGrpSpPr>
        <p:grpSpPr>
          <a:xfrm>
            <a:off x="14098702" y="0"/>
            <a:ext cx="2102201" cy="10287000"/>
            <a:chOff x="0" y="0"/>
            <a:chExt cx="217946" cy="1066506"/>
          </a:xfrm>
        </p:grpSpPr>
        <p:sp>
          <p:nvSpPr>
            <p:cNvPr id="7" name="Freeform 7"/>
            <p:cNvSpPr/>
            <p:nvPr/>
          </p:nvSpPr>
          <p:spPr>
            <a:xfrm>
              <a:off x="0" y="0"/>
              <a:ext cx="217946" cy="1066506"/>
            </a:xfrm>
            <a:custGeom>
              <a:avLst/>
              <a:gdLst/>
              <a:ahLst/>
              <a:cxnLst/>
              <a:rect l="l" t="t" r="r" b="b"/>
              <a:pathLst>
                <a:path w="217946" h="1066506">
                  <a:moveTo>
                    <a:pt x="0" y="0"/>
                  </a:moveTo>
                  <a:lnTo>
                    <a:pt x="217946" y="0"/>
                  </a:lnTo>
                  <a:lnTo>
                    <a:pt x="217946" y="1066506"/>
                  </a:lnTo>
                  <a:lnTo>
                    <a:pt x="0" y="1066506"/>
                  </a:lnTo>
                  <a:close/>
                </a:path>
              </a:pathLst>
            </a:custGeom>
            <a:blipFill>
              <a:blip r:embed="rId5"/>
              <a:stretch>
                <a:fillRect l="-317237" r="-317237"/>
              </a:stretch>
            </a:blipFill>
          </p:spPr>
        </p:sp>
      </p:grpSp>
      <p:grpSp>
        <p:nvGrpSpPr>
          <p:cNvPr id="8" name="Group 8"/>
          <p:cNvGrpSpPr/>
          <p:nvPr/>
        </p:nvGrpSpPr>
        <p:grpSpPr>
          <a:xfrm>
            <a:off x="16208200" y="0"/>
            <a:ext cx="2102201" cy="10287000"/>
            <a:chOff x="0" y="0"/>
            <a:chExt cx="217946" cy="1066506"/>
          </a:xfrm>
        </p:grpSpPr>
        <p:sp>
          <p:nvSpPr>
            <p:cNvPr id="9" name="Freeform 9"/>
            <p:cNvSpPr/>
            <p:nvPr/>
          </p:nvSpPr>
          <p:spPr>
            <a:xfrm>
              <a:off x="0" y="0"/>
              <a:ext cx="217946" cy="1066506"/>
            </a:xfrm>
            <a:custGeom>
              <a:avLst/>
              <a:gdLst/>
              <a:ahLst/>
              <a:cxnLst/>
              <a:rect l="l" t="t" r="r" b="b"/>
              <a:pathLst>
                <a:path w="217946" h="1066506">
                  <a:moveTo>
                    <a:pt x="0" y="0"/>
                  </a:moveTo>
                  <a:lnTo>
                    <a:pt x="217946" y="0"/>
                  </a:lnTo>
                  <a:lnTo>
                    <a:pt x="217946" y="1066506"/>
                  </a:lnTo>
                  <a:lnTo>
                    <a:pt x="0" y="1066506"/>
                  </a:lnTo>
                  <a:close/>
                </a:path>
              </a:pathLst>
            </a:custGeom>
            <a:blipFill>
              <a:blip r:embed="rId6"/>
              <a:stretch>
                <a:fillRect l="-317237" r="-317237"/>
              </a:stretch>
            </a:blipFill>
          </p:spPr>
        </p:sp>
      </p:grpSp>
      <p:sp>
        <p:nvSpPr>
          <p:cNvPr id="10" name="Freeform 10"/>
          <p:cNvSpPr/>
          <p:nvPr/>
        </p:nvSpPr>
        <p:spPr>
          <a:xfrm>
            <a:off x="6314025" y="1576669"/>
            <a:ext cx="1475251" cy="1588732"/>
          </a:xfrm>
          <a:custGeom>
            <a:avLst/>
            <a:gdLst/>
            <a:ahLst/>
            <a:cxnLst/>
            <a:rect l="l" t="t" r="r" b="b"/>
            <a:pathLst>
              <a:path w="1475251" h="1588732">
                <a:moveTo>
                  <a:pt x="0" y="0"/>
                </a:moveTo>
                <a:lnTo>
                  <a:pt x="1475251" y="0"/>
                </a:lnTo>
                <a:lnTo>
                  <a:pt x="1475251" y="1588732"/>
                </a:lnTo>
                <a:lnTo>
                  <a:pt x="0" y="1588732"/>
                </a:lnTo>
                <a:lnTo>
                  <a:pt x="0" y="0"/>
                </a:lnTo>
                <a:close/>
              </a:path>
            </a:pathLst>
          </a:custGeom>
          <a:blipFill>
            <a:blip r:embed="rId7"/>
            <a:stretch>
              <a:fillRect l="-104548" t="-64936" r="-105941" b="-123375"/>
            </a:stretch>
          </a:blipFill>
        </p:spPr>
      </p:sp>
      <p:sp>
        <p:nvSpPr>
          <p:cNvPr id="11" name="TextBox 11"/>
          <p:cNvSpPr txBox="1"/>
          <p:nvPr/>
        </p:nvSpPr>
        <p:spPr>
          <a:xfrm>
            <a:off x="1028700" y="6309107"/>
            <a:ext cx="6760576" cy="1666875"/>
          </a:xfrm>
          <a:prstGeom prst="rect">
            <a:avLst/>
          </a:prstGeom>
        </p:spPr>
        <p:txBody>
          <a:bodyPr lIns="0" tIns="0" rIns="0" bIns="0" rtlCol="0" anchor="t">
            <a:spAutoFit/>
          </a:bodyPr>
          <a:lstStyle/>
          <a:p>
            <a:pPr marL="0" lvl="0" indent="0" algn="l">
              <a:lnSpc>
                <a:spcPts val="4172"/>
              </a:lnSpc>
            </a:pPr>
            <a:r>
              <a:rPr lang="en-US" sz="3477" dirty="0">
                <a:solidFill>
                  <a:srgbClr val="314528"/>
                </a:solidFill>
                <a:latin typeface="Agrandir"/>
                <a:ea typeface="Agrandir"/>
                <a:cs typeface="Agrandir"/>
                <a:sym typeface="Agrandir"/>
              </a:rPr>
              <a:t>Capstone Project: Checkpoint 2 </a:t>
            </a:r>
          </a:p>
          <a:p>
            <a:pPr marL="0" lvl="0" indent="0" algn="l">
              <a:lnSpc>
                <a:spcPts val="4172"/>
              </a:lnSpc>
            </a:pPr>
            <a:endParaRPr lang="en-US" sz="3477" dirty="0">
              <a:solidFill>
                <a:srgbClr val="314528"/>
              </a:solidFill>
              <a:latin typeface="Agrandir"/>
              <a:ea typeface="Agrandir"/>
              <a:cs typeface="Agrandir"/>
              <a:sym typeface="Agrandir"/>
            </a:endParaRPr>
          </a:p>
          <a:p>
            <a:pPr marL="0" lvl="0" indent="0" algn="l">
              <a:lnSpc>
                <a:spcPts val="4172"/>
              </a:lnSpc>
            </a:pPr>
            <a:r>
              <a:rPr lang="en-US" sz="3477" dirty="0">
                <a:solidFill>
                  <a:srgbClr val="314528"/>
                </a:solidFill>
                <a:latin typeface="Agrandir"/>
                <a:ea typeface="Agrandir"/>
                <a:cs typeface="Agrandir"/>
                <a:sym typeface="Agrandir"/>
              </a:rPr>
              <a:t>Umair, </a:t>
            </a:r>
            <a:r>
              <a:rPr lang="en-US" sz="3477" dirty="0" err="1">
                <a:solidFill>
                  <a:srgbClr val="314528"/>
                </a:solidFill>
                <a:latin typeface="Agrandir"/>
                <a:ea typeface="Agrandir"/>
                <a:cs typeface="Agrandir"/>
                <a:sym typeface="Agrandir"/>
              </a:rPr>
              <a:t>Sangmin</a:t>
            </a:r>
            <a:r>
              <a:rPr lang="en-US" sz="3477" dirty="0">
                <a:solidFill>
                  <a:srgbClr val="314528"/>
                </a:solidFill>
                <a:latin typeface="Agrandir"/>
                <a:ea typeface="Agrandir"/>
                <a:cs typeface="Agrandir"/>
                <a:sym typeface="Agrandir"/>
              </a:rPr>
              <a:t>, Ayo</a:t>
            </a:r>
          </a:p>
        </p:txBody>
      </p:sp>
      <p:grpSp>
        <p:nvGrpSpPr>
          <p:cNvPr id="12" name="Group 12"/>
          <p:cNvGrpSpPr/>
          <p:nvPr/>
        </p:nvGrpSpPr>
        <p:grpSpPr>
          <a:xfrm>
            <a:off x="1028700" y="1490944"/>
            <a:ext cx="8421199" cy="3443459"/>
            <a:chOff x="0" y="-114300"/>
            <a:chExt cx="11228265" cy="4591278"/>
          </a:xfrm>
        </p:grpSpPr>
        <p:sp>
          <p:nvSpPr>
            <p:cNvPr id="13" name="TextBox 13"/>
            <p:cNvSpPr txBox="1"/>
            <p:nvPr/>
          </p:nvSpPr>
          <p:spPr>
            <a:xfrm>
              <a:off x="0" y="3597250"/>
              <a:ext cx="11228265" cy="879728"/>
            </a:xfrm>
            <a:prstGeom prst="rect">
              <a:avLst/>
            </a:prstGeom>
          </p:spPr>
          <p:txBody>
            <a:bodyPr lIns="0" tIns="0" rIns="0" bIns="0" rtlCol="0" anchor="t">
              <a:spAutoFit/>
            </a:bodyPr>
            <a:lstStyle/>
            <a:p>
              <a:pPr marL="0" lvl="0" indent="0" algn="l">
                <a:lnSpc>
                  <a:spcPts val="4900"/>
                </a:lnSpc>
              </a:pPr>
              <a:r>
                <a:rPr lang="en-US" sz="4900" spc="-49" dirty="0">
                  <a:solidFill>
                    <a:srgbClr val="314528"/>
                  </a:solidFill>
                  <a:latin typeface="Agrandir"/>
                  <a:ea typeface="Agrandir"/>
                  <a:cs typeface="Agrandir"/>
                  <a:sym typeface="Agrandir"/>
                </a:rPr>
                <a:t>Checkpoint 2 (Week 6-7)</a:t>
              </a:r>
            </a:p>
          </p:txBody>
        </p:sp>
        <p:sp>
          <p:nvSpPr>
            <p:cNvPr id="14" name="TextBox 14"/>
            <p:cNvSpPr txBox="1"/>
            <p:nvPr/>
          </p:nvSpPr>
          <p:spPr>
            <a:xfrm>
              <a:off x="0" y="-114300"/>
              <a:ext cx="11228265" cy="2722855"/>
            </a:xfrm>
            <a:prstGeom prst="rect">
              <a:avLst/>
            </a:prstGeom>
          </p:spPr>
          <p:txBody>
            <a:bodyPr lIns="0" tIns="0" rIns="0" bIns="0" rtlCol="0" anchor="t">
              <a:spAutoFit/>
            </a:bodyPr>
            <a:lstStyle/>
            <a:p>
              <a:pPr marL="0" lvl="0" indent="0" algn="l">
                <a:lnSpc>
                  <a:spcPts val="12899"/>
                </a:lnSpc>
              </a:pPr>
              <a:r>
                <a:rPr lang="en-US" sz="12899" spc="-128" dirty="0">
                  <a:solidFill>
                    <a:srgbClr val="34EBFD"/>
                  </a:solidFill>
                  <a:latin typeface="Agrandir"/>
                  <a:ea typeface="Agrandir"/>
                  <a:cs typeface="Agrandir"/>
                  <a:sym typeface="Agrandir"/>
                </a:rPr>
                <a:t>TWOS</a:t>
              </a:r>
            </a:p>
          </p:txBody>
        </p:sp>
        <p:sp>
          <p:nvSpPr>
            <p:cNvPr id="15" name="TextBox 15"/>
            <p:cNvSpPr txBox="1"/>
            <p:nvPr/>
          </p:nvSpPr>
          <p:spPr>
            <a:xfrm>
              <a:off x="0" y="2560930"/>
              <a:ext cx="11228265" cy="1100032"/>
            </a:xfrm>
            <a:prstGeom prst="rect">
              <a:avLst/>
            </a:prstGeom>
          </p:spPr>
          <p:txBody>
            <a:bodyPr lIns="0" tIns="0" rIns="0" bIns="0" rtlCol="0" anchor="t">
              <a:spAutoFit/>
            </a:bodyPr>
            <a:lstStyle/>
            <a:p>
              <a:pPr marL="0" lvl="0" indent="0" algn="l">
                <a:lnSpc>
                  <a:spcPts val="5200"/>
                </a:lnSpc>
              </a:pPr>
              <a:endParaRPr/>
            </a:p>
          </p:txBody>
        </p:sp>
      </p:grpSp>
      <p:pic>
        <p:nvPicPr>
          <p:cNvPr id="19" name="Picture 18">
            <a:extLst>
              <a:ext uri="{FF2B5EF4-FFF2-40B4-BE49-F238E27FC236}">
                <a16:creationId xmlns:a16="http://schemas.microsoft.com/office/drawing/2014/main" id="{35E68955-967B-4252-8049-3102551C9F0A}"/>
              </a:ext>
            </a:extLst>
          </p:cNvPr>
          <p:cNvPicPr>
            <a:picLocks noChangeAspect="1"/>
          </p:cNvPicPr>
          <p:nvPr/>
        </p:nvPicPr>
        <p:blipFill>
          <a:blip r:embed="rId8"/>
          <a:stretch>
            <a:fillRect/>
          </a:stretch>
        </p:blipFill>
        <p:spPr>
          <a:xfrm>
            <a:off x="0" y="-13767226"/>
            <a:ext cx="18299151" cy="1372436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100"/>
                                        <p:tgtEl>
                                          <p:spTgt spid="10"/>
                                        </p:tgtEl>
                                      </p:cBhvr>
                                    </p:animEffect>
                                  </p:childTnLst>
                                </p:cTn>
                              </p:par>
                              <p:par>
                                <p:cTn id="8" presetID="9"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100"/>
                                        <p:tgtEl>
                                          <p:spTgt spid="12"/>
                                        </p:tgtEl>
                                      </p:cBhvr>
                                    </p:animEffect>
                                  </p:childTnLst>
                                </p:cTn>
                              </p:par>
                            </p:childTnLst>
                          </p:cTn>
                        </p:par>
                        <p:par>
                          <p:cTn id="11" fill="hold">
                            <p:stCondLst>
                              <p:cond delay="100"/>
                            </p:stCondLst>
                            <p:childTnLst>
                              <p:par>
                                <p:cTn id="12" presetID="9" presetClass="entr" presetSubtype="0" fill="hold" grpId="0" nodeType="after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dissolve">
                                      <p:cBhvr>
                                        <p:cTn id="14" dur="100"/>
                                        <p:tgtEl>
                                          <p:spTgt spid="11"/>
                                        </p:tgtEl>
                                      </p:cBhvr>
                                    </p:animEffect>
                                  </p:childTnLst>
                                </p:cTn>
                              </p:par>
                            </p:childTnLst>
                          </p:cTn>
                        </p:par>
                        <p:par>
                          <p:cTn id="15" fill="hold">
                            <p:stCondLst>
                              <p:cond delay="200"/>
                            </p:stCondLst>
                            <p:childTnLst>
                              <p:par>
                                <p:cTn id="16" presetID="2" presetClass="entr" presetSubtype="4"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100" fill="hold"/>
                                        <p:tgtEl>
                                          <p:spTgt spid="2"/>
                                        </p:tgtEl>
                                        <p:attrNameLst>
                                          <p:attrName>ppt_x</p:attrName>
                                        </p:attrNameLst>
                                      </p:cBhvr>
                                      <p:tavLst>
                                        <p:tav tm="0">
                                          <p:val>
                                            <p:strVal val="#ppt_x"/>
                                          </p:val>
                                        </p:tav>
                                        <p:tav tm="100000">
                                          <p:val>
                                            <p:strVal val="#ppt_x"/>
                                          </p:val>
                                        </p:tav>
                                      </p:tavLst>
                                    </p:anim>
                                    <p:anim calcmode="lin" valueType="num">
                                      <p:cBhvr additive="base">
                                        <p:cTn id="19" dur="100" fill="hold"/>
                                        <p:tgtEl>
                                          <p:spTgt spid="2"/>
                                        </p:tgtEl>
                                        <p:attrNameLst>
                                          <p:attrName>ppt_y</p:attrName>
                                        </p:attrNameLst>
                                      </p:cBhvr>
                                      <p:tavLst>
                                        <p:tav tm="0">
                                          <p:val>
                                            <p:strVal val="1+#ppt_h/2"/>
                                          </p:val>
                                        </p:tav>
                                        <p:tav tm="100000">
                                          <p:val>
                                            <p:strVal val="#ppt_y"/>
                                          </p:val>
                                        </p:tav>
                                      </p:tavLst>
                                    </p:anim>
                                  </p:childTnLst>
                                </p:cTn>
                              </p:par>
                            </p:childTnLst>
                          </p:cTn>
                        </p:par>
                        <p:par>
                          <p:cTn id="20" fill="hold">
                            <p:stCondLst>
                              <p:cond delay="300"/>
                            </p:stCondLst>
                            <p:childTnLst>
                              <p:par>
                                <p:cTn id="21" presetID="2" presetClass="entr" presetSubtype="1"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100" fill="hold"/>
                                        <p:tgtEl>
                                          <p:spTgt spid="4"/>
                                        </p:tgtEl>
                                        <p:attrNameLst>
                                          <p:attrName>ppt_x</p:attrName>
                                        </p:attrNameLst>
                                      </p:cBhvr>
                                      <p:tavLst>
                                        <p:tav tm="0">
                                          <p:val>
                                            <p:strVal val="#ppt_x"/>
                                          </p:val>
                                        </p:tav>
                                        <p:tav tm="100000">
                                          <p:val>
                                            <p:strVal val="#ppt_x"/>
                                          </p:val>
                                        </p:tav>
                                      </p:tavLst>
                                    </p:anim>
                                    <p:anim calcmode="lin" valueType="num">
                                      <p:cBhvr additive="base">
                                        <p:cTn id="24" dur="100" fill="hold"/>
                                        <p:tgtEl>
                                          <p:spTgt spid="4"/>
                                        </p:tgtEl>
                                        <p:attrNameLst>
                                          <p:attrName>ppt_y</p:attrName>
                                        </p:attrNameLst>
                                      </p:cBhvr>
                                      <p:tavLst>
                                        <p:tav tm="0">
                                          <p:val>
                                            <p:strVal val="0-#ppt_h/2"/>
                                          </p:val>
                                        </p:tav>
                                        <p:tav tm="100000">
                                          <p:val>
                                            <p:strVal val="#ppt_y"/>
                                          </p:val>
                                        </p:tav>
                                      </p:tavLst>
                                    </p:anim>
                                  </p:childTnLst>
                                </p:cTn>
                              </p:par>
                            </p:childTnLst>
                          </p:cTn>
                        </p:par>
                        <p:par>
                          <p:cTn id="25" fill="hold">
                            <p:stCondLst>
                              <p:cond delay="400"/>
                            </p:stCondLst>
                            <p:childTnLst>
                              <p:par>
                                <p:cTn id="26" presetID="2" presetClass="entr" presetSubtype="4"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100" fill="hold"/>
                                        <p:tgtEl>
                                          <p:spTgt spid="6"/>
                                        </p:tgtEl>
                                        <p:attrNameLst>
                                          <p:attrName>ppt_x</p:attrName>
                                        </p:attrNameLst>
                                      </p:cBhvr>
                                      <p:tavLst>
                                        <p:tav tm="0">
                                          <p:val>
                                            <p:strVal val="#ppt_x"/>
                                          </p:val>
                                        </p:tav>
                                        <p:tav tm="100000">
                                          <p:val>
                                            <p:strVal val="#ppt_x"/>
                                          </p:val>
                                        </p:tav>
                                      </p:tavLst>
                                    </p:anim>
                                    <p:anim calcmode="lin" valueType="num">
                                      <p:cBhvr additive="base">
                                        <p:cTn id="29" dur="100" fill="hold"/>
                                        <p:tgtEl>
                                          <p:spTgt spid="6"/>
                                        </p:tgtEl>
                                        <p:attrNameLst>
                                          <p:attrName>ppt_y</p:attrName>
                                        </p:attrNameLst>
                                      </p:cBhvr>
                                      <p:tavLst>
                                        <p:tav tm="0">
                                          <p:val>
                                            <p:strVal val="1+#ppt_h/2"/>
                                          </p:val>
                                        </p:tav>
                                        <p:tav tm="100000">
                                          <p:val>
                                            <p:strVal val="#ppt_y"/>
                                          </p:val>
                                        </p:tav>
                                      </p:tavLst>
                                    </p:anim>
                                  </p:childTnLst>
                                </p:cTn>
                              </p:par>
                            </p:childTnLst>
                          </p:cTn>
                        </p:par>
                        <p:par>
                          <p:cTn id="30" fill="hold">
                            <p:stCondLst>
                              <p:cond delay="500"/>
                            </p:stCondLst>
                            <p:childTnLst>
                              <p:par>
                                <p:cTn id="31" presetID="2" presetClass="entr" presetSubtype="1" fill="hold" nodeType="after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100" fill="hold"/>
                                        <p:tgtEl>
                                          <p:spTgt spid="8"/>
                                        </p:tgtEl>
                                        <p:attrNameLst>
                                          <p:attrName>ppt_x</p:attrName>
                                        </p:attrNameLst>
                                      </p:cBhvr>
                                      <p:tavLst>
                                        <p:tav tm="0">
                                          <p:val>
                                            <p:strVal val="#ppt_x"/>
                                          </p:val>
                                        </p:tav>
                                        <p:tav tm="100000">
                                          <p:val>
                                            <p:strVal val="#ppt_x"/>
                                          </p:val>
                                        </p:tav>
                                      </p:tavLst>
                                    </p:anim>
                                    <p:anim calcmode="lin" valueType="num">
                                      <p:cBhvr additive="base">
                                        <p:cTn id="34" dur="100" fill="hold"/>
                                        <p:tgtEl>
                                          <p:spTgt spid="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sp>
        <p:nvSpPr>
          <p:cNvPr id="4" name="TextBox 4"/>
          <p:cNvSpPr txBox="1"/>
          <p:nvPr/>
        </p:nvSpPr>
        <p:spPr>
          <a:xfrm>
            <a:off x="1028700" y="1076325"/>
            <a:ext cx="16230600" cy="628650"/>
          </a:xfrm>
          <a:prstGeom prst="rect">
            <a:avLst/>
          </a:prstGeom>
        </p:spPr>
        <p:txBody>
          <a:bodyPr lIns="0" tIns="0" rIns="0" bIns="0" rtlCol="0" anchor="t">
            <a:spAutoFit/>
          </a:bodyPr>
          <a:lstStyle/>
          <a:p>
            <a:pPr marL="0" lvl="0" indent="0" algn="l">
              <a:lnSpc>
                <a:spcPts val="4949"/>
              </a:lnSpc>
              <a:spcBef>
                <a:spcPct val="0"/>
              </a:spcBef>
            </a:pPr>
            <a:r>
              <a:rPr lang="en-US" sz="4499" b="1" u="none" spc="-44">
                <a:solidFill>
                  <a:srgbClr val="002217"/>
                </a:solidFill>
                <a:latin typeface="Canva Sans Bold"/>
                <a:ea typeface="Canva Sans Bold"/>
                <a:cs typeface="Canva Sans Bold"/>
                <a:sym typeface="Canva Sans Bold"/>
              </a:rPr>
              <a:t>References</a:t>
            </a:r>
          </a:p>
        </p:txBody>
      </p:sp>
      <p:grpSp>
        <p:nvGrpSpPr>
          <p:cNvPr id="7" name="Group 6">
            <a:extLst>
              <a:ext uri="{FF2B5EF4-FFF2-40B4-BE49-F238E27FC236}">
                <a16:creationId xmlns:a16="http://schemas.microsoft.com/office/drawing/2014/main" id="{1A6062BC-C851-4DA8-C620-BF5237F5136F}"/>
              </a:ext>
            </a:extLst>
          </p:cNvPr>
          <p:cNvGrpSpPr/>
          <p:nvPr/>
        </p:nvGrpSpPr>
        <p:grpSpPr>
          <a:xfrm>
            <a:off x="1028700" y="1910541"/>
            <a:ext cx="16230600" cy="7600950"/>
            <a:chOff x="1028700" y="1910541"/>
            <a:chExt cx="16230600" cy="7600950"/>
          </a:xfrm>
        </p:grpSpPr>
        <p:grpSp>
          <p:nvGrpSpPr>
            <p:cNvPr id="2" name="Group 2"/>
            <p:cNvGrpSpPr/>
            <p:nvPr/>
          </p:nvGrpSpPr>
          <p:grpSpPr>
            <a:xfrm>
              <a:off x="1028700" y="1910541"/>
              <a:ext cx="16230600" cy="7347759"/>
              <a:chOff x="0" y="0"/>
              <a:chExt cx="5490351" cy="2485538"/>
            </a:xfrm>
          </p:grpSpPr>
          <p:sp>
            <p:nvSpPr>
              <p:cNvPr id="3" name="Freeform 3"/>
              <p:cNvSpPr/>
              <p:nvPr/>
            </p:nvSpPr>
            <p:spPr>
              <a:xfrm>
                <a:off x="0" y="0"/>
                <a:ext cx="5490351" cy="2485538"/>
              </a:xfrm>
              <a:custGeom>
                <a:avLst/>
                <a:gdLst/>
                <a:ahLst/>
                <a:cxnLst/>
                <a:rect l="l" t="t" r="r" b="b"/>
                <a:pathLst>
                  <a:path w="5490351" h="2485538">
                    <a:moveTo>
                      <a:pt x="0" y="0"/>
                    </a:moveTo>
                    <a:lnTo>
                      <a:pt x="5490351" y="0"/>
                    </a:lnTo>
                    <a:lnTo>
                      <a:pt x="5490351" y="2485538"/>
                    </a:lnTo>
                    <a:lnTo>
                      <a:pt x="0" y="2485538"/>
                    </a:lnTo>
                    <a:close/>
                  </a:path>
                </a:pathLst>
              </a:custGeom>
              <a:solidFill>
                <a:srgbClr val="E3E8E1"/>
              </a:solidFill>
            </p:spPr>
          </p:sp>
        </p:grpSp>
        <p:sp>
          <p:nvSpPr>
            <p:cNvPr id="5" name="TextBox 5"/>
            <p:cNvSpPr txBox="1"/>
            <p:nvPr/>
          </p:nvSpPr>
          <p:spPr>
            <a:xfrm>
              <a:off x="1028700" y="1920066"/>
              <a:ext cx="15685244" cy="7591425"/>
            </a:xfrm>
            <a:prstGeom prst="rect">
              <a:avLst/>
            </a:prstGeom>
          </p:spPr>
          <p:txBody>
            <a:bodyPr lIns="0" tIns="0" rIns="0" bIns="0" rtlCol="0" anchor="t">
              <a:spAutoFit/>
            </a:bodyPr>
            <a:lstStyle/>
            <a:p>
              <a:pPr algn="l">
                <a:lnSpc>
                  <a:spcPts val="2879"/>
                </a:lnSpc>
              </a:pPr>
              <a:r>
                <a:rPr lang="en-US" sz="2399" b="1" dirty="0" err="1">
                  <a:solidFill>
                    <a:srgbClr val="002217"/>
                  </a:solidFill>
                  <a:latin typeface="Canva Sans Medium"/>
                  <a:ea typeface="Canva Sans Medium"/>
                  <a:cs typeface="Canva Sans Medium"/>
                  <a:sym typeface="Canva Sans Medium"/>
                </a:rPr>
                <a:t>FastAPI</a:t>
              </a:r>
              <a:r>
                <a:rPr lang="en-US" sz="2399" b="1" dirty="0">
                  <a:solidFill>
                    <a:srgbClr val="002217"/>
                  </a:solidFill>
                  <a:latin typeface="Canva Sans Medium"/>
                  <a:ea typeface="Canva Sans Medium"/>
                  <a:cs typeface="Canva Sans Medium"/>
                  <a:sym typeface="Canva Sans Medium"/>
                </a:rPr>
                <a:t>. (n.d.). https://</a:t>
              </a:r>
              <a:r>
                <a:rPr lang="en-US" sz="2399" b="1" dirty="0" err="1">
                  <a:solidFill>
                    <a:srgbClr val="002217"/>
                  </a:solidFill>
                  <a:latin typeface="Canva Sans Medium"/>
                  <a:ea typeface="Canva Sans Medium"/>
                  <a:cs typeface="Canva Sans Medium"/>
                  <a:sym typeface="Canva Sans Medium"/>
                </a:rPr>
                <a:t>fastapi.tiangolo.com</a:t>
              </a:r>
              <a:r>
                <a:rPr lang="en-US" sz="2399" b="1" dirty="0">
                  <a:solidFill>
                    <a:srgbClr val="002217"/>
                  </a:solidFill>
                  <a:latin typeface="Canva Sans Medium"/>
                  <a:ea typeface="Canva Sans Medium"/>
                  <a:cs typeface="Canva Sans Medium"/>
                  <a:sym typeface="Canva Sans Medium"/>
                </a:rPr>
                <a:t>/</a:t>
              </a:r>
            </a:p>
            <a:p>
              <a:pPr algn="l">
                <a:lnSpc>
                  <a:spcPts val="2879"/>
                </a:lnSpc>
              </a:pPr>
              <a:endParaRPr lang="en-US" sz="2399" b="1" dirty="0">
                <a:solidFill>
                  <a:srgbClr val="002217"/>
                </a:solidFill>
                <a:latin typeface="Canva Sans Medium"/>
                <a:ea typeface="Canva Sans Medium"/>
                <a:cs typeface="Canva Sans Medium"/>
                <a:sym typeface="Canva Sans Medium"/>
              </a:endParaRPr>
            </a:p>
            <a:p>
              <a:pPr algn="l">
                <a:lnSpc>
                  <a:spcPts val="2879"/>
                </a:lnSpc>
              </a:pPr>
              <a:r>
                <a:rPr lang="en-US" sz="2399" b="1" dirty="0">
                  <a:solidFill>
                    <a:srgbClr val="002217"/>
                  </a:solidFill>
                  <a:latin typeface="Canva Sans Medium"/>
                  <a:ea typeface="Canva Sans Medium"/>
                  <a:cs typeface="Canva Sans Medium"/>
                  <a:sym typeface="Canva Sans Medium"/>
                </a:rPr>
                <a:t>Gemini API | Google AI for Developers. (n.d.). Google AI for Developers. https://</a:t>
              </a:r>
              <a:r>
                <a:rPr lang="en-US" sz="2399" b="1" dirty="0" err="1">
                  <a:solidFill>
                    <a:srgbClr val="002217"/>
                  </a:solidFill>
                  <a:latin typeface="Canva Sans Medium"/>
                  <a:ea typeface="Canva Sans Medium"/>
                  <a:cs typeface="Canva Sans Medium"/>
                  <a:sym typeface="Canva Sans Medium"/>
                </a:rPr>
                <a:t>ai.google.dev</a:t>
              </a:r>
              <a:r>
                <a:rPr lang="en-US" sz="2399" b="1" dirty="0">
                  <a:solidFill>
                    <a:srgbClr val="002217"/>
                  </a:solidFill>
                  <a:latin typeface="Canva Sans Medium"/>
                  <a:ea typeface="Canva Sans Medium"/>
                  <a:cs typeface="Canva Sans Medium"/>
                  <a:sym typeface="Canva Sans Medium"/>
                </a:rPr>
                <a:t>/</a:t>
              </a:r>
              <a:r>
                <a:rPr lang="en-US" sz="2399" b="1" dirty="0" err="1">
                  <a:solidFill>
                    <a:srgbClr val="002217"/>
                  </a:solidFill>
                  <a:latin typeface="Canva Sans Medium"/>
                  <a:ea typeface="Canva Sans Medium"/>
                  <a:cs typeface="Canva Sans Medium"/>
                  <a:sym typeface="Canva Sans Medium"/>
                </a:rPr>
                <a:t>gemini-api</a:t>
              </a:r>
              <a:r>
                <a:rPr lang="en-US" sz="2399" b="1" dirty="0">
                  <a:solidFill>
                    <a:srgbClr val="002217"/>
                  </a:solidFill>
                  <a:latin typeface="Canva Sans Medium"/>
                  <a:ea typeface="Canva Sans Medium"/>
                  <a:cs typeface="Canva Sans Medium"/>
                  <a:sym typeface="Canva Sans Medium"/>
                </a:rPr>
                <a:t>/docs?_</a:t>
              </a:r>
              <a:r>
                <a:rPr lang="en-US" sz="2399" b="1" dirty="0" err="1">
                  <a:solidFill>
                    <a:srgbClr val="002217"/>
                  </a:solidFill>
                  <a:latin typeface="Canva Sans Medium"/>
                  <a:ea typeface="Canva Sans Medium"/>
                  <a:cs typeface="Canva Sans Medium"/>
                  <a:sym typeface="Canva Sans Medium"/>
                </a:rPr>
                <a:t>gl</a:t>
              </a:r>
              <a:r>
                <a:rPr lang="en-US" sz="2399" b="1" dirty="0">
                  <a:solidFill>
                    <a:srgbClr val="002217"/>
                  </a:solidFill>
                  <a:latin typeface="Canva Sans Medium"/>
                  <a:ea typeface="Canva Sans Medium"/>
                  <a:cs typeface="Canva Sans Medium"/>
                  <a:sym typeface="Canva Sans Medium"/>
                </a:rPr>
                <a:t>=1*10ikmno*_up*MQ..&amp;</a:t>
              </a:r>
              <a:r>
                <a:rPr lang="en-US" sz="2399" b="1" dirty="0" err="1">
                  <a:solidFill>
                    <a:srgbClr val="002217"/>
                  </a:solidFill>
                  <a:latin typeface="Canva Sans Medium"/>
                  <a:ea typeface="Canva Sans Medium"/>
                  <a:cs typeface="Canva Sans Medium"/>
                  <a:sym typeface="Canva Sans Medium"/>
                </a:rPr>
                <a:t>gclid</a:t>
              </a:r>
              <a:r>
                <a:rPr lang="en-US" sz="2399" b="1" dirty="0">
                  <a:solidFill>
                    <a:srgbClr val="002217"/>
                  </a:solidFill>
                  <a:latin typeface="Canva Sans Medium"/>
                  <a:ea typeface="Canva Sans Medium"/>
                  <a:cs typeface="Canva Sans Medium"/>
                  <a:sym typeface="Canva Sans Medium"/>
                </a:rPr>
                <a:t>=CjwKCAjwiNXFBhBKEiwAPSaPCZwtSrEfGWXWv4V0wlEhPymF368axJBUUaK1Zt5pY8yoqw2DDUmD7BoC7</a:t>
              </a:r>
            </a:p>
            <a:p>
              <a:pPr algn="l">
                <a:lnSpc>
                  <a:spcPts val="2879"/>
                </a:lnSpc>
              </a:pPr>
              <a:endParaRPr lang="en-US" sz="2399" b="1" dirty="0">
                <a:solidFill>
                  <a:srgbClr val="002217"/>
                </a:solidFill>
                <a:latin typeface="Canva Sans Medium"/>
                <a:ea typeface="Canva Sans Medium"/>
                <a:cs typeface="Canva Sans Medium"/>
                <a:sym typeface="Canva Sans Medium"/>
              </a:endParaRPr>
            </a:p>
            <a:p>
              <a:pPr algn="l">
                <a:lnSpc>
                  <a:spcPts val="2879"/>
                </a:lnSpc>
              </a:pPr>
              <a:r>
                <a:rPr lang="en-US" sz="2399" b="1" dirty="0">
                  <a:solidFill>
                    <a:srgbClr val="002217"/>
                  </a:solidFill>
                  <a:latin typeface="Canva Sans Medium"/>
                  <a:ea typeface="Canva Sans Medium"/>
                  <a:cs typeface="Canva Sans Medium"/>
                  <a:sym typeface="Canva Sans Medium"/>
                </a:rPr>
                <a:t>OpenAI. (2021, November 12). OpenAI API. OpenAI. https://</a:t>
              </a:r>
              <a:r>
                <a:rPr lang="en-US" sz="2399" b="1" dirty="0" err="1">
                  <a:solidFill>
                    <a:srgbClr val="002217"/>
                  </a:solidFill>
                  <a:latin typeface="Canva Sans Medium"/>
                  <a:ea typeface="Canva Sans Medium"/>
                  <a:cs typeface="Canva Sans Medium"/>
                  <a:sym typeface="Canva Sans Medium"/>
                </a:rPr>
                <a:t>openai.com</a:t>
              </a:r>
              <a:r>
                <a:rPr lang="en-US" sz="2399" b="1" dirty="0">
                  <a:solidFill>
                    <a:srgbClr val="002217"/>
                  </a:solidFill>
                  <a:latin typeface="Canva Sans Medium"/>
                  <a:ea typeface="Canva Sans Medium"/>
                  <a:cs typeface="Canva Sans Medium"/>
                  <a:sym typeface="Canva Sans Medium"/>
                </a:rPr>
                <a:t>/</a:t>
              </a:r>
              <a:r>
                <a:rPr lang="en-US" sz="2399" b="1" dirty="0" err="1">
                  <a:solidFill>
                    <a:srgbClr val="002217"/>
                  </a:solidFill>
                  <a:latin typeface="Canva Sans Medium"/>
                  <a:ea typeface="Canva Sans Medium"/>
                  <a:cs typeface="Canva Sans Medium"/>
                  <a:sym typeface="Canva Sans Medium"/>
                </a:rPr>
                <a:t>api</a:t>
              </a:r>
              <a:r>
                <a:rPr lang="en-US" sz="2399" b="1" dirty="0">
                  <a:solidFill>
                    <a:srgbClr val="002217"/>
                  </a:solidFill>
                  <a:latin typeface="Canva Sans Medium"/>
                  <a:ea typeface="Canva Sans Medium"/>
                  <a:cs typeface="Canva Sans Medium"/>
                  <a:sym typeface="Canva Sans Medium"/>
                </a:rPr>
                <a:t>/</a:t>
              </a:r>
            </a:p>
            <a:p>
              <a:pPr algn="l">
                <a:lnSpc>
                  <a:spcPts val="2879"/>
                </a:lnSpc>
              </a:pPr>
              <a:r>
                <a:rPr lang="en-US" sz="2399" b="1" dirty="0" err="1">
                  <a:solidFill>
                    <a:srgbClr val="002217"/>
                  </a:solidFill>
                  <a:latin typeface="Canva Sans Medium"/>
                  <a:ea typeface="Canva Sans Medium"/>
                  <a:cs typeface="Canva Sans Medium"/>
                  <a:sym typeface="Canva Sans Medium"/>
                </a:rPr>
                <a:t>TcQAvD_BwE&amp;gclsrc</a:t>
              </a:r>
              <a:r>
                <a:rPr lang="en-US" sz="2399" b="1" dirty="0">
                  <a:solidFill>
                    <a:srgbClr val="002217"/>
                  </a:solidFill>
                  <a:latin typeface="Canva Sans Medium"/>
                  <a:ea typeface="Canva Sans Medium"/>
                  <a:cs typeface="Canva Sans Medium"/>
                  <a:sym typeface="Canva Sans Medium"/>
                </a:rPr>
                <a:t>=</a:t>
              </a:r>
              <a:r>
                <a:rPr lang="en-US" sz="2399" b="1" dirty="0" err="1">
                  <a:solidFill>
                    <a:srgbClr val="002217"/>
                  </a:solidFill>
                  <a:latin typeface="Canva Sans Medium"/>
                  <a:ea typeface="Canva Sans Medium"/>
                  <a:cs typeface="Canva Sans Medium"/>
                  <a:sym typeface="Canva Sans Medium"/>
                </a:rPr>
                <a:t>aw.ds&amp;gbraid</a:t>
              </a:r>
              <a:r>
                <a:rPr lang="en-US" sz="2399" b="1" dirty="0">
                  <a:solidFill>
                    <a:srgbClr val="002217"/>
                  </a:solidFill>
                  <a:latin typeface="Canva Sans Medium"/>
                  <a:ea typeface="Canva Sans Medium"/>
                  <a:cs typeface="Canva Sans Medium"/>
                  <a:sym typeface="Canva Sans Medium"/>
                </a:rPr>
                <a:t>=0AAAAACn9t64vSgeSxG9ZQw6Z2w5wRLzK5</a:t>
              </a:r>
            </a:p>
            <a:p>
              <a:pPr algn="l">
                <a:lnSpc>
                  <a:spcPts val="2879"/>
                </a:lnSpc>
              </a:pPr>
              <a:endParaRPr lang="en-US" sz="2399" b="1" dirty="0">
                <a:solidFill>
                  <a:srgbClr val="002217"/>
                </a:solidFill>
                <a:latin typeface="Canva Sans Medium"/>
                <a:ea typeface="Canva Sans Medium"/>
                <a:cs typeface="Canva Sans Medium"/>
                <a:sym typeface="Canva Sans Medium"/>
              </a:endParaRPr>
            </a:p>
            <a:p>
              <a:pPr algn="l">
                <a:lnSpc>
                  <a:spcPts val="2879"/>
                </a:lnSpc>
              </a:pPr>
              <a:r>
                <a:rPr lang="en-US" sz="2399" b="1" dirty="0">
                  <a:solidFill>
                    <a:srgbClr val="002217"/>
                  </a:solidFill>
                  <a:latin typeface="Canva Sans Medium"/>
                  <a:ea typeface="Canva Sans Medium"/>
                  <a:cs typeface="Canva Sans Medium"/>
                  <a:sym typeface="Canva Sans Medium"/>
                </a:rPr>
                <a:t>React Native · Learn once, write anywhere. (n.d.). https://</a:t>
              </a:r>
              <a:r>
                <a:rPr lang="en-US" sz="2399" b="1" dirty="0" err="1">
                  <a:solidFill>
                    <a:srgbClr val="002217"/>
                  </a:solidFill>
                  <a:latin typeface="Canva Sans Medium"/>
                  <a:ea typeface="Canva Sans Medium"/>
                  <a:cs typeface="Canva Sans Medium"/>
                  <a:sym typeface="Canva Sans Medium"/>
                </a:rPr>
                <a:t>reactnative.dev</a:t>
              </a:r>
              <a:r>
                <a:rPr lang="en-US" sz="2399" b="1" dirty="0">
                  <a:solidFill>
                    <a:srgbClr val="002217"/>
                  </a:solidFill>
                  <a:latin typeface="Canva Sans Medium"/>
                  <a:ea typeface="Canva Sans Medium"/>
                  <a:cs typeface="Canva Sans Medium"/>
                  <a:sym typeface="Canva Sans Medium"/>
                </a:rPr>
                <a:t>/</a:t>
              </a:r>
            </a:p>
            <a:p>
              <a:pPr algn="l">
                <a:lnSpc>
                  <a:spcPts val="2879"/>
                </a:lnSpc>
              </a:pPr>
              <a:endParaRPr lang="en-US" sz="2399" b="1" dirty="0">
                <a:solidFill>
                  <a:srgbClr val="002217"/>
                </a:solidFill>
                <a:latin typeface="Canva Sans Medium"/>
                <a:ea typeface="Canva Sans Medium"/>
                <a:cs typeface="Canva Sans Medium"/>
                <a:sym typeface="Canva Sans Medium"/>
              </a:endParaRPr>
            </a:p>
            <a:p>
              <a:pPr algn="l">
                <a:lnSpc>
                  <a:spcPts val="2879"/>
                </a:lnSpc>
              </a:pPr>
              <a:r>
                <a:rPr lang="en-US" sz="2399" b="1" dirty="0">
                  <a:solidFill>
                    <a:srgbClr val="002217"/>
                  </a:solidFill>
                  <a:latin typeface="Canva Sans Medium"/>
                  <a:ea typeface="Canva Sans Medium"/>
                  <a:cs typeface="Canva Sans Medium"/>
                  <a:sym typeface="Canva Sans Medium"/>
                </a:rPr>
                <a:t>Swagger-Api. (n.d.). GitHub - swagger-</a:t>
              </a:r>
              <a:r>
                <a:rPr lang="en-US" sz="2399" b="1" dirty="0" err="1">
                  <a:solidFill>
                    <a:srgbClr val="002217"/>
                  </a:solidFill>
                  <a:latin typeface="Canva Sans Medium"/>
                  <a:ea typeface="Canva Sans Medium"/>
                  <a:cs typeface="Canva Sans Medium"/>
                  <a:sym typeface="Canva Sans Medium"/>
                </a:rPr>
                <a:t>api</a:t>
              </a:r>
              <a:r>
                <a:rPr lang="en-US" sz="2399" b="1" dirty="0">
                  <a:solidFill>
                    <a:srgbClr val="002217"/>
                  </a:solidFill>
                  <a:latin typeface="Canva Sans Medium"/>
                  <a:ea typeface="Canva Sans Medium"/>
                  <a:cs typeface="Canva Sans Medium"/>
                  <a:sym typeface="Canva Sans Medium"/>
                </a:rPr>
                <a:t>/swagger-</a:t>
              </a:r>
              <a:r>
                <a:rPr lang="en-US" sz="2399" b="1" dirty="0" err="1">
                  <a:solidFill>
                    <a:srgbClr val="002217"/>
                  </a:solidFill>
                  <a:latin typeface="Canva Sans Medium"/>
                  <a:ea typeface="Canva Sans Medium"/>
                  <a:cs typeface="Canva Sans Medium"/>
                  <a:sym typeface="Canva Sans Medium"/>
                </a:rPr>
                <a:t>ui</a:t>
              </a:r>
              <a:r>
                <a:rPr lang="en-US" sz="2399" b="1" dirty="0">
                  <a:solidFill>
                    <a:srgbClr val="002217"/>
                  </a:solidFill>
                  <a:latin typeface="Canva Sans Medium"/>
                  <a:ea typeface="Canva Sans Medium"/>
                  <a:cs typeface="Canva Sans Medium"/>
                  <a:sym typeface="Canva Sans Medium"/>
                </a:rPr>
                <a:t>: Swagger UI is a collection of HTML, JavaScript, and CSS assets that dynamically generate beautiful documentation from a Swagger-compliant API. GitHub. https://</a:t>
              </a:r>
              <a:r>
                <a:rPr lang="en-US" sz="2399" b="1" dirty="0" err="1">
                  <a:solidFill>
                    <a:srgbClr val="002217"/>
                  </a:solidFill>
                  <a:latin typeface="Canva Sans Medium"/>
                  <a:ea typeface="Canva Sans Medium"/>
                  <a:cs typeface="Canva Sans Medium"/>
                  <a:sym typeface="Canva Sans Medium"/>
                </a:rPr>
                <a:t>github.com</a:t>
              </a:r>
              <a:r>
                <a:rPr lang="en-US" sz="2399" b="1" dirty="0">
                  <a:solidFill>
                    <a:srgbClr val="002217"/>
                  </a:solidFill>
                  <a:latin typeface="Canva Sans Medium"/>
                  <a:ea typeface="Canva Sans Medium"/>
                  <a:cs typeface="Canva Sans Medium"/>
                  <a:sym typeface="Canva Sans Medium"/>
                </a:rPr>
                <a:t>/swagger-</a:t>
              </a:r>
              <a:r>
                <a:rPr lang="en-US" sz="2399" b="1" dirty="0" err="1">
                  <a:solidFill>
                    <a:srgbClr val="002217"/>
                  </a:solidFill>
                  <a:latin typeface="Canva Sans Medium"/>
                  <a:ea typeface="Canva Sans Medium"/>
                  <a:cs typeface="Canva Sans Medium"/>
                  <a:sym typeface="Canva Sans Medium"/>
                </a:rPr>
                <a:t>api</a:t>
              </a:r>
              <a:r>
                <a:rPr lang="en-US" sz="2399" b="1" dirty="0">
                  <a:solidFill>
                    <a:srgbClr val="002217"/>
                  </a:solidFill>
                  <a:latin typeface="Canva Sans Medium"/>
                  <a:ea typeface="Canva Sans Medium"/>
                  <a:cs typeface="Canva Sans Medium"/>
                  <a:sym typeface="Canva Sans Medium"/>
                </a:rPr>
                <a:t>/swagger-</a:t>
              </a:r>
              <a:r>
                <a:rPr lang="en-US" sz="2399" b="1" dirty="0" err="1">
                  <a:solidFill>
                    <a:srgbClr val="002217"/>
                  </a:solidFill>
                  <a:latin typeface="Canva Sans Medium"/>
                  <a:ea typeface="Canva Sans Medium"/>
                  <a:cs typeface="Canva Sans Medium"/>
                  <a:sym typeface="Canva Sans Medium"/>
                </a:rPr>
                <a:t>ui</a:t>
              </a:r>
              <a:endParaRPr lang="en-US" sz="2399" b="1" dirty="0">
                <a:solidFill>
                  <a:srgbClr val="002217"/>
                </a:solidFill>
                <a:latin typeface="Canva Sans Medium"/>
                <a:ea typeface="Canva Sans Medium"/>
                <a:cs typeface="Canva Sans Medium"/>
                <a:sym typeface="Canva Sans Medium"/>
              </a:endParaRPr>
            </a:p>
            <a:p>
              <a:pPr algn="l">
                <a:lnSpc>
                  <a:spcPts val="2879"/>
                </a:lnSpc>
              </a:pPr>
              <a:endParaRPr lang="en-US" sz="2399" b="1" dirty="0">
                <a:solidFill>
                  <a:srgbClr val="002217"/>
                </a:solidFill>
                <a:latin typeface="Canva Sans Medium"/>
                <a:ea typeface="Canva Sans Medium"/>
                <a:cs typeface="Canva Sans Medium"/>
                <a:sym typeface="Canva Sans Medium"/>
              </a:endParaRPr>
            </a:p>
            <a:p>
              <a:pPr algn="l">
                <a:lnSpc>
                  <a:spcPts val="2879"/>
                </a:lnSpc>
              </a:pPr>
              <a:r>
                <a:rPr lang="en-US" sz="2399" b="1" dirty="0">
                  <a:solidFill>
                    <a:srgbClr val="002217"/>
                  </a:solidFill>
                  <a:latin typeface="Canva Sans Medium"/>
                  <a:ea typeface="Canva Sans Medium"/>
                  <a:cs typeface="Canva Sans Medium"/>
                  <a:sym typeface="Canva Sans Medium"/>
                </a:rPr>
                <a:t>The PostgreSQL Global Development Group. (2025). PostgreSQL: Documentation. </a:t>
              </a:r>
              <a:r>
                <a:rPr lang="en-US" sz="2399" b="1" dirty="0" err="1">
                  <a:solidFill>
                    <a:srgbClr val="002217"/>
                  </a:solidFill>
                  <a:latin typeface="Canva Sans Medium"/>
                  <a:ea typeface="Canva Sans Medium"/>
                  <a:cs typeface="Canva Sans Medium"/>
                  <a:sym typeface="Canva Sans Medium"/>
                </a:rPr>
                <a:t>Www.postgresql.org</a:t>
              </a:r>
              <a:r>
                <a:rPr lang="en-US" sz="2399" b="1" dirty="0">
                  <a:solidFill>
                    <a:srgbClr val="002217"/>
                  </a:solidFill>
                  <a:latin typeface="Canva Sans Medium"/>
                  <a:ea typeface="Canva Sans Medium"/>
                  <a:cs typeface="Canva Sans Medium"/>
                  <a:sym typeface="Canva Sans Medium"/>
                </a:rPr>
                <a:t>. https://</a:t>
              </a:r>
              <a:r>
                <a:rPr lang="en-US" sz="2399" b="1" dirty="0" err="1">
                  <a:solidFill>
                    <a:srgbClr val="002217"/>
                  </a:solidFill>
                  <a:latin typeface="Canva Sans Medium"/>
                  <a:ea typeface="Canva Sans Medium"/>
                  <a:cs typeface="Canva Sans Medium"/>
                  <a:sym typeface="Canva Sans Medium"/>
                </a:rPr>
                <a:t>www.postgresql.org</a:t>
              </a:r>
              <a:r>
                <a:rPr lang="en-US" sz="2399" b="1" dirty="0">
                  <a:solidFill>
                    <a:srgbClr val="002217"/>
                  </a:solidFill>
                  <a:latin typeface="Canva Sans Medium"/>
                  <a:ea typeface="Canva Sans Medium"/>
                  <a:cs typeface="Canva Sans Medium"/>
                  <a:sym typeface="Canva Sans Medium"/>
                </a:rPr>
                <a:t>/docs/</a:t>
              </a:r>
            </a:p>
            <a:p>
              <a:pPr algn="l">
                <a:lnSpc>
                  <a:spcPts val="2879"/>
                </a:lnSpc>
              </a:pPr>
              <a:endParaRPr lang="en-US" sz="2399" b="1" dirty="0">
                <a:solidFill>
                  <a:srgbClr val="002217"/>
                </a:solidFill>
                <a:latin typeface="Canva Sans Medium"/>
                <a:ea typeface="Canva Sans Medium"/>
                <a:cs typeface="Canva Sans Medium"/>
                <a:sym typeface="Canva Sans Medium"/>
              </a:endParaRPr>
            </a:p>
            <a:p>
              <a:pPr algn="l">
                <a:lnSpc>
                  <a:spcPts val="2879"/>
                </a:lnSpc>
              </a:pPr>
              <a:r>
                <a:rPr lang="en-US" sz="2399" b="1" dirty="0">
                  <a:solidFill>
                    <a:srgbClr val="002217"/>
                  </a:solidFill>
                  <a:latin typeface="Canva Sans Medium"/>
                  <a:ea typeface="Canva Sans Medium"/>
                  <a:cs typeface="Canva Sans Medium"/>
                  <a:sym typeface="Canva Sans Medium"/>
                </a:rPr>
                <a:t>https://</a:t>
              </a:r>
              <a:r>
                <a:rPr lang="en-US" sz="2399" b="1" dirty="0" err="1">
                  <a:solidFill>
                    <a:srgbClr val="002217"/>
                  </a:solidFill>
                  <a:latin typeface="Canva Sans Medium"/>
                  <a:ea typeface="Canva Sans Medium"/>
                  <a:cs typeface="Canva Sans Medium"/>
                  <a:sym typeface="Canva Sans Medium"/>
                </a:rPr>
                <a:t>dev.to</a:t>
              </a:r>
              <a:r>
                <a:rPr lang="en-US" sz="2399" b="1" dirty="0">
                  <a:solidFill>
                    <a:srgbClr val="002217"/>
                  </a:solidFill>
                  <a:latin typeface="Canva Sans Medium"/>
                  <a:ea typeface="Canva Sans Medium"/>
                  <a:cs typeface="Canva Sans Medium"/>
                  <a:sym typeface="Canva Sans Medium"/>
                </a:rPr>
                <a:t>/</a:t>
              </a:r>
              <a:r>
                <a:rPr lang="en-US" sz="2399" b="1" dirty="0" err="1">
                  <a:solidFill>
                    <a:srgbClr val="002217"/>
                  </a:solidFill>
                  <a:latin typeface="Canva Sans Medium"/>
                  <a:ea typeface="Canva Sans Medium"/>
                  <a:cs typeface="Canva Sans Medium"/>
                  <a:sym typeface="Canva Sans Medium"/>
                </a:rPr>
                <a:t>gbengelebs</a:t>
              </a:r>
              <a:r>
                <a:rPr lang="en-US" sz="2399" b="1" dirty="0">
                  <a:solidFill>
                    <a:srgbClr val="002217"/>
                  </a:solidFill>
                  <a:latin typeface="Canva Sans Medium"/>
                  <a:ea typeface="Canva Sans Medium"/>
                  <a:cs typeface="Canva Sans Medium"/>
                  <a:sym typeface="Canva Sans Medium"/>
                </a:rPr>
                <a:t>/netflix-system-design-backend-architecture-10i3</a:t>
              </a:r>
            </a:p>
            <a:p>
              <a:pPr algn="l">
                <a:lnSpc>
                  <a:spcPts val="2879"/>
                </a:lnSpc>
              </a:pPr>
              <a:r>
                <a:rPr lang="en-US" sz="2399" b="1" dirty="0">
                  <a:solidFill>
                    <a:srgbClr val="002217"/>
                  </a:solidFill>
                  <a:latin typeface="Canva Sans Medium"/>
                  <a:ea typeface="Canva Sans Medium"/>
                  <a:cs typeface="Canva Sans Medium"/>
                  <a:sym typeface="Canva Sans Medium"/>
                </a:rPr>
                <a:t>‌</a:t>
              </a:r>
            </a:p>
          </p:txBody>
        </p:sp>
      </p:grpSp>
      <p:sp>
        <p:nvSpPr>
          <p:cNvPr id="6" name="TextBox 6"/>
          <p:cNvSpPr txBox="1"/>
          <p:nvPr/>
        </p:nvSpPr>
        <p:spPr>
          <a:xfrm>
            <a:off x="12543304" y="9615962"/>
            <a:ext cx="4715996" cy="370206"/>
          </a:xfrm>
          <a:prstGeom prst="rect">
            <a:avLst/>
          </a:prstGeom>
        </p:spPr>
        <p:txBody>
          <a:bodyPr lIns="0" tIns="0" rIns="0" bIns="0" rtlCol="0" anchor="t">
            <a:spAutoFit/>
          </a:bodyPr>
          <a:lstStyle/>
          <a:p>
            <a:pPr algn="ctr">
              <a:lnSpc>
                <a:spcPts val="3054"/>
              </a:lnSpc>
              <a:spcBef>
                <a:spcPct val="0"/>
              </a:spcBef>
            </a:pPr>
            <a:r>
              <a:rPr lang="en-US" sz="2349">
                <a:solidFill>
                  <a:srgbClr val="002217"/>
                </a:solidFill>
                <a:latin typeface="Canva Sans"/>
                <a:ea typeface="Canva Sans"/>
                <a:cs typeface="Canva Sans"/>
                <a:sym typeface="Canva Sans"/>
              </a:rPr>
              <a:t>Created by Umair, Sangmin, Ayo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200"/>
                                        <p:tgtEl>
                                          <p:spTgt spid="4"/>
                                        </p:tgtEl>
                                      </p:cBhvr>
                                    </p:animEffect>
                                  </p:childTnLst>
                                </p:cTn>
                              </p:par>
                            </p:childTnLst>
                          </p:cTn>
                        </p:par>
                        <p:par>
                          <p:cTn id="8" fill="hold">
                            <p:stCondLst>
                              <p:cond delay="200"/>
                            </p:stCondLst>
                            <p:childTnLst>
                              <p:par>
                                <p:cTn id="9" presetID="5" presetClass="entr" presetSubtype="1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checkerboard(across)">
                                      <p:cBhvr>
                                        <p:cTn id="11" dur="2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sp>
        <p:nvSpPr>
          <p:cNvPr id="5" name="TextBox 5"/>
          <p:cNvSpPr txBox="1"/>
          <p:nvPr/>
        </p:nvSpPr>
        <p:spPr>
          <a:xfrm>
            <a:off x="1050817" y="1162050"/>
            <a:ext cx="16208483" cy="963930"/>
          </a:xfrm>
          <a:prstGeom prst="rect">
            <a:avLst/>
          </a:prstGeom>
        </p:spPr>
        <p:txBody>
          <a:bodyPr lIns="0" tIns="0" rIns="0" bIns="0" rtlCol="0" anchor="t">
            <a:spAutoFit/>
          </a:bodyPr>
          <a:lstStyle/>
          <a:p>
            <a:pPr marL="0" lvl="0" indent="0" algn="l">
              <a:lnSpc>
                <a:spcPts val="7200"/>
              </a:lnSpc>
            </a:pPr>
            <a:r>
              <a:rPr lang="en-US" sz="7200" b="1" spc="-72">
                <a:solidFill>
                  <a:srgbClr val="002217"/>
                </a:solidFill>
                <a:latin typeface="DM Sans Bold"/>
                <a:ea typeface="DM Sans Bold"/>
                <a:cs typeface="DM Sans Bold"/>
                <a:sym typeface="DM Sans Bold"/>
              </a:rPr>
              <a:t>Roles for Team Members</a:t>
            </a:r>
          </a:p>
        </p:txBody>
      </p:sp>
      <p:grpSp>
        <p:nvGrpSpPr>
          <p:cNvPr id="25" name="Group 24">
            <a:extLst>
              <a:ext uri="{FF2B5EF4-FFF2-40B4-BE49-F238E27FC236}">
                <a16:creationId xmlns:a16="http://schemas.microsoft.com/office/drawing/2014/main" id="{3101B4C1-C825-DC8B-1E28-B44367DC4436}"/>
              </a:ext>
            </a:extLst>
          </p:cNvPr>
          <p:cNvGrpSpPr/>
          <p:nvPr/>
        </p:nvGrpSpPr>
        <p:grpSpPr>
          <a:xfrm>
            <a:off x="1122934" y="2474125"/>
            <a:ext cx="5023379" cy="7336465"/>
            <a:chOff x="1122934" y="2474125"/>
            <a:chExt cx="5023379" cy="7336465"/>
          </a:xfrm>
        </p:grpSpPr>
        <p:grpSp>
          <p:nvGrpSpPr>
            <p:cNvPr id="2" name="Group 2"/>
            <p:cNvGrpSpPr/>
            <p:nvPr/>
          </p:nvGrpSpPr>
          <p:grpSpPr>
            <a:xfrm>
              <a:off x="1122934" y="2474125"/>
              <a:ext cx="5023379" cy="7336465"/>
              <a:chOff x="0" y="0"/>
              <a:chExt cx="1323030" cy="1932238"/>
            </a:xfrm>
          </p:grpSpPr>
          <p:sp>
            <p:nvSpPr>
              <p:cNvPr id="3" name="Freeform 3"/>
              <p:cNvSpPr/>
              <p:nvPr/>
            </p:nvSpPr>
            <p:spPr>
              <a:xfrm>
                <a:off x="0" y="0"/>
                <a:ext cx="1323030" cy="1932238"/>
              </a:xfrm>
              <a:custGeom>
                <a:avLst/>
                <a:gdLst/>
                <a:ahLst/>
                <a:cxnLst/>
                <a:rect l="l" t="t" r="r" b="b"/>
                <a:pathLst>
                  <a:path w="1323030" h="1932238">
                    <a:moveTo>
                      <a:pt x="24659" y="0"/>
                    </a:moveTo>
                    <a:lnTo>
                      <a:pt x="1298371" y="0"/>
                    </a:lnTo>
                    <a:cubicBezTo>
                      <a:pt x="1304911" y="0"/>
                      <a:pt x="1311183" y="2598"/>
                      <a:pt x="1315807" y="7222"/>
                    </a:cubicBezTo>
                    <a:cubicBezTo>
                      <a:pt x="1320432" y="11847"/>
                      <a:pt x="1323030" y="18119"/>
                      <a:pt x="1323030" y="24659"/>
                    </a:cubicBezTo>
                    <a:lnTo>
                      <a:pt x="1323030" y="1907579"/>
                    </a:lnTo>
                    <a:cubicBezTo>
                      <a:pt x="1323030" y="1914119"/>
                      <a:pt x="1320432" y="1920391"/>
                      <a:pt x="1315807" y="1925015"/>
                    </a:cubicBezTo>
                    <a:cubicBezTo>
                      <a:pt x="1311183" y="1929640"/>
                      <a:pt x="1304911" y="1932238"/>
                      <a:pt x="1298371" y="1932238"/>
                    </a:cubicBezTo>
                    <a:lnTo>
                      <a:pt x="24659" y="1932238"/>
                    </a:lnTo>
                    <a:cubicBezTo>
                      <a:pt x="18119" y="1932238"/>
                      <a:pt x="11847" y="1929640"/>
                      <a:pt x="7222" y="1925015"/>
                    </a:cubicBezTo>
                    <a:cubicBezTo>
                      <a:pt x="2598" y="1920391"/>
                      <a:pt x="0" y="1914119"/>
                      <a:pt x="0" y="1907579"/>
                    </a:cubicBezTo>
                    <a:lnTo>
                      <a:pt x="0" y="24659"/>
                    </a:lnTo>
                    <a:cubicBezTo>
                      <a:pt x="0" y="18119"/>
                      <a:pt x="2598" y="11847"/>
                      <a:pt x="7222" y="7222"/>
                    </a:cubicBezTo>
                    <a:cubicBezTo>
                      <a:pt x="11847" y="2598"/>
                      <a:pt x="18119" y="0"/>
                      <a:pt x="24659" y="0"/>
                    </a:cubicBezTo>
                    <a:close/>
                  </a:path>
                </a:pathLst>
              </a:custGeom>
              <a:solidFill>
                <a:srgbClr val="FFFFFF">
                  <a:alpha val="34902"/>
                </a:srgbClr>
              </a:solidFill>
            </p:spPr>
          </p:sp>
          <p:sp>
            <p:nvSpPr>
              <p:cNvPr id="4" name="TextBox 4"/>
              <p:cNvSpPr txBox="1"/>
              <p:nvPr/>
            </p:nvSpPr>
            <p:spPr>
              <a:xfrm>
                <a:off x="0" y="-28575"/>
                <a:ext cx="1323030" cy="1960813"/>
              </a:xfrm>
              <a:prstGeom prst="rect">
                <a:avLst/>
              </a:prstGeom>
            </p:spPr>
            <p:txBody>
              <a:bodyPr lIns="50800" tIns="50800" rIns="50800" bIns="50800" rtlCol="0" anchor="ctr"/>
              <a:lstStyle/>
              <a:p>
                <a:pPr algn="ctr">
                  <a:lnSpc>
                    <a:spcPts val="3314"/>
                  </a:lnSpc>
                </a:pPr>
                <a:endParaRPr/>
              </a:p>
            </p:txBody>
          </p:sp>
        </p:grpSp>
        <p:grpSp>
          <p:nvGrpSpPr>
            <p:cNvPr id="14" name="Group 14"/>
            <p:cNvGrpSpPr>
              <a:grpSpLocks noChangeAspect="1"/>
            </p:cNvGrpSpPr>
            <p:nvPr/>
          </p:nvGrpSpPr>
          <p:grpSpPr>
            <a:xfrm>
              <a:off x="1955865" y="2592695"/>
              <a:ext cx="3362218" cy="3362204"/>
              <a:chOff x="0" y="0"/>
              <a:chExt cx="6350025" cy="6350000"/>
            </a:xfrm>
          </p:grpSpPr>
          <p:sp>
            <p:nvSpPr>
              <p:cNvPr id="15" name="Freeform 15"/>
              <p:cNvSpPr/>
              <p:nvPr/>
            </p:nvSpPr>
            <p:spPr>
              <a:xfrm>
                <a:off x="0" y="0"/>
                <a:ext cx="6350026" cy="6350000"/>
              </a:xfrm>
              <a:custGeom>
                <a:avLst/>
                <a:gdLst/>
                <a:ahLst/>
                <a:cxnLst/>
                <a:rect l="l" t="t" r="r" b="b"/>
                <a:pathLst>
                  <a:path w="6350026" h="6350000">
                    <a:moveTo>
                      <a:pt x="0" y="0"/>
                    </a:moveTo>
                    <a:lnTo>
                      <a:pt x="6350026" y="0"/>
                    </a:lnTo>
                    <a:lnTo>
                      <a:pt x="6350026" y="6350000"/>
                    </a:lnTo>
                    <a:lnTo>
                      <a:pt x="0" y="6350000"/>
                    </a:lnTo>
                    <a:close/>
                  </a:path>
                </a:pathLst>
              </a:custGeom>
              <a:blipFill>
                <a:blip r:embed="rId2"/>
                <a:stretch>
                  <a:fillRect l="-1149" r="-1149"/>
                </a:stretch>
              </a:blipFill>
            </p:spPr>
          </p:sp>
        </p:grpSp>
        <p:sp>
          <p:nvSpPr>
            <p:cNvPr id="19" name="TextBox 19"/>
            <p:cNvSpPr txBox="1"/>
            <p:nvPr/>
          </p:nvSpPr>
          <p:spPr>
            <a:xfrm>
              <a:off x="1223144" y="6113783"/>
              <a:ext cx="4818839" cy="3551238"/>
            </a:xfrm>
            <a:prstGeom prst="rect">
              <a:avLst/>
            </a:prstGeom>
          </p:spPr>
          <p:txBody>
            <a:bodyPr lIns="0" tIns="0" rIns="0" bIns="0" rtlCol="0" anchor="t">
              <a:spAutoFit/>
            </a:bodyPr>
            <a:lstStyle/>
            <a:p>
              <a:pPr algn="ctr">
                <a:lnSpc>
                  <a:spcPts val="3639"/>
                </a:lnSpc>
              </a:pPr>
              <a:r>
                <a:rPr lang="en-US" sz="2799" b="1">
                  <a:solidFill>
                    <a:srgbClr val="314528"/>
                  </a:solidFill>
                  <a:latin typeface="Canva Sans Bold"/>
                  <a:ea typeface="Canva Sans Bold"/>
                  <a:cs typeface="Canva Sans Bold"/>
                  <a:sym typeface="Canva Sans Bold"/>
                </a:rPr>
                <a:t>Sangmin Lee</a:t>
              </a:r>
            </a:p>
            <a:p>
              <a:pPr algn="ctr">
                <a:lnSpc>
                  <a:spcPts val="1950"/>
                </a:lnSpc>
                <a:spcBef>
                  <a:spcPct val="0"/>
                </a:spcBef>
              </a:pPr>
              <a:endParaRPr lang="en-US" sz="2799" b="1">
                <a:solidFill>
                  <a:srgbClr val="314528"/>
                </a:solidFill>
                <a:latin typeface="Canva Sans Bold"/>
                <a:ea typeface="Canva Sans Bold"/>
                <a:cs typeface="Canva Sans Bold"/>
                <a:sym typeface="Canva Sans Bold"/>
              </a:endParaRPr>
            </a:p>
            <a:p>
              <a:pPr algn="ctr">
                <a:lnSpc>
                  <a:spcPts val="2534"/>
                </a:lnSpc>
                <a:spcBef>
                  <a:spcPct val="0"/>
                </a:spcBef>
              </a:pPr>
              <a:r>
                <a:rPr lang="en-US" sz="1949" i="1">
                  <a:solidFill>
                    <a:srgbClr val="002217"/>
                  </a:solidFill>
                  <a:latin typeface="Canva Sans Italics"/>
                  <a:ea typeface="Canva Sans Italics"/>
                  <a:cs typeface="Canva Sans Italics"/>
                  <a:sym typeface="Canva Sans Italics"/>
                </a:rPr>
                <a:t>Python, JS, Docker, Kubernetes</a:t>
              </a:r>
            </a:p>
            <a:p>
              <a:pPr algn="l">
                <a:lnSpc>
                  <a:spcPts val="2534"/>
                </a:lnSpc>
                <a:spcBef>
                  <a:spcPct val="0"/>
                </a:spcBef>
              </a:pPr>
              <a:endParaRPr lang="en-US" sz="1949" i="1">
                <a:solidFill>
                  <a:srgbClr val="002217"/>
                </a:solidFill>
                <a:latin typeface="Canva Sans Italics"/>
                <a:ea typeface="Canva Sans Italics"/>
                <a:cs typeface="Canva Sans Italics"/>
                <a:sym typeface="Canva Sans Italics"/>
              </a:endParaRPr>
            </a:p>
            <a:p>
              <a:pPr algn="l">
                <a:lnSpc>
                  <a:spcPts val="2664"/>
                </a:lnSpc>
                <a:spcBef>
                  <a:spcPct val="0"/>
                </a:spcBef>
              </a:pPr>
              <a:r>
                <a:rPr lang="en-US" sz="2049" b="1">
                  <a:solidFill>
                    <a:srgbClr val="314528"/>
                  </a:solidFill>
                  <a:latin typeface="Canva Sans Bold"/>
                  <a:ea typeface="Canva Sans Bold"/>
                  <a:cs typeface="Canva Sans Bold"/>
                  <a:sym typeface="Canva Sans Bold"/>
                </a:rPr>
                <a:t>Key Responsibilities</a:t>
              </a:r>
            </a:p>
            <a:p>
              <a:pPr algn="l">
                <a:lnSpc>
                  <a:spcPts val="2534"/>
                </a:lnSpc>
                <a:spcBef>
                  <a:spcPct val="0"/>
                </a:spcBef>
              </a:pPr>
              <a:endParaRPr lang="en-US" sz="2049" b="1">
                <a:solidFill>
                  <a:srgbClr val="314528"/>
                </a:solidFill>
                <a:latin typeface="Canva Sans Bold"/>
                <a:ea typeface="Canva Sans Bold"/>
                <a:cs typeface="Canva Sans Bold"/>
                <a:sym typeface="Canva Sans Bold"/>
              </a:endParaRPr>
            </a:p>
            <a:p>
              <a:pPr marL="420984" lvl="1" indent="-210492" algn="l">
                <a:lnSpc>
                  <a:spcPts val="2534"/>
                </a:lnSpc>
                <a:buFont typeface="Arial"/>
                <a:buChar char="•"/>
              </a:pPr>
              <a:r>
                <a:rPr lang="en-US" sz="1949">
                  <a:solidFill>
                    <a:srgbClr val="002217"/>
                  </a:solidFill>
                  <a:latin typeface="Canva Sans"/>
                  <a:ea typeface="Canva Sans"/>
                  <a:cs typeface="Canva Sans"/>
                  <a:sym typeface="Canva Sans"/>
                </a:rPr>
                <a:t>Build NLU clarifier logic</a:t>
              </a:r>
            </a:p>
            <a:p>
              <a:pPr marL="420984" lvl="1" indent="-210492" algn="l">
                <a:lnSpc>
                  <a:spcPts val="2534"/>
                </a:lnSpc>
                <a:buFont typeface="Arial"/>
                <a:buChar char="•"/>
              </a:pPr>
              <a:r>
                <a:rPr lang="en-US" sz="1949">
                  <a:solidFill>
                    <a:srgbClr val="002217"/>
                  </a:solidFill>
                  <a:latin typeface="Canva Sans"/>
                  <a:ea typeface="Canva Sans"/>
                  <a:cs typeface="Canva Sans"/>
                  <a:sym typeface="Canva Sans"/>
                </a:rPr>
                <a:t>Track and maintain slot-filling states</a:t>
              </a:r>
            </a:p>
            <a:p>
              <a:pPr marL="420984" lvl="1" indent="-210492" algn="l">
                <a:lnSpc>
                  <a:spcPts val="2534"/>
                </a:lnSpc>
                <a:buFont typeface="Arial"/>
                <a:buChar char="•"/>
              </a:pPr>
              <a:r>
                <a:rPr lang="en-US" sz="1949">
                  <a:solidFill>
                    <a:srgbClr val="002217"/>
                  </a:solidFill>
                  <a:latin typeface="Canva Sans"/>
                  <a:ea typeface="Canva Sans"/>
                  <a:cs typeface="Canva Sans"/>
                  <a:sym typeface="Canva Sans"/>
                </a:rPr>
                <a:t>Optimize options based on rank/score</a:t>
              </a:r>
            </a:p>
            <a:p>
              <a:pPr marL="420984" lvl="1" indent="-210492" algn="l">
                <a:lnSpc>
                  <a:spcPts val="2534"/>
                </a:lnSpc>
                <a:buFont typeface="Arial"/>
                <a:buChar char="•"/>
              </a:pPr>
              <a:r>
                <a:rPr lang="en-US" sz="1949">
                  <a:solidFill>
                    <a:srgbClr val="002217"/>
                  </a:solidFill>
                  <a:latin typeface="Canva Sans"/>
                  <a:ea typeface="Canva Sans"/>
                  <a:cs typeface="Canva Sans"/>
                  <a:sym typeface="Canva Sans"/>
                </a:rPr>
                <a:t>Create an explanation</a:t>
              </a:r>
            </a:p>
          </p:txBody>
        </p:sp>
      </p:grpSp>
      <p:grpSp>
        <p:nvGrpSpPr>
          <p:cNvPr id="26" name="Group 25">
            <a:extLst>
              <a:ext uri="{FF2B5EF4-FFF2-40B4-BE49-F238E27FC236}">
                <a16:creationId xmlns:a16="http://schemas.microsoft.com/office/drawing/2014/main" id="{271DBD35-3F1E-E415-3389-AE9978357D03}"/>
              </a:ext>
            </a:extLst>
          </p:cNvPr>
          <p:cNvGrpSpPr/>
          <p:nvPr/>
        </p:nvGrpSpPr>
        <p:grpSpPr>
          <a:xfrm>
            <a:off x="12141687" y="2474125"/>
            <a:ext cx="5023379" cy="7336465"/>
            <a:chOff x="12141687" y="2474125"/>
            <a:chExt cx="5023379" cy="7336465"/>
          </a:xfrm>
        </p:grpSpPr>
        <p:grpSp>
          <p:nvGrpSpPr>
            <p:cNvPr id="9" name="Group 9"/>
            <p:cNvGrpSpPr/>
            <p:nvPr/>
          </p:nvGrpSpPr>
          <p:grpSpPr>
            <a:xfrm>
              <a:off x="12141687" y="2474125"/>
              <a:ext cx="5023379" cy="7336465"/>
              <a:chOff x="0" y="0"/>
              <a:chExt cx="1323030" cy="1932238"/>
            </a:xfrm>
          </p:grpSpPr>
          <p:sp>
            <p:nvSpPr>
              <p:cNvPr id="10" name="Freeform 10"/>
              <p:cNvSpPr/>
              <p:nvPr/>
            </p:nvSpPr>
            <p:spPr>
              <a:xfrm>
                <a:off x="0" y="0"/>
                <a:ext cx="1323030" cy="1932238"/>
              </a:xfrm>
              <a:custGeom>
                <a:avLst/>
                <a:gdLst/>
                <a:ahLst/>
                <a:cxnLst/>
                <a:rect l="l" t="t" r="r" b="b"/>
                <a:pathLst>
                  <a:path w="1323030" h="1932238">
                    <a:moveTo>
                      <a:pt x="24659" y="0"/>
                    </a:moveTo>
                    <a:lnTo>
                      <a:pt x="1298371" y="0"/>
                    </a:lnTo>
                    <a:cubicBezTo>
                      <a:pt x="1304911" y="0"/>
                      <a:pt x="1311183" y="2598"/>
                      <a:pt x="1315807" y="7222"/>
                    </a:cubicBezTo>
                    <a:cubicBezTo>
                      <a:pt x="1320432" y="11847"/>
                      <a:pt x="1323030" y="18119"/>
                      <a:pt x="1323030" y="24659"/>
                    </a:cubicBezTo>
                    <a:lnTo>
                      <a:pt x="1323030" y="1907579"/>
                    </a:lnTo>
                    <a:cubicBezTo>
                      <a:pt x="1323030" y="1914119"/>
                      <a:pt x="1320432" y="1920391"/>
                      <a:pt x="1315807" y="1925015"/>
                    </a:cubicBezTo>
                    <a:cubicBezTo>
                      <a:pt x="1311183" y="1929640"/>
                      <a:pt x="1304911" y="1932238"/>
                      <a:pt x="1298371" y="1932238"/>
                    </a:cubicBezTo>
                    <a:lnTo>
                      <a:pt x="24659" y="1932238"/>
                    </a:lnTo>
                    <a:cubicBezTo>
                      <a:pt x="18119" y="1932238"/>
                      <a:pt x="11847" y="1929640"/>
                      <a:pt x="7222" y="1925015"/>
                    </a:cubicBezTo>
                    <a:cubicBezTo>
                      <a:pt x="2598" y="1920391"/>
                      <a:pt x="0" y="1914119"/>
                      <a:pt x="0" y="1907579"/>
                    </a:cubicBezTo>
                    <a:lnTo>
                      <a:pt x="0" y="24659"/>
                    </a:lnTo>
                    <a:cubicBezTo>
                      <a:pt x="0" y="18119"/>
                      <a:pt x="2598" y="11847"/>
                      <a:pt x="7222" y="7222"/>
                    </a:cubicBezTo>
                    <a:cubicBezTo>
                      <a:pt x="11847" y="2598"/>
                      <a:pt x="18119" y="0"/>
                      <a:pt x="24659" y="0"/>
                    </a:cubicBezTo>
                    <a:close/>
                  </a:path>
                </a:pathLst>
              </a:custGeom>
              <a:solidFill>
                <a:srgbClr val="FFFFFF">
                  <a:alpha val="34902"/>
                </a:srgbClr>
              </a:solidFill>
            </p:spPr>
          </p:sp>
          <p:sp>
            <p:nvSpPr>
              <p:cNvPr id="11" name="TextBox 11"/>
              <p:cNvSpPr txBox="1"/>
              <p:nvPr/>
            </p:nvSpPr>
            <p:spPr>
              <a:xfrm>
                <a:off x="0" y="-28575"/>
                <a:ext cx="1323030" cy="1960813"/>
              </a:xfrm>
              <a:prstGeom prst="rect">
                <a:avLst/>
              </a:prstGeom>
            </p:spPr>
            <p:txBody>
              <a:bodyPr lIns="50800" tIns="50800" rIns="50800" bIns="50800" rtlCol="0" anchor="ctr"/>
              <a:lstStyle/>
              <a:p>
                <a:pPr algn="ctr">
                  <a:lnSpc>
                    <a:spcPts val="3314"/>
                  </a:lnSpc>
                </a:pPr>
                <a:endParaRPr/>
              </a:p>
            </p:txBody>
          </p:sp>
        </p:grpSp>
        <p:grpSp>
          <p:nvGrpSpPr>
            <p:cNvPr id="16" name="Group 16"/>
            <p:cNvGrpSpPr>
              <a:grpSpLocks noChangeAspect="1"/>
            </p:cNvGrpSpPr>
            <p:nvPr/>
          </p:nvGrpSpPr>
          <p:grpSpPr>
            <a:xfrm>
              <a:off x="12970362" y="2592695"/>
              <a:ext cx="3362218" cy="3362204"/>
              <a:chOff x="0" y="0"/>
              <a:chExt cx="6350025" cy="6350000"/>
            </a:xfrm>
          </p:grpSpPr>
          <p:sp>
            <p:nvSpPr>
              <p:cNvPr id="17" name="Freeform 17"/>
              <p:cNvSpPr/>
              <p:nvPr/>
            </p:nvSpPr>
            <p:spPr>
              <a:xfrm rot="48000">
                <a:off x="-44020" y="-44021"/>
                <a:ext cx="6438066" cy="6438041"/>
              </a:xfrm>
              <a:custGeom>
                <a:avLst/>
                <a:gdLst/>
                <a:ahLst/>
                <a:cxnLst/>
                <a:rect l="l" t="t" r="r" b="b"/>
                <a:pathLst>
                  <a:path w="6438066" h="6438041">
                    <a:moveTo>
                      <a:pt x="0" y="88661"/>
                    </a:moveTo>
                    <a:lnTo>
                      <a:pt x="6349406" y="0"/>
                    </a:lnTo>
                    <a:lnTo>
                      <a:pt x="6438066" y="6349381"/>
                    </a:lnTo>
                    <a:lnTo>
                      <a:pt x="88659" y="6438042"/>
                    </a:lnTo>
                    <a:close/>
                  </a:path>
                </a:pathLst>
              </a:custGeom>
              <a:blipFill>
                <a:blip r:embed="rId3"/>
                <a:stretch>
                  <a:fillRect r="-3971" b="-55631"/>
                </a:stretch>
              </a:blipFill>
            </p:spPr>
          </p:sp>
        </p:grpSp>
        <p:sp>
          <p:nvSpPr>
            <p:cNvPr id="20" name="TextBox 20"/>
            <p:cNvSpPr txBox="1"/>
            <p:nvPr/>
          </p:nvSpPr>
          <p:spPr>
            <a:xfrm>
              <a:off x="12249921" y="6113783"/>
              <a:ext cx="4806911" cy="3551238"/>
            </a:xfrm>
            <a:prstGeom prst="rect">
              <a:avLst/>
            </a:prstGeom>
          </p:spPr>
          <p:txBody>
            <a:bodyPr lIns="0" tIns="0" rIns="0" bIns="0" rtlCol="0" anchor="t">
              <a:spAutoFit/>
            </a:bodyPr>
            <a:lstStyle/>
            <a:p>
              <a:pPr algn="ctr">
                <a:lnSpc>
                  <a:spcPts val="3639"/>
                </a:lnSpc>
              </a:pPr>
              <a:r>
                <a:rPr lang="en-US" sz="2799" b="1">
                  <a:solidFill>
                    <a:srgbClr val="314528"/>
                  </a:solidFill>
                  <a:latin typeface="Canva Sans Bold"/>
                  <a:ea typeface="Canva Sans Bold"/>
                  <a:cs typeface="Canva Sans Bold"/>
                  <a:sym typeface="Canva Sans Bold"/>
                </a:rPr>
                <a:t>Ayomika Ajibade</a:t>
              </a:r>
            </a:p>
            <a:p>
              <a:pPr algn="ctr">
                <a:lnSpc>
                  <a:spcPts val="1950"/>
                </a:lnSpc>
                <a:spcBef>
                  <a:spcPct val="0"/>
                </a:spcBef>
              </a:pPr>
              <a:endParaRPr lang="en-US" sz="2799" b="1">
                <a:solidFill>
                  <a:srgbClr val="314528"/>
                </a:solidFill>
                <a:latin typeface="Canva Sans Bold"/>
                <a:ea typeface="Canva Sans Bold"/>
                <a:cs typeface="Canva Sans Bold"/>
                <a:sym typeface="Canva Sans Bold"/>
              </a:endParaRPr>
            </a:p>
            <a:p>
              <a:pPr algn="ctr">
                <a:lnSpc>
                  <a:spcPts val="2534"/>
                </a:lnSpc>
                <a:spcBef>
                  <a:spcPct val="0"/>
                </a:spcBef>
              </a:pPr>
              <a:r>
                <a:rPr lang="en-US" sz="1949" i="1">
                  <a:solidFill>
                    <a:srgbClr val="002217"/>
                  </a:solidFill>
                  <a:latin typeface="Canva Sans Italics"/>
                  <a:ea typeface="Canva Sans Italics"/>
                  <a:cs typeface="Canva Sans Italics"/>
                  <a:sym typeface="Canva Sans Italics"/>
                </a:rPr>
                <a:t>FastAPI, Database &amp; API Design, Cloud Integration</a:t>
              </a:r>
            </a:p>
            <a:p>
              <a:pPr algn="l">
                <a:lnSpc>
                  <a:spcPts val="2534"/>
                </a:lnSpc>
                <a:spcBef>
                  <a:spcPct val="0"/>
                </a:spcBef>
              </a:pPr>
              <a:endParaRPr lang="en-US" sz="1949" i="1">
                <a:solidFill>
                  <a:srgbClr val="002217"/>
                </a:solidFill>
                <a:latin typeface="Canva Sans Italics"/>
                <a:ea typeface="Canva Sans Italics"/>
                <a:cs typeface="Canva Sans Italics"/>
                <a:sym typeface="Canva Sans Italics"/>
              </a:endParaRPr>
            </a:p>
            <a:p>
              <a:pPr algn="l">
                <a:lnSpc>
                  <a:spcPts val="2664"/>
                </a:lnSpc>
                <a:spcBef>
                  <a:spcPct val="0"/>
                </a:spcBef>
              </a:pPr>
              <a:r>
                <a:rPr lang="en-US" sz="2049" b="1">
                  <a:solidFill>
                    <a:srgbClr val="314528"/>
                  </a:solidFill>
                  <a:latin typeface="Canva Sans Bold"/>
                  <a:ea typeface="Canva Sans Bold"/>
                  <a:cs typeface="Canva Sans Bold"/>
                  <a:sym typeface="Canva Sans Bold"/>
                </a:rPr>
                <a:t>Key Responsibilities</a:t>
              </a:r>
            </a:p>
            <a:p>
              <a:pPr algn="l">
                <a:lnSpc>
                  <a:spcPts val="2534"/>
                </a:lnSpc>
                <a:spcBef>
                  <a:spcPct val="0"/>
                </a:spcBef>
              </a:pPr>
              <a:endParaRPr lang="en-US" sz="2049" b="1">
                <a:solidFill>
                  <a:srgbClr val="314528"/>
                </a:solidFill>
                <a:latin typeface="Canva Sans Bold"/>
                <a:ea typeface="Canva Sans Bold"/>
                <a:cs typeface="Canva Sans Bold"/>
                <a:sym typeface="Canva Sans Bold"/>
              </a:endParaRPr>
            </a:p>
            <a:p>
              <a:pPr marL="420984" lvl="1" indent="-210492" algn="l">
                <a:lnSpc>
                  <a:spcPts val="2534"/>
                </a:lnSpc>
                <a:buFont typeface="Arial"/>
                <a:buChar char="•"/>
              </a:pPr>
              <a:r>
                <a:rPr lang="en-US" sz="1949">
                  <a:solidFill>
                    <a:srgbClr val="002217"/>
                  </a:solidFill>
                  <a:latin typeface="Canva Sans"/>
                  <a:ea typeface="Canva Sans"/>
                  <a:cs typeface="Canva Sans"/>
                  <a:sym typeface="Canva Sans"/>
                </a:rPr>
                <a:t>Design API schema</a:t>
              </a:r>
            </a:p>
            <a:p>
              <a:pPr marL="420984" lvl="1" indent="-210492" algn="l">
                <a:lnSpc>
                  <a:spcPts val="2534"/>
                </a:lnSpc>
                <a:buFont typeface="Arial"/>
                <a:buChar char="•"/>
              </a:pPr>
              <a:r>
                <a:rPr lang="en-US" sz="1949">
                  <a:solidFill>
                    <a:srgbClr val="002217"/>
                  </a:solidFill>
                  <a:latin typeface="Canva Sans"/>
                  <a:ea typeface="Canva Sans"/>
                  <a:cs typeface="Canva Sans"/>
                  <a:sym typeface="Canva Sans"/>
                </a:rPr>
                <a:t>Create databases for local &amp; prod</a:t>
              </a:r>
            </a:p>
            <a:p>
              <a:pPr marL="420984" lvl="1" indent="-210492" algn="l">
                <a:lnSpc>
                  <a:spcPts val="2534"/>
                </a:lnSpc>
                <a:buFont typeface="Arial"/>
                <a:buChar char="•"/>
              </a:pPr>
              <a:r>
                <a:rPr lang="en-US" sz="1949">
                  <a:solidFill>
                    <a:srgbClr val="002217"/>
                  </a:solidFill>
                  <a:latin typeface="Canva Sans"/>
                  <a:ea typeface="Canva Sans"/>
                  <a:cs typeface="Canva Sans"/>
                  <a:sym typeface="Canva Sans"/>
                </a:rPr>
                <a:t>Integrate and scale Al solutions for the mobile app</a:t>
              </a:r>
            </a:p>
          </p:txBody>
        </p:sp>
      </p:grpSp>
      <p:sp>
        <p:nvSpPr>
          <p:cNvPr id="21" name="TextBox 21"/>
          <p:cNvSpPr txBox="1"/>
          <p:nvPr/>
        </p:nvSpPr>
        <p:spPr>
          <a:xfrm>
            <a:off x="13572004" y="9782015"/>
            <a:ext cx="4715996" cy="318136"/>
          </a:xfrm>
          <a:prstGeom prst="rect">
            <a:avLst/>
          </a:prstGeom>
        </p:spPr>
        <p:txBody>
          <a:bodyPr lIns="0" tIns="0" rIns="0" bIns="0" rtlCol="0" anchor="t">
            <a:spAutoFit/>
          </a:bodyPr>
          <a:lstStyle/>
          <a:p>
            <a:pPr algn="ctr">
              <a:lnSpc>
                <a:spcPts val="2534"/>
              </a:lnSpc>
              <a:spcBef>
                <a:spcPct val="0"/>
              </a:spcBef>
            </a:pPr>
            <a:r>
              <a:rPr lang="en-US" sz="1949">
                <a:solidFill>
                  <a:srgbClr val="002217"/>
                </a:solidFill>
                <a:latin typeface="Canva Sans"/>
                <a:ea typeface="Canva Sans"/>
                <a:cs typeface="Canva Sans"/>
                <a:sym typeface="Canva Sans"/>
              </a:rPr>
              <a:t>Created by Umair, Sangmin, Ayo</a:t>
            </a:r>
          </a:p>
        </p:txBody>
      </p:sp>
      <p:grpSp>
        <p:nvGrpSpPr>
          <p:cNvPr id="24" name="Group 23">
            <a:extLst>
              <a:ext uri="{FF2B5EF4-FFF2-40B4-BE49-F238E27FC236}">
                <a16:creationId xmlns:a16="http://schemas.microsoft.com/office/drawing/2014/main" id="{E8D8A0D9-3EDB-DAB3-1BC1-290610AC420B}"/>
              </a:ext>
            </a:extLst>
          </p:cNvPr>
          <p:cNvGrpSpPr/>
          <p:nvPr/>
        </p:nvGrpSpPr>
        <p:grpSpPr>
          <a:xfrm>
            <a:off x="6632533" y="2474125"/>
            <a:ext cx="5023379" cy="7336465"/>
            <a:chOff x="6632533" y="2474125"/>
            <a:chExt cx="5023379" cy="7336465"/>
          </a:xfrm>
        </p:grpSpPr>
        <p:grpSp>
          <p:nvGrpSpPr>
            <p:cNvPr id="6" name="Group 6"/>
            <p:cNvGrpSpPr/>
            <p:nvPr/>
          </p:nvGrpSpPr>
          <p:grpSpPr>
            <a:xfrm>
              <a:off x="6632533" y="2474125"/>
              <a:ext cx="5023379" cy="7336465"/>
              <a:chOff x="0" y="0"/>
              <a:chExt cx="1323030" cy="1932238"/>
            </a:xfrm>
          </p:grpSpPr>
          <p:sp>
            <p:nvSpPr>
              <p:cNvPr id="7" name="Freeform 7"/>
              <p:cNvSpPr/>
              <p:nvPr/>
            </p:nvSpPr>
            <p:spPr>
              <a:xfrm>
                <a:off x="0" y="0"/>
                <a:ext cx="1323030" cy="1932238"/>
              </a:xfrm>
              <a:custGeom>
                <a:avLst/>
                <a:gdLst/>
                <a:ahLst/>
                <a:cxnLst/>
                <a:rect l="l" t="t" r="r" b="b"/>
                <a:pathLst>
                  <a:path w="1323030" h="1932238">
                    <a:moveTo>
                      <a:pt x="24659" y="0"/>
                    </a:moveTo>
                    <a:lnTo>
                      <a:pt x="1298371" y="0"/>
                    </a:lnTo>
                    <a:cubicBezTo>
                      <a:pt x="1304911" y="0"/>
                      <a:pt x="1311183" y="2598"/>
                      <a:pt x="1315807" y="7222"/>
                    </a:cubicBezTo>
                    <a:cubicBezTo>
                      <a:pt x="1320432" y="11847"/>
                      <a:pt x="1323030" y="18119"/>
                      <a:pt x="1323030" y="24659"/>
                    </a:cubicBezTo>
                    <a:lnTo>
                      <a:pt x="1323030" y="1907579"/>
                    </a:lnTo>
                    <a:cubicBezTo>
                      <a:pt x="1323030" y="1914119"/>
                      <a:pt x="1320432" y="1920391"/>
                      <a:pt x="1315807" y="1925015"/>
                    </a:cubicBezTo>
                    <a:cubicBezTo>
                      <a:pt x="1311183" y="1929640"/>
                      <a:pt x="1304911" y="1932238"/>
                      <a:pt x="1298371" y="1932238"/>
                    </a:cubicBezTo>
                    <a:lnTo>
                      <a:pt x="24659" y="1932238"/>
                    </a:lnTo>
                    <a:cubicBezTo>
                      <a:pt x="18119" y="1932238"/>
                      <a:pt x="11847" y="1929640"/>
                      <a:pt x="7222" y="1925015"/>
                    </a:cubicBezTo>
                    <a:cubicBezTo>
                      <a:pt x="2598" y="1920391"/>
                      <a:pt x="0" y="1914119"/>
                      <a:pt x="0" y="1907579"/>
                    </a:cubicBezTo>
                    <a:lnTo>
                      <a:pt x="0" y="24659"/>
                    </a:lnTo>
                    <a:cubicBezTo>
                      <a:pt x="0" y="18119"/>
                      <a:pt x="2598" y="11847"/>
                      <a:pt x="7222" y="7222"/>
                    </a:cubicBezTo>
                    <a:cubicBezTo>
                      <a:pt x="11847" y="2598"/>
                      <a:pt x="18119" y="0"/>
                      <a:pt x="24659" y="0"/>
                    </a:cubicBezTo>
                    <a:close/>
                  </a:path>
                </a:pathLst>
              </a:custGeom>
              <a:solidFill>
                <a:srgbClr val="101416"/>
              </a:solidFill>
            </p:spPr>
          </p:sp>
          <p:sp>
            <p:nvSpPr>
              <p:cNvPr id="8" name="TextBox 8"/>
              <p:cNvSpPr txBox="1"/>
              <p:nvPr/>
            </p:nvSpPr>
            <p:spPr>
              <a:xfrm>
                <a:off x="0" y="-28575"/>
                <a:ext cx="1323030" cy="1960813"/>
              </a:xfrm>
              <a:prstGeom prst="rect">
                <a:avLst/>
              </a:prstGeom>
            </p:spPr>
            <p:txBody>
              <a:bodyPr lIns="50800" tIns="50800" rIns="50800" bIns="50800" rtlCol="0" anchor="ctr"/>
              <a:lstStyle/>
              <a:p>
                <a:pPr algn="ctr">
                  <a:lnSpc>
                    <a:spcPts val="3314"/>
                  </a:lnSpc>
                </a:pPr>
                <a:endParaRPr/>
              </a:p>
            </p:txBody>
          </p:sp>
        </p:grpSp>
        <p:grpSp>
          <p:nvGrpSpPr>
            <p:cNvPr id="12" name="Group 12"/>
            <p:cNvGrpSpPr>
              <a:grpSpLocks noChangeAspect="1"/>
            </p:cNvGrpSpPr>
            <p:nvPr/>
          </p:nvGrpSpPr>
          <p:grpSpPr>
            <a:xfrm>
              <a:off x="7473949" y="2592695"/>
              <a:ext cx="3362218" cy="3362204"/>
              <a:chOff x="0" y="0"/>
              <a:chExt cx="6350025" cy="6350000"/>
            </a:xfrm>
          </p:grpSpPr>
          <p:sp>
            <p:nvSpPr>
              <p:cNvPr id="13" name="Freeform 13"/>
              <p:cNvSpPr/>
              <p:nvPr/>
            </p:nvSpPr>
            <p:spPr>
              <a:xfrm>
                <a:off x="0" y="0"/>
                <a:ext cx="6350026" cy="6350000"/>
              </a:xfrm>
              <a:custGeom>
                <a:avLst/>
                <a:gdLst/>
                <a:ahLst/>
                <a:cxnLst/>
                <a:rect l="l" t="t" r="r" b="b"/>
                <a:pathLst>
                  <a:path w="6350026" h="6350000">
                    <a:moveTo>
                      <a:pt x="0" y="0"/>
                    </a:moveTo>
                    <a:lnTo>
                      <a:pt x="6350026" y="0"/>
                    </a:lnTo>
                    <a:lnTo>
                      <a:pt x="6350026" y="6350000"/>
                    </a:lnTo>
                    <a:lnTo>
                      <a:pt x="0" y="6350000"/>
                    </a:lnTo>
                    <a:close/>
                  </a:path>
                </a:pathLst>
              </a:custGeom>
              <a:blipFill>
                <a:blip r:embed="rId4"/>
                <a:stretch>
                  <a:fillRect/>
                </a:stretch>
              </a:blipFill>
            </p:spPr>
          </p:sp>
        </p:grpSp>
        <p:sp>
          <p:nvSpPr>
            <p:cNvPr id="18" name="TextBox 18"/>
            <p:cNvSpPr txBox="1"/>
            <p:nvPr/>
          </p:nvSpPr>
          <p:spPr>
            <a:xfrm>
              <a:off x="6740544" y="6113783"/>
              <a:ext cx="4806911" cy="3551238"/>
            </a:xfrm>
            <a:prstGeom prst="rect">
              <a:avLst/>
            </a:prstGeom>
          </p:spPr>
          <p:txBody>
            <a:bodyPr lIns="0" tIns="0" rIns="0" bIns="0" rtlCol="0" anchor="t">
              <a:spAutoFit/>
            </a:bodyPr>
            <a:lstStyle/>
            <a:p>
              <a:pPr algn="ctr">
                <a:lnSpc>
                  <a:spcPts val="3639"/>
                </a:lnSpc>
              </a:pPr>
              <a:r>
                <a:rPr lang="en-US" sz="2799" b="1" dirty="0">
                  <a:solidFill>
                    <a:srgbClr val="ADE466"/>
                  </a:solidFill>
                  <a:latin typeface="Canva Sans Bold"/>
                  <a:ea typeface="Canva Sans Bold"/>
                  <a:cs typeface="Canva Sans Bold"/>
                  <a:sym typeface="Canva Sans Bold"/>
                </a:rPr>
                <a:t>Umair Dada</a:t>
              </a:r>
            </a:p>
            <a:p>
              <a:pPr algn="ctr">
                <a:lnSpc>
                  <a:spcPts val="1950"/>
                </a:lnSpc>
                <a:spcBef>
                  <a:spcPct val="0"/>
                </a:spcBef>
              </a:pPr>
              <a:endParaRPr lang="en-US" sz="2799" b="1" dirty="0">
                <a:solidFill>
                  <a:srgbClr val="ADE466"/>
                </a:solidFill>
                <a:latin typeface="Canva Sans Bold"/>
                <a:ea typeface="Canva Sans Bold"/>
                <a:cs typeface="Canva Sans Bold"/>
                <a:sym typeface="Canva Sans Bold"/>
              </a:endParaRPr>
            </a:p>
            <a:p>
              <a:pPr algn="ctr">
                <a:lnSpc>
                  <a:spcPts val="2534"/>
                </a:lnSpc>
                <a:spcBef>
                  <a:spcPct val="0"/>
                </a:spcBef>
              </a:pPr>
              <a:r>
                <a:rPr lang="en-US" sz="1949" i="1" dirty="0">
                  <a:solidFill>
                    <a:srgbClr val="FFFFFF"/>
                  </a:solidFill>
                  <a:latin typeface="Canva Sans Italics"/>
                  <a:ea typeface="Canva Sans Italics"/>
                  <a:cs typeface="Canva Sans Italics"/>
                  <a:sym typeface="Canva Sans Italics"/>
                </a:rPr>
                <a:t>React Native Specialist, Node.js, Express</a:t>
              </a:r>
            </a:p>
            <a:p>
              <a:pPr algn="l">
                <a:lnSpc>
                  <a:spcPts val="2534"/>
                </a:lnSpc>
                <a:spcBef>
                  <a:spcPct val="0"/>
                </a:spcBef>
              </a:pPr>
              <a:endParaRPr lang="en-US" sz="1949" i="1" dirty="0">
                <a:solidFill>
                  <a:srgbClr val="FFFFFF"/>
                </a:solidFill>
                <a:latin typeface="Canva Sans Italics"/>
                <a:ea typeface="Canva Sans Italics"/>
                <a:cs typeface="Canva Sans Italics"/>
                <a:sym typeface="Canva Sans Italics"/>
              </a:endParaRPr>
            </a:p>
            <a:p>
              <a:pPr algn="l">
                <a:lnSpc>
                  <a:spcPts val="2664"/>
                </a:lnSpc>
                <a:spcBef>
                  <a:spcPct val="0"/>
                </a:spcBef>
              </a:pPr>
              <a:r>
                <a:rPr lang="en-US" sz="2049" b="1" dirty="0">
                  <a:solidFill>
                    <a:srgbClr val="ADE466"/>
                  </a:solidFill>
                  <a:latin typeface="Canva Sans Bold"/>
                  <a:ea typeface="Canva Sans Bold"/>
                  <a:cs typeface="Canva Sans Bold"/>
                  <a:sym typeface="Canva Sans Bold"/>
                </a:rPr>
                <a:t>Key Responsibilities</a:t>
              </a:r>
            </a:p>
            <a:p>
              <a:pPr algn="l">
                <a:lnSpc>
                  <a:spcPts val="2534"/>
                </a:lnSpc>
                <a:spcBef>
                  <a:spcPct val="0"/>
                </a:spcBef>
              </a:pPr>
              <a:endParaRPr lang="en-US" sz="2049" b="1" dirty="0">
                <a:solidFill>
                  <a:srgbClr val="ADE466"/>
                </a:solidFill>
                <a:latin typeface="Canva Sans Bold"/>
                <a:ea typeface="Canva Sans Bold"/>
                <a:cs typeface="Canva Sans Bold"/>
                <a:sym typeface="Canva Sans Bold"/>
              </a:endParaRPr>
            </a:p>
            <a:p>
              <a:pPr marL="420984" lvl="1" indent="-210492" algn="l">
                <a:lnSpc>
                  <a:spcPts val="2534"/>
                </a:lnSpc>
                <a:buFont typeface="Arial"/>
                <a:buChar char="•"/>
              </a:pPr>
              <a:r>
                <a:rPr lang="en-US" sz="1949" dirty="0">
                  <a:solidFill>
                    <a:srgbClr val="FFFFFF"/>
                  </a:solidFill>
                  <a:latin typeface="Canva Sans"/>
                  <a:ea typeface="Canva Sans"/>
                  <a:cs typeface="Canva Sans"/>
                  <a:sym typeface="Canva Sans"/>
                </a:rPr>
                <a:t>Lead team &amp; milestones</a:t>
              </a:r>
            </a:p>
            <a:p>
              <a:pPr marL="420984" lvl="1" indent="-210492" algn="l">
                <a:lnSpc>
                  <a:spcPts val="2534"/>
                </a:lnSpc>
                <a:buFont typeface="Arial"/>
                <a:buChar char="•"/>
              </a:pPr>
              <a:r>
                <a:rPr lang="en-US" sz="1949" dirty="0">
                  <a:solidFill>
                    <a:srgbClr val="FFFFFF"/>
                  </a:solidFill>
                  <a:latin typeface="Canva Sans"/>
                  <a:ea typeface="Canva Sans"/>
                  <a:cs typeface="Canva Sans"/>
                  <a:sym typeface="Canva Sans"/>
                </a:rPr>
                <a:t>Build React Native app</a:t>
              </a:r>
            </a:p>
            <a:p>
              <a:pPr marL="420984" lvl="1" indent="-210492" algn="l">
                <a:lnSpc>
                  <a:spcPts val="2534"/>
                </a:lnSpc>
                <a:buFont typeface="Arial"/>
                <a:buChar char="•"/>
              </a:pPr>
              <a:r>
                <a:rPr lang="en-US" sz="1949" dirty="0">
                  <a:solidFill>
                    <a:srgbClr val="FFFFFF"/>
                  </a:solidFill>
                  <a:latin typeface="Canva Sans"/>
                  <a:ea typeface="Canva Sans"/>
                  <a:cs typeface="Canva Sans"/>
                  <a:sym typeface="Canva Sans"/>
                </a:rPr>
                <a:t>Manage Node.js gateway</a:t>
              </a:r>
            </a:p>
            <a:p>
              <a:pPr marL="420984" lvl="1" indent="-210492" algn="l">
                <a:lnSpc>
                  <a:spcPts val="2534"/>
                </a:lnSpc>
                <a:buFont typeface="Arial"/>
                <a:buChar char="•"/>
              </a:pPr>
              <a:r>
                <a:rPr lang="en-US" sz="1949" dirty="0">
                  <a:solidFill>
                    <a:srgbClr val="FFFFFF"/>
                  </a:solidFill>
                  <a:latin typeface="Canva Sans"/>
                  <a:ea typeface="Canva Sans"/>
                  <a:cs typeface="Canva Sans"/>
                  <a:sym typeface="Canva Sans"/>
                </a:rPr>
                <a:t>Handle testing &amp; demo</a:t>
              </a:r>
            </a:p>
          </p:txBody>
        </p:sp>
        <p:sp>
          <p:nvSpPr>
            <p:cNvPr id="22" name="Freeform 22"/>
            <p:cNvSpPr/>
            <p:nvPr/>
          </p:nvSpPr>
          <p:spPr>
            <a:xfrm>
              <a:off x="7706581" y="6182350"/>
              <a:ext cx="313410" cy="337519"/>
            </a:xfrm>
            <a:custGeom>
              <a:avLst/>
              <a:gdLst/>
              <a:ahLst/>
              <a:cxnLst/>
              <a:rect l="l" t="t" r="r" b="b"/>
              <a:pathLst>
                <a:path w="313410" h="337519">
                  <a:moveTo>
                    <a:pt x="0" y="0"/>
                  </a:moveTo>
                  <a:lnTo>
                    <a:pt x="313410" y="0"/>
                  </a:lnTo>
                  <a:lnTo>
                    <a:pt x="313410" y="337519"/>
                  </a:lnTo>
                  <a:lnTo>
                    <a:pt x="0" y="337519"/>
                  </a:lnTo>
                  <a:lnTo>
                    <a:pt x="0" y="0"/>
                  </a:lnTo>
                  <a:close/>
                </a:path>
              </a:pathLst>
            </a:custGeom>
            <a:blipFill>
              <a:blip r:embed="rId5"/>
              <a:stretch>
                <a:fillRect l="-104548" t="-64936" r="-105941" b="-123375"/>
              </a:stretch>
            </a:blipFill>
          </p:spPr>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dissolve">
                                      <p:cBhvr>
                                        <p:cTn id="11" dur="500"/>
                                        <p:tgtEl>
                                          <p:spTgt spid="25"/>
                                        </p:tgtEl>
                                      </p:cBhvr>
                                    </p:animEffect>
                                  </p:childTnLst>
                                </p:cTn>
                              </p:par>
                            </p:childTnLst>
                          </p:cTn>
                        </p:par>
                        <p:par>
                          <p:cTn id="12" fill="hold">
                            <p:stCondLst>
                              <p:cond delay="1000"/>
                            </p:stCondLst>
                            <p:childTnLst>
                              <p:par>
                                <p:cTn id="13" presetID="5" presetClass="entr" presetSubtype="10"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checkerboard(across)">
                                      <p:cBhvr>
                                        <p:cTn id="1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sp>
        <p:nvSpPr>
          <p:cNvPr id="21" name="Freeform 2">
            <a:extLst>
              <a:ext uri="{FF2B5EF4-FFF2-40B4-BE49-F238E27FC236}">
                <a16:creationId xmlns:a16="http://schemas.microsoft.com/office/drawing/2014/main" id="{C135D7FE-7E6B-8717-136E-4007FE138438}"/>
              </a:ext>
            </a:extLst>
          </p:cNvPr>
          <p:cNvSpPr/>
          <p:nvPr/>
        </p:nvSpPr>
        <p:spPr>
          <a:xfrm>
            <a:off x="10697371" y="368952"/>
            <a:ext cx="6421936" cy="9918048"/>
          </a:xfrm>
          <a:custGeom>
            <a:avLst/>
            <a:gdLst/>
            <a:ahLst/>
            <a:cxnLst/>
            <a:rect l="l" t="t" r="r" b="b"/>
            <a:pathLst>
              <a:path w="6421936" h="9918048">
                <a:moveTo>
                  <a:pt x="0" y="0"/>
                </a:moveTo>
                <a:lnTo>
                  <a:pt x="6421936" y="0"/>
                </a:lnTo>
                <a:lnTo>
                  <a:pt x="6421936" y="9918048"/>
                </a:lnTo>
                <a:lnTo>
                  <a:pt x="0" y="9918048"/>
                </a:lnTo>
                <a:lnTo>
                  <a:pt x="0" y="0"/>
                </a:lnTo>
                <a:close/>
              </a:path>
            </a:pathLst>
          </a:custGeom>
          <a:blipFill>
            <a:blip r:embed="rId2"/>
            <a:stretch>
              <a:fillRect/>
            </a:stretch>
          </a:blipFill>
        </p:spPr>
      </p:sp>
      <p:sp>
        <p:nvSpPr>
          <p:cNvPr id="22" name="TextBox 3">
            <a:extLst>
              <a:ext uri="{FF2B5EF4-FFF2-40B4-BE49-F238E27FC236}">
                <a16:creationId xmlns:a16="http://schemas.microsoft.com/office/drawing/2014/main" id="{1CC0B8CA-8FD4-DE21-6855-63908BEA930F}"/>
              </a:ext>
            </a:extLst>
          </p:cNvPr>
          <p:cNvSpPr txBox="1"/>
          <p:nvPr/>
        </p:nvSpPr>
        <p:spPr>
          <a:xfrm>
            <a:off x="762000" y="1162050"/>
            <a:ext cx="16208483" cy="963930"/>
          </a:xfrm>
          <a:prstGeom prst="rect">
            <a:avLst/>
          </a:prstGeom>
        </p:spPr>
        <p:txBody>
          <a:bodyPr lIns="0" tIns="0" rIns="0" bIns="0" rtlCol="0" anchor="t">
            <a:spAutoFit/>
          </a:bodyPr>
          <a:lstStyle/>
          <a:p>
            <a:pPr marL="0" lvl="0" indent="0" algn="l">
              <a:lnSpc>
                <a:spcPts val="7200"/>
              </a:lnSpc>
            </a:pPr>
            <a:r>
              <a:rPr lang="en-US" sz="7200" b="1" spc="-72" dirty="0">
                <a:solidFill>
                  <a:srgbClr val="002217"/>
                </a:solidFill>
                <a:latin typeface="DM Sans Bold"/>
                <a:ea typeface="DM Sans Bold"/>
                <a:cs typeface="DM Sans Bold"/>
                <a:sym typeface="DM Sans Bold"/>
              </a:rPr>
              <a:t> Progress #1 - Frontend</a:t>
            </a:r>
          </a:p>
        </p:txBody>
      </p:sp>
      <p:sp>
        <p:nvSpPr>
          <p:cNvPr id="23" name="TextBox 4">
            <a:extLst>
              <a:ext uri="{FF2B5EF4-FFF2-40B4-BE49-F238E27FC236}">
                <a16:creationId xmlns:a16="http://schemas.microsoft.com/office/drawing/2014/main" id="{A7BD4166-4D37-6DF8-E398-54FD97BB99A4}"/>
              </a:ext>
            </a:extLst>
          </p:cNvPr>
          <p:cNvSpPr txBox="1"/>
          <p:nvPr/>
        </p:nvSpPr>
        <p:spPr>
          <a:xfrm>
            <a:off x="1028700" y="2954745"/>
            <a:ext cx="8548841" cy="2510791"/>
          </a:xfrm>
          <a:prstGeom prst="rect">
            <a:avLst/>
          </a:prstGeom>
        </p:spPr>
        <p:txBody>
          <a:bodyPr lIns="0" tIns="0" rIns="0" bIns="0" rtlCol="0" anchor="t">
            <a:spAutoFit/>
          </a:bodyPr>
          <a:lstStyle/>
          <a:p>
            <a:pPr algn="just">
              <a:lnSpc>
                <a:spcPts val="3314"/>
              </a:lnSpc>
            </a:pPr>
            <a:r>
              <a:rPr lang="en-US" sz="2549" dirty="0">
                <a:solidFill>
                  <a:srgbClr val="002217"/>
                </a:solidFill>
                <a:latin typeface="Canva Sans"/>
                <a:ea typeface="Canva Sans"/>
                <a:cs typeface="Canva Sans"/>
                <a:sym typeface="Canva Sans"/>
              </a:rPr>
              <a:t>Since the app isn’t fully deployed yet, we prepared a mock payment flow. The user can walk through selecting a package, proceeding to payment, and seeing a confirmation screen. This simulates how real payments (like card or wallet) will be integrated in future stages.</a:t>
            </a:r>
          </a:p>
        </p:txBody>
      </p:sp>
      <p:sp>
        <p:nvSpPr>
          <p:cNvPr id="24" name="TextBox 5">
            <a:extLst>
              <a:ext uri="{FF2B5EF4-FFF2-40B4-BE49-F238E27FC236}">
                <a16:creationId xmlns:a16="http://schemas.microsoft.com/office/drawing/2014/main" id="{7155CA12-0FD7-97AD-BD72-2C0BAC0358A3}"/>
              </a:ext>
            </a:extLst>
          </p:cNvPr>
          <p:cNvSpPr txBox="1"/>
          <p:nvPr/>
        </p:nvSpPr>
        <p:spPr>
          <a:xfrm>
            <a:off x="1028700" y="2444122"/>
            <a:ext cx="8182081" cy="366395"/>
          </a:xfrm>
          <a:prstGeom prst="rect">
            <a:avLst/>
          </a:prstGeom>
        </p:spPr>
        <p:txBody>
          <a:bodyPr lIns="0" tIns="0" rIns="0" bIns="0" rtlCol="0" anchor="t">
            <a:spAutoFit/>
          </a:bodyPr>
          <a:lstStyle/>
          <a:p>
            <a:pPr marL="0" lvl="0" indent="0" algn="l">
              <a:lnSpc>
                <a:spcPts val="2799"/>
              </a:lnSpc>
            </a:pPr>
            <a:r>
              <a:rPr lang="en-US" sz="2799" b="1">
                <a:solidFill>
                  <a:srgbClr val="002217"/>
                </a:solidFill>
                <a:latin typeface="Canva Sans Bold"/>
                <a:ea typeface="Canva Sans Bold"/>
                <a:cs typeface="Canva Sans Bold"/>
                <a:sym typeface="Canva Sans Bold"/>
              </a:rPr>
              <a:t>Mock Payment Simulation</a:t>
            </a:r>
          </a:p>
        </p:txBody>
      </p:sp>
      <p:sp>
        <p:nvSpPr>
          <p:cNvPr id="25" name="TextBox 6">
            <a:extLst>
              <a:ext uri="{FF2B5EF4-FFF2-40B4-BE49-F238E27FC236}">
                <a16:creationId xmlns:a16="http://schemas.microsoft.com/office/drawing/2014/main" id="{B0B5336D-98DA-9F17-5BA7-F1DF35D36CB0}"/>
              </a:ext>
            </a:extLst>
          </p:cNvPr>
          <p:cNvSpPr txBox="1"/>
          <p:nvPr/>
        </p:nvSpPr>
        <p:spPr>
          <a:xfrm>
            <a:off x="1028700" y="6565990"/>
            <a:ext cx="8220895" cy="2510791"/>
          </a:xfrm>
          <a:prstGeom prst="rect">
            <a:avLst/>
          </a:prstGeom>
        </p:spPr>
        <p:txBody>
          <a:bodyPr lIns="0" tIns="0" rIns="0" bIns="0" rtlCol="0" anchor="t">
            <a:spAutoFit/>
          </a:bodyPr>
          <a:lstStyle/>
          <a:p>
            <a:pPr algn="just">
              <a:lnSpc>
                <a:spcPts val="3314"/>
              </a:lnSpc>
            </a:pPr>
            <a:r>
              <a:rPr lang="en-US" sz="2549">
                <a:solidFill>
                  <a:srgbClr val="002217"/>
                </a:solidFill>
                <a:latin typeface="Canva Sans"/>
                <a:ea typeface="Canva Sans"/>
                <a:cs typeface="Canva Sans"/>
                <a:sym typeface="Canva Sans"/>
              </a:rPr>
              <a:t>The goal for this checkpoint was to make sure we have working user flows to show in the app, even if they’re backed by mock data. This way, we can present login, trip planning, and payment as complete experiences while the actual backend gets built.</a:t>
            </a:r>
          </a:p>
        </p:txBody>
      </p:sp>
      <p:sp>
        <p:nvSpPr>
          <p:cNvPr id="26" name="TextBox 7">
            <a:extLst>
              <a:ext uri="{FF2B5EF4-FFF2-40B4-BE49-F238E27FC236}">
                <a16:creationId xmlns:a16="http://schemas.microsoft.com/office/drawing/2014/main" id="{22047FE7-986D-0A03-481D-270BAE5E8D65}"/>
              </a:ext>
            </a:extLst>
          </p:cNvPr>
          <p:cNvSpPr txBox="1"/>
          <p:nvPr/>
        </p:nvSpPr>
        <p:spPr>
          <a:xfrm>
            <a:off x="1028700" y="6055368"/>
            <a:ext cx="8220895" cy="366395"/>
          </a:xfrm>
          <a:prstGeom prst="rect">
            <a:avLst/>
          </a:prstGeom>
        </p:spPr>
        <p:txBody>
          <a:bodyPr lIns="0" tIns="0" rIns="0" bIns="0" rtlCol="0" anchor="t">
            <a:spAutoFit/>
          </a:bodyPr>
          <a:lstStyle/>
          <a:p>
            <a:pPr marL="0" lvl="0" indent="0" algn="l">
              <a:lnSpc>
                <a:spcPts val="2799"/>
              </a:lnSpc>
              <a:spcBef>
                <a:spcPct val="0"/>
              </a:spcBef>
            </a:pPr>
            <a:r>
              <a:rPr lang="en-US" sz="2799" b="1">
                <a:solidFill>
                  <a:srgbClr val="002217"/>
                </a:solidFill>
                <a:latin typeface="Canva Sans Bold"/>
                <a:ea typeface="Canva Sans Bold"/>
                <a:cs typeface="Canva Sans Bold"/>
                <a:sym typeface="Canva Sans Bold"/>
              </a:rPr>
              <a:t>Focu</a:t>
            </a:r>
            <a:r>
              <a:rPr lang="en-US" sz="2799" b="1" u="none" strike="noStrike">
                <a:solidFill>
                  <a:srgbClr val="002217"/>
                </a:solidFill>
                <a:latin typeface="Canva Sans Bold"/>
                <a:ea typeface="Canva Sans Bold"/>
                <a:cs typeface="Canva Sans Bold"/>
                <a:sym typeface="Canva Sans Bold"/>
              </a:rPr>
              <a:t>s on Demo Readiness</a:t>
            </a:r>
          </a:p>
        </p:txBody>
      </p:sp>
      <p:sp>
        <p:nvSpPr>
          <p:cNvPr id="27" name="TextBox 8">
            <a:extLst>
              <a:ext uri="{FF2B5EF4-FFF2-40B4-BE49-F238E27FC236}">
                <a16:creationId xmlns:a16="http://schemas.microsoft.com/office/drawing/2014/main" id="{C6A6B340-108F-E841-6D2E-7FBAF6315CFA}"/>
              </a:ext>
            </a:extLst>
          </p:cNvPr>
          <p:cNvSpPr txBox="1"/>
          <p:nvPr/>
        </p:nvSpPr>
        <p:spPr>
          <a:xfrm>
            <a:off x="1157479" y="9615962"/>
            <a:ext cx="4715996" cy="370206"/>
          </a:xfrm>
          <a:prstGeom prst="rect">
            <a:avLst/>
          </a:prstGeom>
        </p:spPr>
        <p:txBody>
          <a:bodyPr lIns="0" tIns="0" rIns="0" bIns="0" rtlCol="0" anchor="t">
            <a:spAutoFit/>
          </a:bodyPr>
          <a:lstStyle/>
          <a:p>
            <a:pPr algn="l">
              <a:lnSpc>
                <a:spcPts val="3054"/>
              </a:lnSpc>
              <a:spcBef>
                <a:spcPct val="0"/>
              </a:spcBef>
            </a:pPr>
            <a:r>
              <a:rPr lang="en-US" sz="2349">
                <a:solidFill>
                  <a:srgbClr val="002217"/>
                </a:solidFill>
                <a:latin typeface="Canva Sans"/>
                <a:ea typeface="Canva Sans"/>
                <a:cs typeface="Canva Sans"/>
                <a:sym typeface="Canva Sans"/>
              </a:rPr>
              <a:t>Created by Umair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sp>
        <p:nvSpPr>
          <p:cNvPr id="14" name="Freeform 2">
            <a:extLst>
              <a:ext uri="{FF2B5EF4-FFF2-40B4-BE49-F238E27FC236}">
                <a16:creationId xmlns:a16="http://schemas.microsoft.com/office/drawing/2014/main" id="{DA30336D-57C1-2C69-17AD-97D1774C7086}"/>
              </a:ext>
            </a:extLst>
          </p:cNvPr>
          <p:cNvSpPr/>
          <p:nvPr/>
        </p:nvSpPr>
        <p:spPr>
          <a:xfrm>
            <a:off x="11066424" y="1584360"/>
            <a:ext cx="6192876" cy="5300373"/>
          </a:xfrm>
          <a:custGeom>
            <a:avLst/>
            <a:gdLst/>
            <a:ahLst/>
            <a:cxnLst/>
            <a:rect l="l" t="t" r="r" b="b"/>
            <a:pathLst>
              <a:path w="6192876" h="5300373">
                <a:moveTo>
                  <a:pt x="0" y="0"/>
                </a:moveTo>
                <a:lnTo>
                  <a:pt x="6192876" y="0"/>
                </a:lnTo>
                <a:lnTo>
                  <a:pt x="6192876" y="5300373"/>
                </a:lnTo>
                <a:lnTo>
                  <a:pt x="0" y="5300373"/>
                </a:lnTo>
                <a:lnTo>
                  <a:pt x="0" y="0"/>
                </a:lnTo>
                <a:close/>
              </a:path>
            </a:pathLst>
          </a:custGeom>
          <a:blipFill>
            <a:blip r:embed="rId3"/>
            <a:stretch>
              <a:fillRect/>
            </a:stretch>
          </a:blipFill>
        </p:spPr>
      </p:sp>
      <p:grpSp>
        <p:nvGrpSpPr>
          <p:cNvPr id="15" name="Group 3">
            <a:extLst>
              <a:ext uri="{FF2B5EF4-FFF2-40B4-BE49-F238E27FC236}">
                <a16:creationId xmlns:a16="http://schemas.microsoft.com/office/drawing/2014/main" id="{34143FDE-1034-178D-103D-FDD3D643DDB4}"/>
              </a:ext>
            </a:extLst>
          </p:cNvPr>
          <p:cNvGrpSpPr/>
          <p:nvPr/>
        </p:nvGrpSpPr>
        <p:grpSpPr>
          <a:xfrm>
            <a:off x="1028700" y="7258713"/>
            <a:ext cx="16230600" cy="1999587"/>
            <a:chOff x="0" y="0"/>
            <a:chExt cx="21640800" cy="2666116"/>
          </a:xfrm>
        </p:grpSpPr>
        <p:sp>
          <p:nvSpPr>
            <p:cNvPr id="16" name="Freeform 4">
              <a:extLst>
                <a:ext uri="{FF2B5EF4-FFF2-40B4-BE49-F238E27FC236}">
                  <a16:creationId xmlns:a16="http://schemas.microsoft.com/office/drawing/2014/main" id="{88333E43-5DAC-4894-DF9D-693912ABE3D8}"/>
                </a:ext>
              </a:extLst>
            </p:cNvPr>
            <p:cNvSpPr/>
            <p:nvPr/>
          </p:nvSpPr>
          <p:spPr>
            <a:xfrm>
              <a:off x="29489" y="0"/>
              <a:ext cx="21611311" cy="1539806"/>
            </a:xfrm>
            <a:custGeom>
              <a:avLst/>
              <a:gdLst/>
              <a:ahLst/>
              <a:cxnLst/>
              <a:rect l="l" t="t" r="r" b="b"/>
              <a:pathLst>
                <a:path w="21611311" h="1539806">
                  <a:moveTo>
                    <a:pt x="0" y="0"/>
                  </a:moveTo>
                  <a:lnTo>
                    <a:pt x="21611311" y="0"/>
                  </a:lnTo>
                  <a:lnTo>
                    <a:pt x="21611311" y="1539806"/>
                  </a:lnTo>
                  <a:lnTo>
                    <a:pt x="0" y="1539806"/>
                  </a:lnTo>
                  <a:lnTo>
                    <a:pt x="0" y="0"/>
                  </a:lnTo>
                  <a:close/>
                </a:path>
              </a:pathLst>
            </a:custGeom>
            <a:blipFill>
              <a:blip r:embed="rId4"/>
              <a:stretch>
                <a:fillRect/>
              </a:stretch>
            </a:blipFill>
          </p:spPr>
        </p:sp>
        <p:sp>
          <p:nvSpPr>
            <p:cNvPr id="17" name="Freeform 5">
              <a:extLst>
                <a:ext uri="{FF2B5EF4-FFF2-40B4-BE49-F238E27FC236}">
                  <a16:creationId xmlns:a16="http://schemas.microsoft.com/office/drawing/2014/main" id="{ABFD6501-1DC7-5046-81C7-58EAD6A7E48C}"/>
                </a:ext>
              </a:extLst>
            </p:cNvPr>
            <p:cNvSpPr/>
            <p:nvPr/>
          </p:nvSpPr>
          <p:spPr>
            <a:xfrm>
              <a:off x="0" y="1882706"/>
              <a:ext cx="21611311" cy="783410"/>
            </a:xfrm>
            <a:custGeom>
              <a:avLst/>
              <a:gdLst/>
              <a:ahLst/>
              <a:cxnLst/>
              <a:rect l="l" t="t" r="r" b="b"/>
              <a:pathLst>
                <a:path w="21611311" h="783410">
                  <a:moveTo>
                    <a:pt x="0" y="0"/>
                  </a:moveTo>
                  <a:lnTo>
                    <a:pt x="21611311" y="0"/>
                  </a:lnTo>
                  <a:lnTo>
                    <a:pt x="21611311" y="783410"/>
                  </a:lnTo>
                  <a:lnTo>
                    <a:pt x="0" y="783410"/>
                  </a:lnTo>
                  <a:lnTo>
                    <a:pt x="0" y="0"/>
                  </a:lnTo>
                  <a:close/>
                </a:path>
              </a:pathLst>
            </a:custGeom>
            <a:blipFill>
              <a:blip r:embed="rId5"/>
              <a:stretch>
                <a:fillRect/>
              </a:stretch>
            </a:blipFill>
          </p:spPr>
        </p:sp>
      </p:grpSp>
      <p:sp>
        <p:nvSpPr>
          <p:cNvPr id="18" name="TextBox 6">
            <a:extLst>
              <a:ext uri="{FF2B5EF4-FFF2-40B4-BE49-F238E27FC236}">
                <a16:creationId xmlns:a16="http://schemas.microsoft.com/office/drawing/2014/main" id="{840CBB6B-B560-8998-D273-C76C9B7B72AE}"/>
              </a:ext>
            </a:extLst>
          </p:cNvPr>
          <p:cNvSpPr txBox="1"/>
          <p:nvPr/>
        </p:nvSpPr>
        <p:spPr>
          <a:xfrm>
            <a:off x="1050817" y="1162050"/>
            <a:ext cx="16208483" cy="963930"/>
          </a:xfrm>
          <a:prstGeom prst="rect">
            <a:avLst/>
          </a:prstGeom>
        </p:spPr>
        <p:txBody>
          <a:bodyPr lIns="0" tIns="0" rIns="0" bIns="0" rtlCol="0" anchor="t">
            <a:spAutoFit/>
          </a:bodyPr>
          <a:lstStyle/>
          <a:p>
            <a:pPr marL="0" lvl="0" indent="0" algn="l">
              <a:lnSpc>
                <a:spcPts val="7200"/>
              </a:lnSpc>
            </a:pPr>
            <a:r>
              <a:rPr lang="en-US" sz="7200" b="1" spc="-72" dirty="0">
                <a:solidFill>
                  <a:srgbClr val="002217"/>
                </a:solidFill>
                <a:latin typeface="DM Sans Bold"/>
                <a:ea typeface="DM Sans Bold"/>
                <a:cs typeface="DM Sans Bold"/>
                <a:sym typeface="DM Sans Bold"/>
              </a:rPr>
              <a:t> Progress #2 - NLP</a:t>
            </a:r>
          </a:p>
        </p:txBody>
      </p:sp>
      <p:grpSp>
        <p:nvGrpSpPr>
          <p:cNvPr id="19" name="Group 7">
            <a:extLst>
              <a:ext uri="{FF2B5EF4-FFF2-40B4-BE49-F238E27FC236}">
                <a16:creationId xmlns:a16="http://schemas.microsoft.com/office/drawing/2014/main" id="{7A515D89-37D3-C89C-683B-E20C8DC34B83}"/>
              </a:ext>
            </a:extLst>
          </p:cNvPr>
          <p:cNvGrpSpPr/>
          <p:nvPr/>
        </p:nvGrpSpPr>
        <p:grpSpPr>
          <a:xfrm>
            <a:off x="1028700" y="2386972"/>
            <a:ext cx="9244326" cy="4174875"/>
            <a:chOff x="0" y="0"/>
            <a:chExt cx="12325769" cy="5566500"/>
          </a:xfrm>
        </p:grpSpPr>
        <p:sp>
          <p:nvSpPr>
            <p:cNvPr id="20" name="TextBox 8">
              <a:extLst>
                <a:ext uri="{FF2B5EF4-FFF2-40B4-BE49-F238E27FC236}">
                  <a16:creationId xmlns:a16="http://schemas.microsoft.com/office/drawing/2014/main" id="{8BF37C16-0574-5437-3C69-A9D9CEBD6ACF}"/>
                </a:ext>
              </a:extLst>
            </p:cNvPr>
            <p:cNvSpPr txBox="1"/>
            <p:nvPr/>
          </p:nvSpPr>
          <p:spPr>
            <a:xfrm>
              <a:off x="0" y="869784"/>
              <a:ext cx="12325769" cy="4696716"/>
            </a:xfrm>
            <a:prstGeom prst="rect">
              <a:avLst/>
            </a:prstGeom>
          </p:spPr>
          <p:txBody>
            <a:bodyPr lIns="0" tIns="0" rIns="0" bIns="0" rtlCol="0" anchor="t">
              <a:spAutoFit/>
            </a:bodyPr>
            <a:lstStyle/>
            <a:p>
              <a:pPr algn="just">
                <a:lnSpc>
                  <a:spcPts val="4038"/>
                </a:lnSpc>
              </a:pPr>
              <a:r>
                <a:rPr lang="en-US" sz="3106">
                  <a:solidFill>
                    <a:srgbClr val="002217"/>
                  </a:solidFill>
                  <a:latin typeface="Canva Sans"/>
                  <a:ea typeface="Canva Sans"/>
                  <a:cs typeface="Canva Sans"/>
                  <a:sym typeface="Canva Sans"/>
                </a:rPr>
                <a:t>This service will take the parsed information and remodel it into JSON that each API requires.</a:t>
              </a:r>
            </a:p>
            <a:p>
              <a:pPr algn="just">
                <a:lnSpc>
                  <a:spcPts val="4038"/>
                </a:lnSpc>
              </a:pPr>
              <a:endParaRPr lang="en-US" sz="3106">
                <a:solidFill>
                  <a:srgbClr val="002217"/>
                </a:solidFill>
                <a:latin typeface="Canva Sans"/>
                <a:ea typeface="Canva Sans"/>
                <a:cs typeface="Canva Sans"/>
                <a:sym typeface="Canva Sans"/>
              </a:endParaRPr>
            </a:p>
            <a:p>
              <a:pPr marL="670777" lvl="1" indent="-335389" algn="just">
                <a:lnSpc>
                  <a:spcPts val="4038"/>
                </a:lnSpc>
                <a:buFont typeface="Arial"/>
                <a:buChar char="•"/>
              </a:pPr>
              <a:r>
                <a:rPr lang="en-US" sz="3106">
                  <a:solidFill>
                    <a:srgbClr val="002217"/>
                  </a:solidFill>
                  <a:latin typeface="Canva Sans"/>
                  <a:ea typeface="Canva Sans"/>
                  <a:cs typeface="Canva Sans"/>
                  <a:sym typeface="Canva Sans"/>
                </a:rPr>
                <a:t>Flight - Expedia | Amadeus</a:t>
              </a:r>
            </a:p>
            <a:p>
              <a:pPr marL="670777" lvl="1" indent="-335389" algn="just">
                <a:lnSpc>
                  <a:spcPts val="4038"/>
                </a:lnSpc>
                <a:buFont typeface="Arial"/>
                <a:buChar char="•"/>
              </a:pPr>
              <a:r>
                <a:rPr lang="en-US" sz="3106">
                  <a:solidFill>
                    <a:srgbClr val="002217"/>
                  </a:solidFill>
                  <a:latin typeface="Canva Sans"/>
                  <a:ea typeface="Canva Sans"/>
                  <a:cs typeface="Canva Sans"/>
                  <a:sym typeface="Canva Sans"/>
                </a:rPr>
                <a:t>Hotel - Booking | Amadeus</a:t>
              </a:r>
            </a:p>
            <a:p>
              <a:pPr marL="670777" lvl="1" indent="-335389" algn="just">
                <a:lnSpc>
                  <a:spcPts val="4038"/>
                </a:lnSpc>
                <a:buFont typeface="Arial"/>
                <a:buChar char="•"/>
              </a:pPr>
              <a:r>
                <a:rPr lang="en-US" sz="3106">
                  <a:solidFill>
                    <a:srgbClr val="002217"/>
                  </a:solidFill>
                  <a:latin typeface="Canva Sans"/>
                  <a:ea typeface="Canva Sans"/>
                  <a:cs typeface="Canva Sans"/>
                  <a:sym typeface="Canva Sans"/>
                </a:rPr>
                <a:t>Car - Expedia | Hertz | Amadeus</a:t>
              </a:r>
            </a:p>
            <a:p>
              <a:pPr marL="670777" lvl="1" indent="-335389" algn="just">
                <a:lnSpc>
                  <a:spcPts val="4038"/>
                </a:lnSpc>
                <a:buFont typeface="Arial"/>
                <a:buChar char="•"/>
              </a:pPr>
              <a:r>
                <a:rPr lang="en-US" sz="3106">
                  <a:solidFill>
                    <a:srgbClr val="002217"/>
                  </a:solidFill>
                  <a:latin typeface="Canva Sans"/>
                  <a:ea typeface="Canva Sans"/>
                  <a:cs typeface="Canva Sans"/>
                  <a:sym typeface="Canva Sans"/>
                </a:rPr>
                <a:t>Attraction - Tiqets |Amadeus</a:t>
              </a:r>
            </a:p>
          </p:txBody>
        </p:sp>
        <p:sp>
          <p:nvSpPr>
            <p:cNvPr id="21" name="TextBox 9">
              <a:extLst>
                <a:ext uri="{FF2B5EF4-FFF2-40B4-BE49-F238E27FC236}">
                  <a16:creationId xmlns:a16="http://schemas.microsoft.com/office/drawing/2014/main" id="{6D8776EB-8468-CFD1-805E-5FD739A99970}"/>
                </a:ext>
              </a:extLst>
            </p:cNvPr>
            <p:cNvSpPr txBox="1"/>
            <p:nvPr/>
          </p:nvSpPr>
          <p:spPr>
            <a:xfrm>
              <a:off x="0" y="66675"/>
              <a:ext cx="12325769" cy="607718"/>
            </a:xfrm>
            <a:prstGeom prst="rect">
              <a:avLst/>
            </a:prstGeom>
          </p:spPr>
          <p:txBody>
            <a:bodyPr lIns="0" tIns="0" rIns="0" bIns="0" rtlCol="0" anchor="t">
              <a:spAutoFit/>
            </a:bodyPr>
            <a:lstStyle/>
            <a:p>
              <a:pPr marL="0" lvl="0" indent="0" algn="l">
                <a:lnSpc>
                  <a:spcPts val="3389"/>
                </a:lnSpc>
              </a:pPr>
              <a:r>
                <a:rPr lang="en-US" sz="3389" b="1">
                  <a:solidFill>
                    <a:srgbClr val="002217"/>
                  </a:solidFill>
                  <a:latin typeface="Canva Sans Bold"/>
                  <a:ea typeface="Canva Sans Bold"/>
                  <a:cs typeface="Canva Sans Bold"/>
                  <a:sym typeface="Canva Sans Bold"/>
                </a:rPr>
                <a:t>Build a FastAPI service for APIs</a:t>
              </a:r>
            </a:p>
          </p:txBody>
        </p:sp>
      </p:grpSp>
      <p:sp>
        <p:nvSpPr>
          <p:cNvPr id="22" name="TextBox 10">
            <a:extLst>
              <a:ext uri="{FF2B5EF4-FFF2-40B4-BE49-F238E27FC236}">
                <a16:creationId xmlns:a16="http://schemas.microsoft.com/office/drawing/2014/main" id="{014B3D0E-D249-9DF2-5651-1E376DECFCB3}"/>
              </a:ext>
            </a:extLst>
          </p:cNvPr>
          <p:cNvSpPr txBox="1"/>
          <p:nvPr/>
        </p:nvSpPr>
        <p:spPr>
          <a:xfrm>
            <a:off x="12543304" y="9615962"/>
            <a:ext cx="4715996" cy="370206"/>
          </a:xfrm>
          <a:prstGeom prst="rect">
            <a:avLst/>
          </a:prstGeom>
        </p:spPr>
        <p:txBody>
          <a:bodyPr lIns="0" tIns="0" rIns="0" bIns="0" rtlCol="0" anchor="t">
            <a:spAutoFit/>
          </a:bodyPr>
          <a:lstStyle/>
          <a:p>
            <a:pPr algn="ctr">
              <a:lnSpc>
                <a:spcPts val="3054"/>
              </a:lnSpc>
              <a:spcBef>
                <a:spcPct val="0"/>
              </a:spcBef>
            </a:pPr>
            <a:r>
              <a:rPr lang="en-US" sz="2349">
                <a:solidFill>
                  <a:srgbClr val="002217"/>
                </a:solidFill>
                <a:latin typeface="Canva Sans"/>
                <a:ea typeface="Canva Sans"/>
                <a:cs typeface="Canva Sans"/>
                <a:sym typeface="Canva Sans"/>
              </a:rPr>
              <a:t>Created by Sangmin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sp>
        <p:nvSpPr>
          <p:cNvPr id="26" name="Freeform 2">
            <a:extLst>
              <a:ext uri="{FF2B5EF4-FFF2-40B4-BE49-F238E27FC236}">
                <a16:creationId xmlns:a16="http://schemas.microsoft.com/office/drawing/2014/main" id="{854A1588-4C13-1F94-72A3-88BDEF065782}"/>
              </a:ext>
            </a:extLst>
          </p:cNvPr>
          <p:cNvSpPr/>
          <p:nvPr/>
        </p:nvSpPr>
        <p:spPr>
          <a:xfrm>
            <a:off x="1050817" y="4467225"/>
            <a:ext cx="4509357" cy="4825803"/>
          </a:xfrm>
          <a:custGeom>
            <a:avLst/>
            <a:gdLst/>
            <a:ahLst/>
            <a:cxnLst/>
            <a:rect l="l" t="t" r="r" b="b"/>
            <a:pathLst>
              <a:path w="4509357" h="4825803">
                <a:moveTo>
                  <a:pt x="0" y="0"/>
                </a:moveTo>
                <a:lnTo>
                  <a:pt x="4509357" y="0"/>
                </a:lnTo>
                <a:lnTo>
                  <a:pt x="4509357" y="4825803"/>
                </a:lnTo>
                <a:lnTo>
                  <a:pt x="0" y="4825803"/>
                </a:lnTo>
                <a:lnTo>
                  <a:pt x="0" y="0"/>
                </a:lnTo>
                <a:close/>
              </a:path>
            </a:pathLst>
          </a:custGeom>
          <a:blipFill>
            <a:blip r:embed="rId2"/>
            <a:stretch>
              <a:fillRect/>
            </a:stretch>
          </a:blipFill>
        </p:spPr>
      </p:sp>
      <p:sp>
        <p:nvSpPr>
          <p:cNvPr id="27" name="Freeform 3">
            <a:extLst>
              <a:ext uri="{FF2B5EF4-FFF2-40B4-BE49-F238E27FC236}">
                <a16:creationId xmlns:a16="http://schemas.microsoft.com/office/drawing/2014/main" id="{D5D7DB14-314D-4A87-B243-D2D9403093A6}"/>
              </a:ext>
            </a:extLst>
          </p:cNvPr>
          <p:cNvSpPr/>
          <p:nvPr/>
        </p:nvSpPr>
        <p:spPr>
          <a:xfrm>
            <a:off x="6777391" y="4467225"/>
            <a:ext cx="4559810" cy="4825803"/>
          </a:xfrm>
          <a:custGeom>
            <a:avLst/>
            <a:gdLst/>
            <a:ahLst/>
            <a:cxnLst/>
            <a:rect l="l" t="t" r="r" b="b"/>
            <a:pathLst>
              <a:path w="4559810" h="4825803">
                <a:moveTo>
                  <a:pt x="0" y="0"/>
                </a:moveTo>
                <a:lnTo>
                  <a:pt x="4559810" y="0"/>
                </a:lnTo>
                <a:lnTo>
                  <a:pt x="4559810" y="4825803"/>
                </a:lnTo>
                <a:lnTo>
                  <a:pt x="0" y="4825803"/>
                </a:lnTo>
                <a:lnTo>
                  <a:pt x="0" y="0"/>
                </a:lnTo>
                <a:close/>
              </a:path>
            </a:pathLst>
          </a:custGeom>
          <a:blipFill>
            <a:blip r:embed="rId3"/>
            <a:stretch>
              <a:fillRect r="-36764"/>
            </a:stretch>
          </a:blipFill>
        </p:spPr>
      </p:sp>
      <p:sp>
        <p:nvSpPr>
          <p:cNvPr id="28" name="Freeform 4">
            <a:extLst>
              <a:ext uri="{FF2B5EF4-FFF2-40B4-BE49-F238E27FC236}">
                <a16:creationId xmlns:a16="http://schemas.microsoft.com/office/drawing/2014/main" id="{01D4AD90-E481-128E-3F46-6172C3DC660B}"/>
              </a:ext>
            </a:extLst>
          </p:cNvPr>
          <p:cNvSpPr/>
          <p:nvPr/>
        </p:nvSpPr>
        <p:spPr>
          <a:xfrm>
            <a:off x="12554418" y="4467225"/>
            <a:ext cx="4704882" cy="4791075"/>
          </a:xfrm>
          <a:custGeom>
            <a:avLst/>
            <a:gdLst/>
            <a:ahLst/>
            <a:cxnLst/>
            <a:rect l="l" t="t" r="r" b="b"/>
            <a:pathLst>
              <a:path w="4704882" h="4791075">
                <a:moveTo>
                  <a:pt x="0" y="0"/>
                </a:moveTo>
                <a:lnTo>
                  <a:pt x="4704882" y="0"/>
                </a:lnTo>
                <a:lnTo>
                  <a:pt x="4704882" y="4791075"/>
                </a:lnTo>
                <a:lnTo>
                  <a:pt x="0" y="4791075"/>
                </a:lnTo>
                <a:lnTo>
                  <a:pt x="0" y="0"/>
                </a:lnTo>
                <a:close/>
              </a:path>
            </a:pathLst>
          </a:custGeom>
          <a:blipFill>
            <a:blip r:embed="rId4"/>
            <a:stretch>
              <a:fillRect r="-46274"/>
            </a:stretch>
          </a:blipFill>
        </p:spPr>
      </p:sp>
      <p:sp>
        <p:nvSpPr>
          <p:cNvPr id="29" name="TextBox 5">
            <a:extLst>
              <a:ext uri="{FF2B5EF4-FFF2-40B4-BE49-F238E27FC236}">
                <a16:creationId xmlns:a16="http://schemas.microsoft.com/office/drawing/2014/main" id="{6B184080-3646-C37E-8B92-B640DA6746FD}"/>
              </a:ext>
            </a:extLst>
          </p:cNvPr>
          <p:cNvSpPr txBox="1"/>
          <p:nvPr/>
        </p:nvSpPr>
        <p:spPr>
          <a:xfrm>
            <a:off x="1050817" y="1162050"/>
            <a:ext cx="16208483" cy="963930"/>
          </a:xfrm>
          <a:prstGeom prst="rect">
            <a:avLst/>
          </a:prstGeom>
        </p:spPr>
        <p:txBody>
          <a:bodyPr lIns="0" tIns="0" rIns="0" bIns="0" rtlCol="0" anchor="t">
            <a:spAutoFit/>
          </a:bodyPr>
          <a:lstStyle/>
          <a:p>
            <a:pPr marL="0" lvl="0" indent="0" algn="l">
              <a:lnSpc>
                <a:spcPts val="7200"/>
              </a:lnSpc>
            </a:pPr>
            <a:r>
              <a:rPr lang="en-US" sz="7200" b="1" spc="-72" dirty="0">
                <a:solidFill>
                  <a:srgbClr val="002217"/>
                </a:solidFill>
                <a:latin typeface="DM Sans Bold"/>
                <a:ea typeface="DM Sans Bold"/>
                <a:cs typeface="DM Sans Bold"/>
                <a:sym typeface="DM Sans Bold"/>
              </a:rPr>
              <a:t> Progress #3 - Service Deployment</a:t>
            </a:r>
          </a:p>
        </p:txBody>
      </p:sp>
      <p:sp>
        <p:nvSpPr>
          <p:cNvPr id="30" name="TextBox 6">
            <a:extLst>
              <a:ext uri="{FF2B5EF4-FFF2-40B4-BE49-F238E27FC236}">
                <a16:creationId xmlns:a16="http://schemas.microsoft.com/office/drawing/2014/main" id="{DADE141F-B4A9-DC06-FFBA-A641A4182A69}"/>
              </a:ext>
            </a:extLst>
          </p:cNvPr>
          <p:cNvSpPr txBox="1"/>
          <p:nvPr/>
        </p:nvSpPr>
        <p:spPr>
          <a:xfrm>
            <a:off x="12543304" y="9615962"/>
            <a:ext cx="4715996" cy="370206"/>
          </a:xfrm>
          <a:prstGeom prst="rect">
            <a:avLst/>
          </a:prstGeom>
        </p:spPr>
        <p:txBody>
          <a:bodyPr lIns="0" tIns="0" rIns="0" bIns="0" rtlCol="0" anchor="t">
            <a:spAutoFit/>
          </a:bodyPr>
          <a:lstStyle/>
          <a:p>
            <a:pPr algn="ctr">
              <a:lnSpc>
                <a:spcPts val="3054"/>
              </a:lnSpc>
              <a:spcBef>
                <a:spcPct val="0"/>
              </a:spcBef>
            </a:pPr>
            <a:r>
              <a:rPr lang="en-US" sz="2349">
                <a:solidFill>
                  <a:srgbClr val="002217"/>
                </a:solidFill>
                <a:latin typeface="Canva Sans"/>
                <a:ea typeface="Canva Sans"/>
                <a:cs typeface="Canva Sans"/>
                <a:sym typeface="Canva Sans"/>
              </a:rPr>
              <a:t>Created by Sangmin</a:t>
            </a:r>
          </a:p>
        </p:txBody>
      </p:sp>
      <p:grpSp>
        <p:nvGrpSpPr>
          <p:cNvPr id="31" name="Group 7">
            <a:extLst>
              <a:ext uri="{FF2B5EF4-FFF2-40B4-BE49-F238E27FC236}">
                <a16:creationId xmlns:a16="http://schemas.microsoft.com/office/drawing/2014/main" id="{5058891C-4A47-9657-2166-D42272C069CF}"/>
              </a:ext>
            </a:extLst>
          </p:cNvPr>
          <p:cNvGrpSpPr/>
          <p:nvPr/>
        </p:nvGrpSpPr>
        <p:grpSpPr>
          <a:xfrm>
            <a:off x="1050817" y="2348164"/>
            <a:ext cx="13856042" cy="1452311"/>
            <a:chOff x="0" y="0"/>
            <a:chExt cx="18474723" cy="1936415"/>
          </a:xfrm>
        </p:grpSpPr>
        <p:sp>
          <p:nvSpPr>
            <p:cNvPr id="32" name="TextBox 8">
              <a:extLst>
                <a:ext uri="{FF2B5EF4-FFF2-40B4-BE49-F238E27FC236}">
                  <a16:creationId xmlns:a16="http://schemas.microsoft.com/office/drawing/2014/main" id="{758B91E7-A1B4-ACCD-F632-AE4D8F1DCE63}"/>
                </a:ext>
              </a:extLst>
            </p:cNvPr>
            <p:cNvSpPr txBox="1"/>
            <p:nvPr/>
          </p:nvSpPr>
          <p:spPr>
            <a:xfrm>
              <a:off x="0" y="66675"/>
              <a:ext cx="18084965" cy="530225"/>
            </a:xfrm>
            <a:prstGeom prst="rect">
              <a:avLst/>
            </a:prstGeom>
          </p:spPr>
          <p:txBody>
            <a:bodyPr lIns="0" tIns="0" rIns="0" bIns="0" rtlCol="0" anchor="t">
              <a:spAutoFit/>
            </a:bodyPr>
            <a:lstStyle/>
            <a:p>
              <a:pPr marL="0" lvl="0" indent="0" algn="l">
                <a:lnSpc>
                  <a:spcPts val="2999"/>
                </a:lnSpc>
                <a:spcBef>
                  <a:spcPct val="0"/>
                </a:spcBef>
              </a:pPr>
              <a:r>
                <a:rPr lang="en-US" sz="2999" b="1" dirty="0">
                  <a:solidFill>
                    <a:srgbClr val="002217"/>
                  </a:solidFill>
                  <a:latin typeface="Canva Sans Bold"/>
                  <a:ea typeface="Canva Sans Bold"/>
                  <a:cs typeface="Canva Sans Bold"/>
                  <a:sym typeface="Canva Sans Bold"/>
                </a:rPr>
                <a:t>Deploy </a:t>
              </a:r>
              <a:r>
                <a:rPr lang="en-US" sz="2999" b="1" dirty="0" err="1">
                  <a:solidFill>
                    <a:srgbClr val="002217"/>
                  </a:solidFill>
                  <a:latin typeface="Canva Sans Bold"/>
                  <a:ea typeface="Canva Sans Bold"/>
                  <a:cs typeface="Canva Sans Bold"/>
                  <a:sym typeface="Canva Sans Bold"/>
                </a:rPr>
                <a:t>FastAPI</a:t>
              </a:r>
              <a:r>
                <a:rPr lang="en-US" sz="2999" b="1" dirty="0">
                  <a:solidFill>
                    <a:srgbClr val="002217"/>
                  </a:solidFill>
                  <a:latin typeface="Canva Sans Bold"/>
                  <a:ea typeface="Canva Sans Bold"/>
                  <a:cs typeface="Canva Sans Bold"/>
                  <a:sym typeface="Canva Sans Bold"/>
                </a:rPr>
                <a:t> server in </a:t>
              </a:r>
              <a:r>
                <a:rPr lang="en-US" sz="2999" b="1" dirty="0" err="1">
                  <a:solidFill>
                    <a:srgbClr val="002217"/>
                  </a:solidFill>
                  <a:latin typeface="Canva Sans Bold"/>
                  <a:ea typeface="Canva Sans Bold"/>
                  <a:cs typeface="Canva Sans Bold"/>
                  <a:sym typeface="Canva Sans Bold"/>
                </a:rPr>
                <a:t>LinuxOne</a:t>
              </a:r>
              <a:r>
                <a:rPr lang="en-US" sz="2999" b="1" dirty="0">
                  <a:solidFill>
                    <a:srgbClr val="002217"/>
                  </a:solidFill>
                  <a:latin typeface="Canva Sans Bold"/>
                  <a:ea typeface="Canva Sans Bold"/>
                  <a:cs typeface="Canva Sans Bold"/>
                  <a:sym typeface="Canva Sans Bold"/>
                </a:rPr>
                <a:t> Cloud</a:t>
              </a:r>
            </a:p>
          </p:txBody>
        </p:sp>
        <p:sp>
          <p:nvSpPr>
            <p:cNvPr id="33" name="TextBox 9">
              <a:extLst>
                <a:ext uri="{FF2B5EF4-FFF2-40B4-BE49-F238E27FC236}">
                  <a16:creationId xmlns:a16="http://schemas.microsoft.com/office/drawing/2014/main" id="{6ACC95F9-33B2-89DF-D843-F292C304C839}"/>
                </a:ext>
              </a:extLst>
            </p:cNvPr>
            <p:cNvSpPr txBox="1"/>
            <p:nvPr/>
          </p:nvSpPr>
          <p:spPr>
            <a:xfrm>
              <a:off x="0" y="770129"/>
              <a:ext cx="18474723" cy="1166285"/>
            </a:xfrm>
            <a:prstGeom prst="rect">
              <a:avLst/>
            </a:prstGeom>
          </p:spPr>
          <p:txBody>
            <a:bodyPr lIns="0" tIns="0" rIns="0" bIns="0" rtlCol="0" anchor="t">
              <a:spAutoFit/>
            </a:bodyPr>
            <a:lstStyle/>
            <a:p>
              <a:pPr marL="0" lvl="0" indent="0" algn="just">
                <a:lnSpc>
                  <a:spcPts val="3574"/>
                </a:lnSpc>
              </a:pPr>
              <a:r>
                <a:rPr lang="en-US" sz="2749">
                  <a:solidFill>
                    <a:srgbClr val="002217"/>
                  </a:solidFill>
                  <a:latin typeface="Canva Sans"/>
                  <a:ea typeface="Canva Sans"/>
                  <a:cs typeface="Canva Sans"/>
                  <a:sym typeface="Canva Sans"/>
                </a:rPr>
                <a:t>The issue we had before was resolved, and the FastAPI services for NLP and APIs are deployed in LinuxOne Cloud.</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par>
                                <p:cTn id="20" presetID="10" presetClass="entr" presetSubtype="0"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sp>
        <p:nvSpPr>
          <p:cNvPr id="16" name="Freeform 2">
            <a:extLst>
              <a:ext uri="{FF2B5EF4-FFF2-40B4-BE49-F238E27FC236}">
                <a16:creationId xmlns:a16="http://schemas.microsoft.com/office/drawing/2014/main" id="{1C219856-40CD-B866-BA66-FA8DCFCF3D77}"/>
              </a:ext>
            </a:extLst>
          </p:cNvPr>
          <p:cNvSpPr/>
          <p:nvPr/>
        </p:nvSpPr>
        <p:spPr>
          <a:xfrm>
            <a:off x="9144000" y="2539679"/>
            <a:ext cx="8536785" cy="6718621"/>
          </a:xfrm>
          <a:custGeom>
            <a:avLst/>
            <a:gdLst/>
            <a:ahLst/>
            <a:cxnLst/>
            <a:rect l="l" t="t" r="r" b="b"/>
            <a:pathLst>
              <a:path w="8536785" h="6718621">
                <a:moveTo>
                  <a:pt x="0" y="0"/>
                </a:moveTo>
                <a:lnTo>
                  <a:pt x="8536785" y="0"/>
                </a:lnTo>
                <a:lnTo>
                  <a:pt x="8536785" y="6718621"/>
                </a:lnTo>
                <a:lnTo>
                  <a:pt x="0" y="6718621"/>
                </a:lnTo>
                <a:lnTo>
                  <a:pt x="0" y="0"/>
                </a:lnTo>
                <a:close/>
              </a:path>
            </a:pathLst>
          </a:custGeom>
          <a:blipFill>
            <a:blip r:embed="rId2"/>
            <a:stretch>
              <a:fillRect/>
            </a:stretch>
          </a:blipFill>
        </p:spPr>
      </p:sp>
      <p:sp>
        <p:nvSpPr>
          <p:cNvPr id="17" name="Freeform 3">
            <a:extLst>
              <a:ext uri="{FF2B5EF4-FFF2-40B4-BE49-F238E27FC236}">
                <a16:creationId xmlns:a16="http://schemas.microsoft.com/office/drawing/2014/main" id="{E1479854-6272-8FED-5B5C-3CB1B501E8F3}"/>
              </a:ext>
            </a:extLst>
          </p:cNvPr>
          <p:cNvSpPr/>
          <p:nvPr/>
        </p:nvSpPr>
        <p:spPr>
          <a:xfrm>
            <a:off x="1533720" y="5419725"/>
            <a:ext cx="6359421" cy="4565299"/>
          </a:xfrm>
          <a:custGeom>
            <a:avLst/>
            <a:gdLst/>
            <a:ahLst/>
            <a:cxnLst/>
            <a:rect l="l" t="t" r="r" b="b"/>
            <a:pathLst>
              <a:path w="6359421" h="4565299">
                <a:moveTo>
                  <a:pt x="0" y="0"/>
                </a:moveTo>
                <a:lnTo>
                  <a:pt x="6359421" y="0"/>
                </a:lnTo>
                <a:lnTo>
                  <a:pt x="6359421" y="4565299"/>
                </a:lnTo>
                <a:lnTo>
                  <a:pt x="0" y="4565299"/>
                </a:lnTo>
                <a:lnTo>
                  <a:pt x="0" y="0"/>
                </a:lnTo>
                <a:close/>
              </a:path>
            </a:pathLst>
          </a:custGeom>
          <a:blipFill>
            <a:blip r:embed="rId3"/>
            <a:stretch>
              <a:fillRect/>
            </a:stretch>
          </a:blipFill>
        </p:spPr>
      </p:sp>
      <p:sp>
        <p:nvSpPr>
          <p:cNvPr id="18" name="TextBox 4">
            <a:extLst>
              <a:ext uri="{FF2B5EF4-FFF2-40B4-BE49-F238E27FC236}">
                <a16:creationId xmlns:a16="http://schemas.microsoft.com/office/drawing/2014/main" id="{8C72B4CB-42A7-5AF5-10F0-058C78582951}"/>
              </a:ext>
            </a:extLst>
          </p:cNvPr>
          <p:cNvSpPr txBox="1"/>
          <p:nvPr/>
        </p:nvSpPr>
        <p:spPr>
          <a:xfrm>
            <a:off x="1028700" y="762000"/>
            <a:ext cx="16208483" cy="894080"/>
          </a:xfrm>
          <a:prstGeom prst="rect">
            <a:avLst/>
          </a:prstGeom>
        </p:spPr>
        <p:txBody>
          <a:bodyPr lIns="0" tIns="0" rIns="0" bIns="0" rtlCol="0" anchor="t">
            <a:spAutoFit/>
          </a:bodyPr>
          <a:lstStyle/>
          <a:p>
            <a:pPr marL="0" lvl="0" indent="0" algn="l">
              <a:lnSpc>
                <a:spcPts val="6700"/>
              </a:lnSpc>
            </a:pPr>
            <a:r>
              <a:rPr lang="en-US" sz="6700" b="1" spc="-67" dirty="0">
                <a:solidFill>
                  <a:srgbClr val="002217"/>
                </a:solidFill>
                <a:latin typeface="DM Sans Bold"/>
                <a:ea typeface="DM Sans Bold"/>
                <a:cs typeface="DM Sans Bold"/>
                <a:sym typeface="DM Sans Bold"/>
              </a:rPr>
              <a:t> Progress #4 - Database &amp; API Services</a:t>
            </a:r>
          </a:p>
        </p:txBody>
      </p:sp>
      <p:sp>
        <p:nvSpPr>
          <p:cNvPr id="19" name="TextBox 5">
            <a:extLst>
              <a:ext uri="{FF2B5EF4-FFF2-40B4-BE49-F238E27FC236}">
                <a16:creationId xmlns:a16="http://schemas.microsoft.com/office/drawing/2014/main" id="{112A0A53-820D-FC44-8BC5-76C0C91485B8}"/>
              </a:ext>
            </a:extLst>
          </p:cNvPr>
          <p:cNvSpPr txBox="1"/>
          <p:nvPr/>
        </p:nvSpPr>
        <p:spPr>
          <a:xfrm>
            <a:off x="12543304" y="9615962"/>
            <a:ext cx="4715996" cy="370206"/>
          </a:xfrm>
          <a:prstGeom prst="rect">
            <a:avLst/>
          </a:prstGeom>
        </p:spPr>
        <p:txBody>
          <a:bodyPr lIns="0" tIns="0" rIns="0" bIns="0" rtlCol="0" anchor="t">
            <a:spAutoFit/>
          </a:bodyPr>
          <a:lstStyle/>
          <a:p>
            <a:pPr algn="ctr">
              <a:lnSpc>
                <a:spcPts val="3054"/>
              </a:lnSpc>
              <a:spcBef>
                <a:spcPct val="0"/>
              </a:spcBef>
            </a:pPr>
            <a:r>
              <a:rPr lang="en-US" sz="2349">
                <a:solidFill>
                  <a:srgbClr val="002217"/>
                </a:solidFill>
                <a:latin typeface="Canva Sans"/>
                <a:ea typeface="Canva Sans"/>
                <a:cs typeface="Canva Sans"/>
                <a:sym typeface="Canva Sans"/>
              </a:rPr>
              <a:t>Created by Ayo</a:t>
            </a:r>
          </a:p>
        </p:txBody>
      </p:sp>
      <p:sp>
        <p:nvSpPr>
          <p:cNvPr id="20" name="TextBox 6">
            <a:extLst>
              <a:ext uri="{FF2B5EF4-FFF2-40B4-BE49-F238E27FC236}">
                <a16:creationId xmlns:a16="http://schemas.microsoft.com/office/drawing/2014/main" id="{9EC4E427-CB2C-705E-1002-DDE553983EE1}"/>
              </a:ext>
            </a:extLst>
          </p:cNvPr>
          <p:cNvSpPr txBox="1"/>
          <p:nvPr/>
        </p:nvSpPr>
        <p:spPr>
          <a:xfrm>
            <a:off x="1028700" y="2020549"/>
            <a:ext cx="16208483" cy="366395"/>
          </a:xfrm>
          <a:prstGeom prst="rect">
            <a:avLst/>
          </a:prstGeom>
        </p:spPr>
        <p:txBody>
          <a:bodyPr lIns="0" tIns="0" rIns="0" bIns="0" rtlCol="0" anchor="t">
            <a:spAutoFit/>
          </a:bodyPr>
          <a:lstStyle/>
          <a:p>
            <a:pPr marL="0" lvl="0" indent="0" algn="l">
              <a:lnSpc>
                <a:spcPts val="2799"/>
              </a:lnSpc>
            </a:pPr>
            <a:r>
              <a:rPr lang="en-US" sz="2799" b="1">
                <a:solidFill>
                  <a:srgbClr val="002217"/>
                </a:solidFill>
                <a:latin typeface="Canva Sans Bold"/>
                <a:ea typeface="Canva Sans Bold"/>
                <a:cs typeface="Canva Sans Bold"/>
                <a:sym typeface="Canva Sans Bold"/>
              </a:rPr>
              <a:t>Core backend infrastructure, API Services and Database Management</a:t>
            </a:r>
          </a:p>
        </p:txBody>
      </p:sp>
      <p:sp>
        <p:nvSpPr>
          <p:cNvPr id="21" name="TextBox 7">
            <a:extLst>
              <a:ext uri="{FF2B5EF4-FFF2-40B4-BE49-F238E27FC236}">
                <a16:creationId xmlns:a16="http://schemas.microsoft.com/office/drawing/2014/main" id="{C7A5096C-EC28-E735-483C-5009A7DBB71B}"/>
              </a:ext>
            </a:extLst>
          </p:cNvPr>
          <p:cNvSpPr txBox="1"/>
          <p:nvPr/>
        </p:nvSpPr>
        <p:spPr>
          <a:xfrm>
            <a:off x="1028700" y="2632709"/>
            <a:ext cx="7812708" cy="2510791"/>
          </a:xfrm>
          <a:prstGeom prst="rect">
            <a:avLst/>
          </a:prstGeom>
        </p:spPr>
        <p:txBody>
          <a:bodyPr lIns="0" tIns="0" rIns="0" bIns="0" rtlCol="0" anchor="t">
            <a:spAutoFit/>
          </a:bodyPr>
          <a:lstStyle/>
          <a:p>
            <a:pPr algn="l">
              <a:lnSpc>
                <a:spcPts val="3314"/>
              </a:lnSpc>
            </a:pPr>
            <a:r>
              <a:rPr lang="en-US" sz="2549">
                <a:solidFill>
                  <a:srgbClr val="002217"/>
                </a:solidFill>
                <a:latin typeface="Canva Sans"/>
                <a:ea typeface="Canva Sans"/>
                <a:cs typeface="Canva Sans"/>
                <a:sym typeface="Canva Sans"/>
              </a:rPr>
              <a:t>Built an API for User Management and Authentication(JWT), which is fully implemented. </a:t>
            </a:r>
          </a:p>
          <a:p>
            <a:pPr marL="0" lvl="0" indent="0" algn="l">
              <a:lnSpc>
                <a:spcPts val="3314"/>
              </a:lnSpc>
            </a:pPr>
            <a:r>
              <a:rPr lang="en-US" sz="2549">
                <a:solidFill>
                  <a:srgbClr val="002217"/>
                </a:solidFill>
                <a:latin typeface="Canva Sans"/>
                <a:ea typeface="Canva Sans"/>
                <a:cs typeface="Canva Sans"/>
                <a:sym typeface="Canva Sans"/>
              </a:rPr>
              <a:t>Booking management, Component management, Trip and Package management have their layout and integration created, tested and deployed on </a:t>
            </a:r>
            <a:r>
              <a:rPr lang="en-US" sz="2549" b="1">
                <a:solidFill>
                  <a:srgbClr val="002217"/>
                </a:solidFill>
                <a:latin typeface="Canva Sans Bold"/>
                <a:ea typeface="Canva Sans Bold"/>
                <a:cs typeface="Canva Sans Bold"/>
                <a:sym typeface="Canva Sans Bold"/>
              </a:rPr>
              <a:t>IBM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028700" y="4991352"/>
            <a:ext cx="2318657" cy="553437"/>
            <a:chOff x="0" y="0"/>
            <a:chExt cx="808177" cy="192903"/>
          </a:xfrm>
        </p:grpSpPr>
        <p:sp>
          <p:nvSpPr>
            <p:cNvPr id="3" name="Freeform 3"/>
            <p:cNvSpPr/>
            <p:nvPr/>
          </p:nvSpPr>
          <p:spPr>
            <a:xfrm>
              <a:off x="0" y="0"/>
              <a:ext cx="808177" cy="192903"/>
            </a:xfrm>
            <a:custGeom>
              <a:avLst/>
              <a:gdLst/>
              <a:ahLst/>
              <a:cxnLst/>
              <a:rect l="l" t="t" r="r" b="b"/>
              <a:pathLst>
                <a:path w="808177" h="192903">
                  <a:moveTo>
                    <a:pt x="0" y="0"/>
                  </a:moveTo>
                  <a:lnTo>
                    <a:pt x="808177" y="0"/>
                  </a:lnTo>
                  <a:lnTo>
                    <a:pt x="808177" y="192903"/>
                  </a:lnTo>
                  <a:lnTo>
                    <a:pt x="0" y="192903"/>
                  </a:lnTo>
                  <a:close/>
                </a:path>
              </a:pathLst>
            </a:custGeom>
            <a:solidFill>
              <a:srgbClr val="CED5E6"/>
            </a:solidFill>
          </p:spPr>
        </p:sp>
        <p:sp>
          <p:nvSpPr>
            <p:cNvPr id="4" name="TextBox 4"/>
            <p:cNvSpPr txBox="1"/>
            <p:nvPr/>
          </p:nvSpPr>
          <p:spPr>
            <a:xfrm>
              <a:off x="0" y="-28575"/>
              <a:ext cx="808177" cy="221478"/>
            </a:xfrm>
            <a:prstGeom prst="rect">
              <a:avLst/>
            </a:prstGeom>
          </p:spPr>
          <p:txBody>
            <a:bodyPr lIns="50800" tIns="50800" rIns="50800" bIns="50800" rtlCol="0" anchor="ctr"/>
            <a:lstStyle/>
            <a:p>
              <a:pPr algn="ctr">
                <a:lnSpc>
                  <a:spcPts val="2239"/>
                </a:lnSpc>
              </a:pPr>
              <a:r>
                <a:rPr lang="en-US" sz="1599" b="1">
                  <a:solidFill>
                    <a:srgbClr val="000000"/>
                  </a:solidFill>
                  <a:latin typeface="Montserrat Bold"/>
                  <a:ea typeface="Montserrat Bold"/>
                  <a:cs typeface="Montserrat Bold"/>
                  <a:sym typeface="Montserrat Bold"/>
                </a:rPr>
                <a:t>Week 1-3 </a:t>
              </a:r>
            </a:p>
          </p:txBody>
        </p:sp>
      </p:grpSp>
      <p:grpSp>
        <p:nvGrpSpPr>
          <p:cNvPr id="5" name="Group 5"/>
          <p:cNvGrpSpPr/>
          <p:nvPr/>
        </p:nvGrpSpPr>
        <p:grpSpPr>
          <a:xfrm>
            <a:off x="3347357" y="4991352"/>
            <a:ext cx="2318657" cy="553437"/>
            <a:chOff x="0" y="0"/>
            <a:chExt cx="768727" cy="183486"/>
          </a:xfrm>
        </p:grpSpPr>
        <p:sp>
          <p:nvSpPr>
            <p:cNvPr id="6" name="Freeform 6"/>
            <p:cNvSpPr/>
            <p:nvPr/>
          </p:nvSpPr>
          <p:spPr>
            <a:xfrm>
              <a:off x="0" y="0"/>
              <a:ext cx="768727" cy="183486"/>
            </a:xfrm>
            <a:custGeom>
              <a:avLst/>
              <a:gdLst/>
              <a:ahLst/>
              <a:cxnLst/>
              <a:rect l="l" t="t" r="r" b="b"/>
              <a:pathLst>
                <a:path w="768727" h="183486">
                  <a:moveTo>
                    <a:pt x="0" y="0"/>
                  </a:moveTo>
                  <a:lnTo>
                    <a:pt x="768727" y="0"/>
                  </a:lnTo>
                  <a:lnTo>
                    <a:pt x="768727" y="183486"/>
                  </a:lnTo>
                  <a:lnTo>
                    <a:pt x="0" y="183486"/>
                  </a:lnTo>
                  <a:close/>
                </a:path>
              </a:pathLst>
            </a:custGeom>
            <a:solidFill>
              <a:srgbClr val="979BFF"/>
            </a:solidFill>
          </p:spPr>
        </p:sp>
        <p:sp>
          <p:nvSpPr>
            <p:cNvPr id="7" name="TextBox 7"/>
            <p:cNvSpPr txBox="1"/>
            <p:nvPr/>
          </p:nvSpPr>
          <p:spPr>
            <a:xfrm>
              <a:off x="0" y="-28575"/>
              <a:ext cx="768727" cy="212061"/>
            </a:xfrm>
            <a:prstGeom prst="rect">
              <a:avLst/>
            </a:prstGeom>
          </p:spPr>
          <p:txBody>
            <a:bodyPr lIns="50800" tIns="50800" rIns="50800" bIns="50800" rtlCol="0" anchor="ctr"/>
            <a:lstStyle/>
            <a:p>
              <a:pPr algn="ctr">
                <a:lnSpc>
                  <a:spcPts val="2239"/>
                </a:lnSpc>
              </a:pPr>
              <a:r>
                <a:rPr lang="en-US" sz="1599" b="1">
                  <a:solidFill>
                    <a:srgbClr val="000000"/>
                  </a:solidFill>
                  <a:latin typeface="Montserrat Bold"/>
                  <a:ea typeface="Montserrat Bold"/>
                  <a:cs typeface="Montserrat Bold"/>
                  <a:sym typeface="Montserrat Bold"/>
                </a:rPr>
                <a:t>Week 4-5</a:t>
              </a:r>
            </a:p>
          </p:txBody>
        </p:sp>
      </p:grpSp>
      <p:grpSp>
        <p:nvGrpSpPr>
          <p:cNvPr id="8" name="Group 8"/>
          <p:cNvGrpSpPr/>
          <p:nvPr/>
        </p:nvGrpSpPr>
        <p:grpSpPr>
          <a:xfrm>
            <a:off x="5666014" y="4991352"/>
            <a:ext cx="2318657" cy="553437"/>
            <a:chOff x="0" y="0"/>
            <a:chExt cx="768727" cy="183486"/>
          </a:xfrm>
        </p:grpSpPr>
        <p:sp>
          <p:nvSpPr>
            <p:cNvPr id="9" name="Freeform 9"/>
            <p:cNvSpPr/>
            <p:nvPr/>
          </p:nvSpPr>
          <p:spPr>
            <a:xfrm>
              <a:off x="0" y="0"/>
              <a:ext cx="768727" cy="183486"/>
            </a:xfrm>
            <a:custGeom>
              <a:avLst/>
              <a:gdLst/>
              <a:ahLst/>
              <a:cxnLst/>
              <a:rect l="l" t="t" r="r" b="b"/>
              <a:pathLst>
                <a:path w="768727" h="183486">
                  <a:moveTo>
                    <a:pt x="0" y="0"/>
                  </a:moveTo>
                  <a:lnTo>
                    <a:pt x="768727" y="0"/>
                  </a:lnTo>
                  <a:lnTo>
                    <a:pt x="768727" y="183486"/>
                  </a:lnTo>
                  <a:lnTo>
                    <a:pt x="0" y="183486"/>
                  </a:lnTo>
                  <a:close/>
                </a:path>
              </a:pathLst>
            </a:custGeom>
            <a:solidFill>
              <a:srgbClr val="89E2E8"/>
            </a:solidFill>
          </p:spPr>
        </p:sp>
        <p:sp>
          <p:nvSpPr>
            <p:cNvPr id="10" name="TextBox 10"/>
            <p:cNvSpPr txBox="1"/>
            <p:nvPr/>
          </p:nvSpPr>
          <p:spPr>
            <a:xfrm>
              <a:off x="0" y="-28575"/>
              <a:ext cx="768727" cy="212061"/>
            </a:xfrm>
            <a:prstGeom prst="rect">
              <a:avLst/>
            </a:prstGeom>
          </p:spPr>
          <p:txBody>
            <a:bodyPr lIns="50800" tIns="50800" rIns="50800" bIns="50800" rtlCol="0" anchor="ctr"/>
            <a:lstStyle/>
            <a:p>
              <a:pPr algn="ctr">
                <a:lnSpc>
                  <a:spcPts val="2239"/>
                </a:lnSpc>
              </a:pPr>
              <a:r>
                <a:rPr lang="en-US" sz="1599" b="1">
                  <a:solidFill>
                    <a:srgbClr val="000000"/>
                  </a:solidFill>
                  <a:latin typeface="Montserrat Bold"/>
                  <a:ea typeface="Montserrat Bold"/>
                  <a:cs typeface="Montserrat Bold"/>
                  <a:sym typeface="Montserrat Bold"/>
                </a:rPr>
                <a:t>Week 6-7</a:t>
              </a:r>
            </a:p>
          </p:txBody>
        </p:sp>
      </p:grpSp>
      <p:grpSp>
        <p:nvGrpSpPr>
          <p:cNvPr id="11" name="Group 11"/>
          <p:cNvGrpSpPr/>
          <p:nvPr/>
        </p:nvGrpSpPr>
        <p:grpSpPr>
          <a:xfrm>
            <a:off x="7984671" y="4991352"/>
            <a:ext cx="2318657" cy="553437"/>
            <a:chOff x="0" y="0"/>
            <a:chExt cx="768727" cy="183486"/>
          </a:xfrm>
        </p:grpSpPr>
        <p:sp>
          <p:nvSpPr>
            <p:cNvPr id="12" name="Freeform 12"/>
            <p:cNvSpPr/>
            <p:nvPr/>
          </p:nvSpPr>
          <p:spPr>
            <a:xfrm>
              <a:off x="0" y="0"/>
              <a:ext cx="768727" cy="183486"/>
            </a:xfrm>
            <a:custGeom>
              <a:avLst/>
              <a:gdLst/>
              <a:ahLst/>
              <a:cxnLst/>
              <a:rect l="l" t="t" r="r" b="b"/>
              <a:pathLst>
                <a:path w="768727" h="183486">
                  <a:moveTo>
                    <a:pt x="0" y="0"/>
                  </a:moveTo>
                  <a:lnTo>
                    <a:pt x="768727" y="0"/>
                  </a:lnTo>
                  <a:lnTo>
                    <a:pt x="768727" y="183486"/>
                  </a:lnTo>
                  <a:lnTo>
                    <a:pt x="0" y="183486"/>
                  </a:lnTo>
                  <a:close/>
                </a:path>
              </a:pathLst>
            </a:custGeom>
            <a:solidFill>
              <a:srgbClr val="ADE466"/>
            </a:solidFill>
          </p:spPr>
        </p:sp>
        <p:sp>
          <p:nvSpPr>
            <p:cNvPr id="13" name="TextBox 13"/>
            <p:cNvSpPr txBox="1"/>
            <p:nvPr/>
          </p:nvSpPr>
          <p:spPr>
            <a:xfrm>
              <a:off x="0" y="-28575"/>
              <a:ext cx="768727" cy="212061"/>
            </a:xfrm>
            <a:prstGeom prst="rect">
              <a:avLst/>
            </a:prstGeom>
          </p:spPr>
          <p:txBody>
            <a:bodyPr lIns="50800" tIns="50800" rIns="50800" bIns="50800" rtlCol="0" anchor="ctr"/>
            <a:lstStyle/>
            <a:p>
              <a:pPr algn="ctr">
                <a:lnSpc>
                  <a:spcPts val="2239"/>
                </a:lnSpc>
              </a:pPr>
              <a:r>
                <a:rPr lang="en-US" sz="1599" b="1">
                  <a:solidFill>
                    <a:srgbClr val="000000"/>
                  </a:solidFill>
                  <a:latin typeface="Montserrat Bold"/>
                  <a:ea typeface="Montserrat Bold"/>
                  <a:cs typeface="Montserrat Bold"/>
                  <a:sym typeface="Montserrat Bold"/>
                </a:rPr>
                <a:t>Week 8-9</a:t>
              </a:r>
            </a:p>
          </p:txBody>
        </p:sp>
      </p:grpSp>
      <p:grpSp>
        <p:nvGrpSpPr>
          <p:cNvPr id="14" name="Group 14"/>
          <p:cNvGrpSpPr/>
          <p:nvPr/>
        </p:nvGrpSpPr>
        <p:grpSpPr>
          <a:xfrm>
            <a:off x="10303329" y="4991352"/>
            <a:ext cx="2318657" cy="553437"/>
            <a:chOff x="0" y="0"/>
            <a:chExt cx="768727" cy="183486"/>
          </a:xfrm>
        </p:grpSpPr>
        <p:sp>
          <p:nvSpPr>
            <p:cNvPr id="15" name="Freeform 15"/>
            <p:cNvSpPr/>
            <p:nvPr/>
          </p:nvSpPr>
          <p:spPr>
            <a:xfrm>
              <a:off x="0" y="0"/>
              <a:ext cx="768727" cy="183486"/>
            </a:xfrm>
            <a:custGeom>
              <a:avLst/>
              <a:gdLst/>
              <a:ahLst/>
              <a:cxnLst/>
              <a:rect l="l" t="t" r="r" b="b"/>
              <a:pathLst>
                <a:path w="768727" h="183486">
                  <a:moveTo>
                    <a:pt x="0" y="0"/>
                  </a:moveTo>
                  <a:lnTo>
                    <a:pt x="768727" y="0"/>
                  </a:lnTo>
                  <a:lnTo>
                    <a:pt x="768727" y="183486"/>
                  </a:lnTo>
                  <a:lnTo>
                    <a:pt x="0" y="183486"/>
                  </a:lnTo>
                  <a:close/>
                </a:path>
              </a:pathLst>
            </a:custGeom>
            <a:solidFill>
              <a:srgbClr val="E8E252"/>
            </a:solidFill>
            <a:ln cap="sq">
              <a:noFill/>
              <a:prstDash val="solid"/>
              <a:miter/>
            </a:ln>
          </p:spPr>
        </p:sp>
        <p:sp>
          <p:nvSpPr>
            <p:cNvPr id="16" name="TextBox 16"/>
            <p:cNvSpPr txBox="1"/>
            <p:nvPr/>
          </p:nvSpPr>
          <p:spPr>
            <a:xfrm>
              <a:off x="0" y="-28575"/>
              <a:ext cx="768727" cy="212061"/>
            </a:xfrm>
            <a:prstGeom prst="rect">
              <a:avLst/>
            </a:prstGeom>
          </p:spPr>
          <p:txBody>
            <a:bodyPr lIns="50800" tIns="50800" rIns="50800" bIns="50800" rtlCol="0" anchor="ctr"/>
            <a:lstStyle/>
            <a:p>
              <a:pPr marL="0" lvl="0" indent="0" algn="ctr">
                <a:lnSpc>
                  <a:spcPts val="2239"/>
                </a:lnSpc>
                <a:spcBef>
                  <a:spcPct val="0"/>
                </a:spcBef>
              </a:pPr>
              <a:r>
                <a:rPr lang="en-US" sz="1599" b="1">
                  <a:solidFill>
                    <a:srgbClr val="000000"/>
                  </a:solidFill>
                  <a:latin typeface="Montserrat Bold"/>
                  <a:ea typeface="Montserrat Bold"/>
                  <a:cs typeface="Montserrat Bold"/>
                  <a:sym typeface="Montserrat Bold"/>
                </a:rPr>
                <a:t>Week 10-11</a:t>
              </a:r>
            </a:p>
          </p:txBody>
        </p:sp>
      </p:grpSp>
      <p:grpSp>
        <p:nvGrpSpPr>
          <p:cNvPr id="17" name="Group 17"/>
          <p:cNvGrpSpPr/>
          <p:nvPr/>
        </p:nvGrpSpPr>
        <p:grpSpPr>
          <a:xfrm>
            <a:off x="12621986" y="4991352"/>
            <a:ext cx="2318657" cy="553437"/>
            <a:chOff x="0" y="0"/>
            <a:chExt cx="768727" cy="183486"/>
          </a:xfrm>
        </p:grpSpPr>
        <p:sp>
          <p:nvSpPr>
            <p:cNvPr id="18" name="Freeform 18"/>
            <p:cNvSpPr/>
            <p:nvPr/>
          </p:nvSpPr>
          <p:spPr>
            <a:xfrm>
              <a:off x="0" y="0"/>
              <a:ext cx="768727" cy="183486"/>
            </a:xfrm>
            <a:custGeom>
              <a:avLst/>
              <a:gdLst/>
              <a:ahLst/>
              <a:cxnLst/>
              <a:rect l="l" t="t" r="r" b="b"/>
              <a:pathLst>
                <a:path w="768727" h="183486">
                  <a:moveTo>
                    <a:pt x="0" y="0"/>
                  </a:moveTo>
                  <a:lnTo>
                    <a:pt x="768727" y="0"/>
                  </a:lnTo>
                  <a:lnTo>
                    <a:pt x="768727" y="183486"/>
                  </a:lnTo>
                  <a:lnTo>
                    <a:pt x="0" y="183486"/>
                  </a:lnTo>
                  <a:close/>
                </a:path>
              </a:pathLst>
            </a:custGeom>
            <a:solidFill>
              <a:srgbClr val="FFD308"/>
            </a:solidFill>
            <a:ln cap="sq">
              <a:noFill/>
              <a:prstDash val="solid"/>
              <a:miter/>
            </a:ln>
          </p:spPr>
        </p:sp>
        <p:sp>
          <p:nvSpPr>
            <p:cNvPr id="19" name="TextBox 19"/>
            <p:cNvSpPr txBox="1"/>
            <p:nvPr/>
          </p:nvSpPr>
          <p:spPr>
            <a:xfrm>
              <a:off x="0" y="-28575"/>
              <a:ext cx="768727" cy="212061"/>
            </a:xfrm>
            <a:prstGeom prst="rect">
              <a:avLst/>
            </a:prstGeom>
          </p:spPr>
          <p:txBody>
            <a:bodyPr lIns="50800" tIns="50800" rIns="50800" bIns="50800" rtlCol="0" anchor="ctr"/>
            <a:lstStyle/>
            <a:p>
              <a:pPr marL="0" lvl="0" indent="0" algn="ctr">
                <a:lnSpc>
                  <a:spcPts val="2239"/>
                </a:lnSpc>
                <a:spcBef>
                  <a:spcPct val="0"/>
                </a:spcBef>
              </a:pPr>
              <a:r>
                <a:rPr lang="en-US" sz="1599" b="1">
                  <a:solidFill>
                    <a:srgbClr val="000000"/>
                  </a:solidFill>
                  <a:latin typeface="Montserrat Bold"/>
                  <a:ea typeface="Montserrat Bold"/>
                  <a:cs typeface="Montserrat Bold"/>
                  <a:sym typeface="Montserrat Bold"/>
                </a:rPr>
                <a:t>Week 12-13</a:t>
              </a:r>
            </a:p>
          </p:txBody>
        </p:sp>
      </p:grpSp>
      <p:grpSp>
        <p:nvGrpSpPr>
          <p:cNvPr id="20" name="Group 20"/>
          <p:cNvGrpSpPr/>
          <p:nvPr/>
        </p:nvGrpSpPr>
        <p:grpSpPr>
          <a:xfrm>
            <a:off x="14940643" y="4991352"/>
            <a:ext cx="2318657" cy="553437"/>
            <a:chOff x="0" y="0"/>
            <a:chExt cx="768727" cy="183486"/>
          </a:xfrm>
        </p:grpSpPr>
        <p:sp>
          <p:nvSpPr>
            <p:cNvPr id="21" name="Freeform 21"/>
            <p:cNvSpPr/>
            <p:nvPr/>
          </p:nvSpPr>
          <p:spPr>
            <a:xfrm>
              <a:off x="0" y="0"/>
              <a:ext cx="768727" cy="183486"/>
            </a:xfrm>
            <a:custGeom>
              <a:avLst/>
              <a:gdLst/>
              <a:ahLst/>
              <a:cxnLst/>
              <a:rect l="l" t="t" r="r" b="b"/>
              <a:pathLst>
                <a:path w="768727" h="183486">
                  <a:moveTo>
                    <a:pt x="0" y="0"/>
                  </a:moveTo>
                  <a:lnTo>
                    <a:pt x="768727" y="0"/>
                  </a:lnTo>
                  <a:lnTo>
                    <a:pt x="768727" y="183486"/>
                  </a:lnTo>
                  <a:lnTo>
                    <a:pt x="0" y="183486"/>
                  </a:lnTo>
                  <a:close/>
                </a:path>
              </a:pathLst>
            </a:custGeom>
            <a:solidFill>
              <a:srgbClr val="FFA678"/>
            </a:solidFill>
            <a:ln cap="sq">
              <a:noFill/>
              <a:prstDash val="solid"/>
              <a:miter/>
            </a:ln>
          </p:spPr>
        </p:sp>
        <p:sp>
          <p:nvSpPr>
            <p:cNvPr id="22" name="TextBox 22"/>
            <p:cNvSpPr txBox="1"/>
            <p:nvPr/>
          </p:nvSpPr>
          <p:spPr>
            <a:xfrm>
              <a:off x="0" y="-28575"/>
              <a:ext cx="768727" cy="212061"/>
            </a:xfrm>
            <a:prstGeom prst="rect">
              <a:avLst/>
            </a:prstGeom>
          </p:spPr>
          <p:txBody>
            <a:bodyPr lIns="50800" tIns="50800" rIns="50800" bIns="50800" rtlCol="0" anchor="ctr"/>
            <a:lstStyle/>
            <a:p>
              <a:pPr marL="0" lvl="0" indent="0" algn="ctr">
                <a:lnSpc>
                  <a:spcPts val="2239"/>
                </a:lnSpc>
                <a:spcBef>
                  <a:spcPct val="0"/>
                </a:spcBef>
              </a:pPr>
              <a:r>
                <a:rPr lang="en-US" sz="1599" b="1">
                  <a:solidFill>
                    <a:srgbClr val="000000"/>
                  </a:solidFill>
                  <a:latin typeface="Montserrat Bold"/>
                  <a:ea typeface="Montserrat Bold"/>
                  <a:cs typeface="Montserrat Bold"/>
                  <a:sym typeface="Montserrat Bold"/>
                </a:rPr>
                <a:t>Week 14</a:t>
              </a:r>
            </a:p>
          </p:txBody>
        </p:sp>
      </p:grpSp>
      <p:sp>
        <p:nvSpPr>
          <p:cNvPr id="23" name="AutoShape 23"/>
          <p:cNvSpPr/>
          <p:nvPr/>
        </p:nvSpPr>
        <p:spPr>
          <a:xfrm flipV="1">
            <a:off x="3347357" y="2671575"/>
            <a:ext cx="0" cy="2319776"/>
          </a:xfrm>
          <a:prstGeom prst="line">
            <a:avLst/>
          </a:prstGeom>
          <a:ln w="38100" cap="flat">
            <a:solidFill>
              <a:srgbClr val="CED5E6"/>
            </a:solidFill>
            <a:prstDash val="solid"/>
            <a:headEnd type="none" w="sm" len="sm"/>
            <a:tailEnd type="diamond" w="lg" len="lg"/>
          </a:ln>
        </p:spPr>
      </p:sp>
      <p:sp>
        <p:nvSpPr>
          <p:cNvPr id="24" name="AutoShape 24"/>
          <p:cNvSpPr/>
          <p:nvPr/>
        </p:nvSpPr>
        <p:spPr>
          <a:xfrm flipV="1">
            <a:off x="7965621" y="2671575"/>
            <a:ext cx="0" cy="2319776"/>
          </a:xfrm>
          <a:prstGeom prst="line">
            <a:avLst/>
          </a:prstGeom>
          <a:ln w="38100" cap="flat">
            <a:solidFill>
              <a:srgbClr val="89E2E8"/>
            </a:solidFill>
            <a:prstDash val="solid"/>
            <a:headEnd type="none" w="sm" len="sm"/>
            <a:tailEnd type="diamond" w="lg" len="lg"/>
          </a:ln>
        </p:spPr>
      </p:sp>
      <p:sp>
        <p:nvSpPr>
          <p:cNvPr id="25" name="AutoShape 25"/>
          <p:cNvSpPr/>
          <p:nvPr/>
        </p:nvSpPr>
        <p:spPr>
          <a:xfrm flipH="1">
            <a:off x="5646964" y="5544789"/>
            <a:ext cx="0" cy="2319776"/>
          </a:xfrm>
          <a:prstGeom prst="line">
            <a:avLst/>
          </a:prstGeom>
          <a:ln w="38100" cap="flat">
            <a:solidFill>
              <a:srgbClr val="979BFF"/>
            </a:solidFill>
            <a:prstDash val="solid"/>
            <a:headEnd type="none" w="sm" len="sm"/>
            <a:tailEnd type="diamond" w="lg" len="lg"/>
          </a:ln>
        </p:spPr>
      </p:sp>
      <p:sp>
        <p:nvSpPr>
          <p:cNvPr id="26" name="AutoShape 26"/>
          <p:cNvSpPr/>
          <p:nvPr/>
        </p:nvSpPr>
        <p:spPr>
          <a:xfrm>
            <a:off x="10284279" y="5544789"/>
            <a:ext cx="0" cy="2319776"/>
          </a:xfrm>
          <a:prstGeom prst="line">
            <a:avLst/>
          </a:prstGeom>
          <a:ln w="38100" cap="flat">
            <a:solidFill>
              <a:srgbClr val="ADE466"/>
            </a:solidFill>
            <a:prstDash val="solid"/>
            <a:headEnd type="none" w="sm" len="sm"/>
            <a:tailEnd type="diamond" w="lg" len="lg"/>
          </a:ln>
        </p:spPr>
      </p:sp>
      <p:sp>
        <p:nvSpPr>
          <p:cNvPr id="27" name="AutoShape 27"/>
          <p:cNvSpPr/>
          <p:nvPr/>
        </p:nvSpPr>
        <p:spPr>
          <a:xfrm flipV="1">
            <a:off x="12602936" y="2671575"/>
            <a:ext cx="0" cy="2319776"/>
          </a:xfrm>
          <a:prstGeom prst="line">
            <a:avLst/>
          </a:prstGeom>
          <a:ln w="38100" cap="flat">
            <a:solidFill>
              <a:srgbClr val="E8E252"/>
            </a:solidFill>
            <a:prstDash val="solid"/>
            <a:headEnd type="none" w="sm" len="sm"/>
            <a:tailEnd type="diamond" w="lg" len="lg"/>
          </a:ln>
        </p:spPr>
      </p:sp>
      <p:sp>
        <p:nvSpPr>
          <p:cNvPr id="28" name="AutoShape 28"/>
          <p:cNvSpPr/>
          <p:nvPr/>
        </p:nvSpPr>
        <p:spPr>
          <a:xfrm>
            <a:off x="14921593" y="5544789"/>
            <a:ext cx="0" cy="2319776"/>
          </a:xfrm>
          <a:prstGeom prst="line">
            <a:avLst/>
          </a:prstGeom>
          <a:ln w="38100" cap="flat">
            <a:solidFill>
              <a:srgbClr val="FFD308"/>
            </a:solidFill>
            <a:prstDash val="solid"/>
            <a:headEnd type="none" w="sm" len="sm"/>
            <a:tailEnd type="diamond" w="lg" len="lg"/>
          </a:ln>
        </p:spPr>
      </p:sp>
      <p:sp>
        <p:nvSpPr>
          <p:cNvPr id="29" name="AutoShape 29"/>
          <p:cNvSpPr/>
          <p:nvPr/>
        </p:nvSpPr>
        <p:spPr>
          <a:xfrm flipV="1">
            <a:off x="17240250" y="2671575"/>
            <a:ext cx="0" cy="2319776"/>
          </a:xfrm>
          <a:prstGeom prst="line">
            <a:avLst/>
          </a:prstGeom>
          <a:ln w="38100" cap="flat">
            <a:solidFill>
              <a:srgbClr val="FFA678"/>
            </a:solidFill>
            <a:prstDash val="solid"/>
            <a:headEnd type="none" w="sm" len="sm"/>
            <a:tailEnd type="diamond" w="lg" len="lg"/>
          </a:ln>
        </p:spPr>
      </p:sp>
      <p:sp>
        <p:nvSpPr>
          <p:cNvPr id="30" name="TextBox 30"/>
          <p:cNvSpPr txBox="1"/>
          <p:nvPr/>
        </p:nvSpPr>
        <p:spPr>
          <a:xfrm>
            <a:off x="572668" y="3054298"/>
            <a:ext cx="2544845" cy="1497331"/>
          </a:xfrm>
          <a:prstGeom prst="rect">
            <a:avLst/>
          </a:prstGeom>
        </p:spPr>
        <p:txBody>
          <a:bodyPr lIns="0" tIns="0" rIns="0" bIns="0" rtlCol="0" anchor="t">
            <a:spAutoFit/>
          </a:bodyPr>
          <a:lstStyle/>
          <a:p>
            <a:pPr algn="r">
              <a:lnSpc>
                <a:spcPts val="3059"/>
              </a:lnSpc>
            </a:pPr>
            <a:r>
              <a:rPr lang="en-US" sz="1999">
                <a:solidFill>
                  <a:srgbClr val="000000"/>
                </a:solidFill>
                <a:latin typeface="Montserrat"/>
                <a:ea typeface="Montserrat"/>
                <a:cs typeface="Montserrat"/>
                <a:sym typeface="Montserrat"/>
              </a:rPr>
              <a:t>Prepare the project proposal and set up the development environment  </a:t>
            </a:r>
          </a:p>
        </p:txBody>
      </p:sp>
      <p:sp>
        <p:nvSpPr>
          <p:cNvPr id="31" name="TextBox 31"/>
          <p:cNvSpPr txBox="1"/>
          <p:nvPr/>
        </p:nvSpPr>
        <p:spPr>
          <a:xfrm>
            <a:off x="1246108" y="2220582"/>
            <a:ext cx="1883842" cy="738632"/>
          </a:xfrm>
          <a:prstGeom prst="rect">
            <a:avLst/>
          </a:prstGeom>
        </p:spPr>
        <p:txBody>
          <a:bodyPr lIns="0" tIns="0" rIns="0" bIns="0" rtlCol="0" anchor="t">
            <a:spAutoFit/>
          </a:bodyPr>
          <a:lstStyle/>
          <a:p>
            <a:pPr marL="0" lvl="0" indent="0" algn="r">
              <a:lnSpc>
                <a:spcPts val="2944"/>
              </a:lnSpc>
            </a:pPr>
            <a:r>
              <a:rPr lang="en-US" sz="2300" b="1">
                <a:solidFill>
                  <a:srgbClr val="000000"/>
                </a:solidFill>
                <a:latin typeface="Montserrat Bold"/>
                <a:ea typeface="Montserrat Bold"/>
                <a:cs typeface="Montserrat Bold"/>
                <a:sym typeface="Montserrat Bold"/>
              </a:rPr>
              <a:t>Proposal and Setup</a:t>
            </a:r>
          </a:p>
        </p:txBody>
      </p:sp>
      <p:sp>
        <p:nvSpPr>
          <p:cNvPr id="32" name="TextBox 32"/>
          <p:cNvSpPr txBox="1"/>
          <p:nvPr/>
        </p:nvSpPr>
        <p:spPr>
          <a:xfrm>
            <a:off x="5234088" y="3054298"/>
            <a:ext cx="2520739" cy="1878330"/>
          </a:xfrm>
          <a:prstGeom prst="rect">
            <a:avLst/>
          </a:prstGeom>
        </p:spPr>
        <p:txBody>
          <a:bodyPr lIns="0" tIns="0" rIns="0" bIns="0" rtlCol="0" anchor="t">
            <a:spAutoFit/>
          </a:bodyPr>
          <a:lstStyle/>
          <a:p>
            <a:pPr algn="r">
              <a:lnSpc>
                <a:spcPts val="3060"/>
              </a:lnSpc>
            </a:pPr>
            <a:r>
              <a:rPr lang="en-US" sz="2000">
                <a:solidFill>
                  <a:srgbClr val="000000"/>
                </a:solidFill>
                <a:latin typeface="Montserrat"/>
                <a:ea typeface="Montserrat"/>
                <a:cs typeface="Montserrat"/>
                <a:sym typeface="Montserrat"/>
              </a:rPr>
              <a:t>Integrate LLM API,  API, implement classification slots, and create chat endpoints </a:t>
            </a:r>
          </a:p>
        </p:txBody>
      </p:sp>
      <p:sp>
        <p:nvSpPr>
          <p:cNvPr id="33" name="TextBox 33"/>
          <p:cNvSpPr txBox="1"/>
          <p:nvPr/>
        </p:nvSpPr>
        <p:spPr>
          <a:xfrm>
            <a:off x="5883422" y="2220582"/>
            <a:ext cx="1883842" cy="738632"/>
          </a:xfrm>
          <a:prstGeom prst="rect">
            <a:avLst/>
          </a:prstGeom>
        </p:spPr>
        <p:txBody>
          <a:bodyPr lIns="0" tIns="0" rIns="0" bIns="0" rtlCol="0" anchor="t">
            <a:spAutoFit/>
          </a:bodyPr>
          <a:lstStyle/>
          <a:p>
            <a:pPr marL="0" lvl="0" indent="0" algn="r">
              <a:lnSpc>
                <a:spcPts val="2944"/>
              </a:lnSpc>
            </a:pPr>
            <a:r>
              <a:rPr lang="en-US" sz="2300" b="1">
                <a:solidFill>
                  <a:srgbClr val="000000"/>
                </a:solidFill>
                <a:latin typeface="Montserrat Bold"/>
                <a:ea typeface="Montserrat Bold"/>
                <a:cs typeface="Montserrat Bold"/>
                <a:sym typeface="Montserrat Bold"/>
              </a:rPr>
              <a:t>LLM + Chat Setup</a:t>
            </a:r>
          </a:p>
        </p:txBody>
      </p:sp>
      <p:sp>
        <p:nvSpPr>
          <p:cNvPr id="34" name="TextBox 34"/>
          <p:cNvSpPr txBox="1"/>
          <p:nvPr/>
        </p:nvSpPr>
        <p:spPr>
          <a:xfrm>
            <a:off x="9668247" y="3054298"/>
            <a:ext cx="2723895" cy="1878330"/>
          </a:xfrm>
          <a:prstGeom prst="rect">
            <a:avLst/>
          </a:prstGeom>
        </p:spPr>
        <p:txBody>
          <a:bodyPr lIns="0" tIns="0" rIns="0" bIns="0" rtlCol="0" anchor="t">
            <a:spAutoFit/>
          </a:bodyPr>
          <a:lstStyle/>
          <a:p>
            <a:pPr algn="r">
              <a:lnSpc>
                <a:spcPts val="3060"/>
              </a:lnSpc>
            </a:pPr>
            <a:r>
              <a:rPr lang="en-US" sz="2000">
                <a:solidFill>
                  <a:srgbClr val="000000"/>
                </a:solidFill>
                <a:latin typeface="Montserrat"/>
                <a:ea typeface="Montserrat"/>
                <a:cs typeface="Montserrat"/>
                <a:sym typeface="Montserrat"/>
              </a:rPr>
              <a:t>Integrate APIs for car rental, hotels and attractions search, and add an API endpoint</a:t>
            </a:r>
          </a:p>
        </p:txBody>
      </p:sp>
      <p:sp>
        <p:nvSpPr>
          <p:cNvPr id="35" name="TextBox 35"/>
          <p:cNvSpPr txBox="1"/>
          <p:nvPr/>
        </p:nvSpPr>
        <p:spPr>
          <a:xfrm>
            <a:off x="15170487" y="3054298"/>
            <a:ext cx="1858969" cy="1116330"/>
          </a:xfrm>
          <a:prstGeom prst="rect">
            <a:avLst/>
          </a:prstGeom>
        </p:spPr>
        <p:txBody>
          <a:bodyPr lIns="0" tIns="0" rIns="0" bIns="0" rtlCol="0" anchor="t">
            <a:spAutoFit/>
          </a:bodyPr>
          <a:lstStyle/>
          <a:p>
            <a:pPr algn="r">
              <a:lnSpc>
                <a:spcPts val="3060"/>
              </a:lnSpc>
            </a:pPr>
            <a:r>
              <a:rPr lang="en-US" sz="2000">
                <a:solidFill>
                  <a:srgbClr val="000000"/>
                </a:solidFill>
                <a:latin typeface="Montserrat"/>
                <a:ea typeface="Montserrat"/>
                <a:cs typeface="Montserrat"/>
                <a:sym typeface="Montserrat"/>
              </a:rPr>
              <a:t>Publish an app to the Expo/Vercel</a:t>
            </a:r>
          </a:p>
        </p:txBody>
      </p:sp>
      <p:sp>
        <p:nvSpPr>
          <p:cNvPr id="36" name="TextBox 36"/>
          <p:cNvSpPr txBox="1"/>
          <p:nvPr/>
        </p:nvSpPr>
        <p:spPr>
          <a:xfrm>
            <a:off x="14921593" y="2220582"/>
            <a:ext cx="2120299" cy="738632"/>
          </a:xfrm>
          <a:prstGeom prst="rect">
            <a:avLst/>
          </a:prstGeom>
        </p:spPr>
        <p:txBody>
          <a:bodyPr lIns="0" tIns="0" rIns="0" bIns="0" rtlCol="0" anchor="t">
            <a:spAutoFit/>
          </a:bodyPr>
          <a:lstStyle/>
          <a:p>
            <a:pPr marL="0" lvl="0" indent="0" algn="r">
              <a:lnSpc>
                <a:spcPts val="2944"/>
              </a:lnSpc>
            </a:pPr>
            <a:r>
              <a:rPr lang="en-US" sz="2300" b="1">
                <a:solidFill>
                  <a:srgbClr val="000000"/>
                </a:solidFill>
                <a:latin typeface="Montserrat Bold"/>
                <a:ea typeface="Montserrat Bold"/>
                <a:cs typeface="Montserrat Bold"/>
                <a:sym typeface="Montserrat Bold"/>
              </a:rPr>
              <a:t>Publish &amp; Deployment</a:t>
            </a:r>
          </a:p>
        </p:txBody>
      </p:sp>
      <p:sp>
        <p:nvSpPr>
          <p:cNvPr id="37" name="TextBox 37"/>
          <p:cNvSpPr txBox="1"/>
          <p:nvPr/>
        </p:nvSpPr>
        <p:spPr>
          <a:xfrm>
            <a:off x="3347357" y="6486107"/>
            <a:ext cx="2088813" cy="2259330"/>
          </a:xfrm>
          <a:prstGeom prst="rect">
            <a:avLst/>
          </a:prstGeom>
        </p:spPr>
        <p:txBody>
          <a:bodyPr lIns="0" tIns="0" rIns="0" bIns="0" rtlCol="0" anchor="t">
            <a:spAutoFit/>
          </a:bodyPr>
          <a:lstStyle/>
          <a:p>
            <a:pPr algn="r">
              <a:lnSpc>
                <a:spcPts val="3060"/>
              </a:lnSpc>
            </a:pPr>
            <a:r>
              <a:rPr lang="en-US" sz="2000">
                <a:solidFill>
                  <a:srgbClr val="000000"/>
                </a:solidFill>
                <a:latin typeface="Montserrat"/>
                <a:ea typeface="Montserrat"/>
                <a:cs typeface="Montserrat"/>
                <a:sym typeface="Montserrat"/>
              </a:rPr>
              <a:t>Initialize and design the frontend basic layout and the backend basic endpoints</a:t>
            </a:r>
          </a:p>
        </p:txBody>
      </p:sp>
      <p:sp>
        <p:nvSpPr>
          <p:cNvPr id="38" name="TextBox 38"/>
          <p:cNvSpPr txBox="1"/>
          <p:nvPr/>
        </p:nvSpPr>
        <p:spPr>
          <a:xfrm>
            <a:off x="3129949" y="5652392"/>
            <a:ext cx="2318657" cy="738632"/>
          </a:xfrm>
          <a:prstGeom prst="rect">
            <a:avLst/>
          </a:prstGeom>
        </p:spPr>
        <p:txBody>
          <a:bodyPr lIns="0" tIns="0" rIns="0" bIns="0" rtlCol="0" anchor="t">
            <a:spAutoFit/>
          </a:bodyPr>
          <a:lstStyle/>
          <a:p>
            <a:pPr marL="0" lvl="0" indent="0" algn="r">
              <a:lnSpc>
                <a:spcPts val="2944"/>
              </a:lnSpc>
            </a:pPr>
            <a:r>
              <a:rPr lang="en-US" sz="2300" b="1">
                <a:solidFill>
                  <a:srgbClr val="000000"/>
                </a:solidFill>
                <a:latin typeface="Montserrat Bold"/>
                <a:ea typeface="Montserrat Bold"/>
                <a:cs typeface="Montserrat Bold"/>
                <a:sym typeface="Montserrat Bold"/>
              </a:rPr>
              <a:t>Frontend &amp; backend Setup</a:t>
            </a:r>
          </a:p>
        </p:txBody>
      </p:sp>
      <p:sp>
        <p:nvSpPr>
          <p:cNvPr id="39" name="TextBox 39"/>
          <p:cNvSpPr txBox="1"/>
          <p:nvPr/>
        </p:nvSpPr>
        <p:spPr>
          <a:xfrm>
            <a:off x="8214516" y="6486107"/>
            <a:ext cx="1858969" cy="1878330"/>
          </a:xfrm>
          <a:prstGeom prst="rect">
            <a:avLst/>
          </a:prstGeom>
        </p:spPr>
        <p:txBody>
          <a:bodyPr lIns="0" tIns="0" rIns="0" bIns="0" rtlCol="0" anchor="t">
            <a:spAutoFit/>
          </a:bodyPr>
          <a:lstStyle/>
          <a:p>
            <a:pPr algn="r">
              <a:lnSpc>
                <a:spcPts val="3060"/>
              </a:lnSpc>
            </a:pPr>
            <a:r>
              <a:rPr lang="en-US" sz="2000">
                <a:solidFill>
                  <a:srgbClr val="000000"/>
                </a:solidFill>
                <a:latin typeface="Montserrat"/>
                <a:ea typeface="Montserrat"/>
                <a:cs typeface="Montserrat"/>
                <a:sym typeface="Montserrat"/>
              </a:rPr>
              <a:t>Integrate APIs for flights and hotels, and add each API endpoint </a:t>
            </a:r>
          </a:p>
        </p:txBody>
      </p:sp>
      <p:sp>
        <p:nvSpPr>
          <p:cNvPr id="40" name="TextBox 40"/>
          <p:cNvSpPr txBox="1"/>
          <p:nvPr/>
        </p:nvSpPr>
        <p:spPr>
          <a:xfrm>
            <a:off x="12392142" y="6486107"/>
            <a:ext cx="2318657" cy="1497330"/>
          </a:xfrm>
          <a:prstGeom prst="rect">
            <a:avLst/>
          </a:prstGeom>
        </p:spPr>
        <p:txBody>
          <a:bodyPr lIns="0" tIns="0" rIns="0" bIns="0" rtlCol="0" anchor="t">
            <a:spAutoFit/>
          </a:bodyPr>
          <a:lstStyle/>
          <a:p>
            <a:pPr algn="r">
              <a:lnSpc>
                <a:spcPts val="3060"/>
              </a:lnSpc>
            </a:pPr>
            <a:r>
              <a:rPr lang="en-US" sz="2000">
                <a:solidFill>
                  <a:srgbClr val="000000"/>
                </a:solidFill>
                <a:latin typeface="Montserrat"/>
                <a:ea typeface="Montserrat"/>
                <a:cs typeface="Montserrat"/>
                <a:sym typeface="Montserrat"/>
              </a:rPr>
              <a:t>Orchestrate flight, hotel, rental,  and attractions based on inputs</a:t>
            </a:r>
          </a:p>
        </p:txBody>
      </p:sp>
      <p:sp>
        <p:nvSpPr>
          <p:cNvPr id="41" name="TextBox 41"/>
          <p:cNvSpPr txBox="1"/>
          <p:nvPr/>
        </p:nvSpPr>
        <p:spPr>
          <a:xfrm>
            <a:off x="12417015" y="5652392"/>
            <a:ext cx="2306221" cy="738632"/>
          </a:xfrm>
          <a:prstGeom prst="rect">
            <a:avLst/>
          </a:prstGeom>
        </p:spPr>
        <p:txBody>
          <a:bodyPr lIns="0" tIns="0" rIns="0" bIns="0" rtlCol="0" anchor="t">
            <a:spAutoFit/>
          </a:bodyPr>
          <a:lstStyle/>
          <a:p>
            <a:pPr marL="0" lvl="0" indent="0" algn="r">
              <a:lnSpc>
                <a:spcPts val="2944"/>
              </a:lnSpc>
            </a:pPr>
            <a:r>
              <a:rPr lang="en-US" sz="2300" b="1">
                <a:solidFill>
                  <a:srgbClr val="000000"/>
                </a:solidFill>
                <a:latin typeface="Montserrat Bold"/>
                <a:ea typeface="Montserrat Bold"/>
                <a:cs typeface="Montserrat Bold"/>
                <a:sym typeface="Montserrat Bold"/>
              </a:rPr>
              <a:t>Orchestration &amp; Testing</a:t>
            </a:r>
          </a:p>
        </p:txBody>
      </p:sp>
      <p:sp>
        <p:nvSpPr>
          <p:cNvPr id="42" name="TextBox 42"/>
          <p:cNvSpPr txBox="1"/>
          <p:nvPr/>
        </p:nvSpPr>
        <p:spPr>
          <a:xfrm>
            <a:off x="1028700" y="839267"/>
            <a:ext cx="7584203" cy="1075563"/>
          </a:xfrm>
          <a:prstGeom prst="rect">
            <a:avLst/>
          </a:prstGeom>
        </p:spPr>
        <p:txBody>
          <a:bodyPr lIns="0" tIns="0" rIns="0" bIns="0" rtlCol="0" anchor="t">
            <a:spAutoFit/>
          </a:bodyPr>
          <a:lstStyle/>
          <a:p>
            <a:pPr marL="0" lvl="0" indent="0" algn="ctr">
              <a:lnSpc>
                <a:spcPts val="8496"/>
              </a:lnSpc>
              <a:spcBef>
                <a:spcPct val="0"/>
              </a:spcBef>
            </a:pPr>
            <a:r>
              <a:rPr lang="en-US" sz="7200" b="1">
                <a:solidFill>
                  <a:srgbClr val="000000"/>
                </a:solidFill>
                <a:latin typeface="DM Sans Bold"/>
                <a:ea typeface="DM Sans Bold"/>
                <a:cs typeface="DM Sans Bold"/>
                <a:sym typeface="DM Sans Bold"/>
              </a:rPr>
              <a:t>Project Timeline</a:t>
            </a:r>
          </a:p>
        </p:txBody>
      </p:sp>
      <p:sp>
        <p:nvSpPr>
          <p:cNvPr id="43" name="TextBox 43"/>
          <p:cNvSpPr txBox="1"/>
          <p:nvPr/>
        </p:nvSpPr>
        <p:spPr>
          <a:xfrm>
            <a:off x="7537113" y="5652392"/>
            <a:ext cx="2561244" cy="738632"/>
          </a:xfrm>
          <a:prstGeom prst="rect">
            <a:avLst/>
          </a:prstGeom>
        </p:spPr>
        <p:txBody>
          <a:bodyPr lIns="0" tIns="0" rIns="0" bIns="0" rtlCol="0" anchor="t">
            <a:spAutoFit/>
          </a:bodyPr>
          <a:lstStyle/>
          <a:p>
            <a:pPr marL="0" lvl="0" indent="0" algn="r">
              <a:lnSpc>
                <a:spcPts val="2944"/>
              </a:lnSpc>
            </a:pPr>
            <a:r>
              <a:rPr lang="en-US" sz="2300" b="1">
                <a:solidFill>
                  <a:srgbClr val="000000"/>
                </a:solidFill>
                <a:latin typeface="Montserrat Bold"/>
                <a:ea typeface="Montserrat Bold"/>
                <a:cs typeface="Montserrat Bold"/>
                <a:sym typeface="Montserrat Bold"/>
              </a:rPr>
              <a:t>Flights &amp; Hotels Integration</a:t>
            </a:r>
          </a:p>
        </p:txBody>
      </p:sp>
      <p:sp>
        <p:nvSpPr>
          <p:cNvPr id="44" name="TextBox 44"/>
          <p:cNvSpPr txBox="1"/>
          <p:nvPr/>
        </p:nvSpPr>
        <p:spPr>
          <a:xfrm>
            <a:off x="9409528" y="2220582"/>
            <a:ext cx="3007486" cy="738632"/>
          </a:xfrm>
          <a:prstGeom prst="rect">
            <a:avLst/>
          </a:prstGeom>
        </p:spPr>
        <p:txBody>
          <a:bodyPr lIns="0" tIns="0" rIns="0" bIns="0" rtlCol="0" anchor="t">
            <a:spAutoFit/>
          </a:bodyPr>
          <a:lstStyle/>
          <a:p>
            <a:pPr marL="0" lvl="0" indent="0" algn="r">
              <a:lnSpc>
                <a:spcPts val="2944"/>
              </a:lnSpc>
            </a:pPr>
            <a:r>
              <a:rPr lang="en-US" sz="2300" b="1">
                <a:solidFill>
                  <a:srgbClr val="000000"/>
                </a:solidFill>
                <a:latin typeface="Montserrat Bold"/>
                <a:ea typeface="Montserrat Bold"/>
                <a:cs typeface="Montserrat Bold"/>
                <a:sym typeface="Montserrat Bold"/>
              </a:rPr>
              <a:t>Rent &amp; Attractions Integration</a:t>
            </a:r>
          </a:p>
        </p:txBody>
      </p:sp>
      <p:sp>
        <p:nvSpPr>
          <p:cNvPr id="45" name="TextBox 45"/>
          <p:cNvSpPr txBox="1"/>
          <p:nvPr/>
        </p:nvSpPr>
        <p:spPr>
          <a:xfrm>
            <a:off x="12543304" y="9615962"/>
            <a:ext cx="4715996" cy="370206"/>
          </a:xfrm>
          <a:prstGeom prst="rect">
            <a:avLst/>
          </a:prstGeom>
        </p:spPr>
        <p:txBody>
          <a:bodyPr lIns="0" tIns="0" rIns="0" bIns="0" rtlCol="0" anchor="t">
            <a:spAutoFit/>
          </a:bodyPr>
          <a:lstStyle/>
          <a:p>
            <a:pPr algn="ctr">
              <a:lnSpc>
                <a:spcPts val="3054"/>
              </a:lnSpc>
              <a:spcBef>
                <a:spcPct val="0"/>
              </a:spcBef>
            </a:pPr>
            <a:r>
              <a:rPr lang="en-US" sz="2349">
                <a:solidFill>
                  <a:srgbClr val="002217"/>
                </a:solidFill>
                <a:latin typeface="Canva Sans"/>
                <a:ea typeface="Canva Sans"/>
                <a:cs typeface="Canva Sans"/>
                <a:sym typeface="Canva Sans"/>
              </a:rPr>
              <a:t>Created by Sangmin, Umair, Ayo</a:t>
            </a:r>
          </a:p>
        </p:txBody>
      </p:sp>
      <p:sp>
        <p:nvSpPr>
          <p:cNvPr id="46" name="AutoShape 46"/>
          <p:cNvSpPr/>
          <p:nvPr/>
        </p:nvSpPr>
        <p:spPr>
          <a:xfrm rot="10800000" flipV="1">
            <a:off x="9144000" y="3105476"/>
            <a:ext cx="0" cy="1446153"/>
          </a:xfrm>
          <a:prstGeom prst="line">
            <a:avLst/>
          </a:prstGeom>
          <a:ln w="95250" cap="flat">
            <a:solidFill>
              <a:srgbClr val="FFD308"/>
            </a:solidFill>
            <a:prstDash val="solid"/>
            <a:headEnd type="none" w="sm" len="sm"/>
            <a:tailEnd type="arrow" w="med" len="sm"/>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
                                        <p:tgtEl>
                                          <p:spTgt spid="2"/>
                                        </p:tgtEl>
                                      </p:cBhvr>
                                    </p:animEffect>
                                  </p:childTnLst>
                                </p:cTn>
                              </p:par>
                            </p:childTnLst>
                          </p:cTn>
                        </p:par>
                        <p:par>
                          <p:cTn id="8" fill="hold">
                            <p:stCondLst>
                              <p:cond delay="5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
                                        <p:tgtEl>
                                          <p:spTgt spid="5"/>
                                        </p:tgtEl>
                                      </p:cBhvr>
                                    </p:animEffect>
                                  </p:childTnLst>
                                </p:cTn>
                              </p:par>
                            </p:childTnLst>
                          </p:cTn>
                        </p:par>
                        <p:par>
                          <p:cTn id="12" fill="hold">
                            <p:stCondLst>
                              <p:cond delay="100"/>
                            </p:stCondLst>
                            <p:childTnLst>
                              <p:par>
                                <p:cTn id="13" presetID="10"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
                                        <p:tgtEl>
                                          <p:spTgt spid="8"/>
                                        </p:tgtEl>
                                      </p:cBhvr>
                                    </p:animEffect>
                                  </p:childTnLst>
                                </p:cTn>
                              </p:par>
                            </p:childTnLst>
                          </p:cTn>
                        </p:par>
                        <p:par>
                          <p:cTn id="16" fill="hold">
                            <p:stCondLst>
                              <p:cond delay="150"/>
                            </p:stCondLst>
                            <p:childTnLst>
                              <p:par>
                                <p:cTn id="17" presetID="10" presetClass="entr" presetSubtype="0"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
                                        <p:tgtEl>
                                          <p:spTgt spid="11"/>
                                        </p:tgtEl>
                                      </p:cBhvr>
                                    </p:animEffect>
                                  </p:childTnLst>
                                </p:cTn>
                              </p:par>
                            </p:childTnLst>
                          </p:cTn>
                        </p:par>
                        <p:par>
                          <p:cTn id="20" fill="hold">
                            <p:stCondLst>
                              <p:cond delay="200"/>
                            </p:stCondLst>
                            <p:childTnLst>
                              <p:par>
                                <p:cTn id="21" presetID="10" presetClass="entr" presetSubtype="0"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
                                        <p:tgtEl>
                                          <p:spTgt spid="14"/>
                                        </p:tgtEl>
                                      </p:cBhvr>
                                    </p:animEffect>
                                  </p:childTnLst>
                                </p:cTn>
                              </p:par>
                            </p:childTnLst>
                          </p:cTn>
                        </p:par>
                        <p:par>
                          <p:cTn id="24" fill="hold">
                            <p:stCondLst>
                              <p:cond delay="250"/>
                            </p:stCondLst>
                            <p:childTnLst>
                              <p:par>
                                <p:cTn id="25" presetID="10" presetClass="entr" presetSubtype="0" fill="hold"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
                                        <p:tgtEl>
                                          <p:spTgt spid="17"/>
                                        </p:tgtEl>
                                      </p:cBhvr>
                                    </p:animEffect>
                                  </p:childTnLst>
                                </p:cTn>
                              </p:par>
                            </p:childTnLst>
                          </p:cTn>
                        </p:par>
                        <p:par>
                          <p:cTn id="28" fill="hold">
                            <p:stCondLst>
                              <p:cond delay="300"/>
                            </p:stCondLst>
                            <p:childTnLst>
                              <p:par>
                                <p:cTn id="29" presetID="10" presetClass="entr" presetSubtype="0" fill="hold"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
                                        <p:tgtEl>
                                          <p:spTgt spid="20"/>
                                        </p:tgtEl>
                                      </p:cBhvr>
                                    </p:animEffect>
                                  </p:childTnLst>
                                </p:cTn>
                              </p:par>
                            </p:childTnLst>
                          </p:cTn>
                        </p:par>
                        <p:par>
                          <p:cTn id="32" fill="hold">
                            <p:stCondLst>
                              <p:cond delay="350"/>
                            </p:stCondLst>
                            <p:childTnLst>
                              <p:par>
                                <p:cTn id="33" presetID="10" presetClass="entr" presetSubtype="0" fill="hold"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
                                        <p:tgtEl>
                                          <p:spTgt spid="23"/>
                                        </p:tgtEl>
                                      </p:cBhvr>
                                    </p:animEffect>
                                  </p:childTnLst>
                                </p:cTn>
                              </p:par>
                            </p:childTnLst>
                          </p:cTn>
                        </p:par>
                        <p:par>
                          <p:cTn id="36" fill="hold">
                            <p:stCondLst>
                              <p:cond delay="400"/>
                            </p:stCondLst>
                            <p:childTnLst>
                              <p:par>
                                <p:cTn id="37" presetID="10" presetClass="entr" presetSubtype="0" fill="hold"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
                                        <p:tgtEl>
                                          <p:spTgt spid="24"/>
                                        </p:tgtEl>
                                      </p:cBhvr>
                                    </p:animEffect>
                                  </p:childTnLst>
                                </p:cTn>
                              </p:par>
                            </p:childTnLst>
                          </p:cTn>
                        </p:par>
                        <p:par>
                          <p:cTn id="40" fill="hold">
                            <p:stCondLst>
                              <p:cond delay="450"/>
                            </p:stCondLst>
                            <p:childTnLst>
                              <p:par>
                                <p:cTn id="41" presetID="10" presetClass="entr" presetSubtype="0" fill="hold" nodeType="after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
                                        <p:tgtEl>
                                          <p:spTgt spid="25"/>
                                        </p:tgtEl>
                                      </p:cBhvr>
                                    </p:animEffec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50"/>
                                        <p:tgtEl>
                                          <p:spTgt spid="26"/>
                                        </p:tgtEl>
                                      </p:cBhvr>
                                    </p:animEffect>
                                  </p:childTnLst>
                                </p:cTn>
                              </p:par>
                            </p:childTnLst>
                          </p:cTn>
                        </p:par>
                        <p:par>
                          <p:cTn id="48" fill="hold">
                            <p:stCondLst>
                              <p:cond delay="550"/>
                            </p:stCondLst>
                            <p:childTnLst>
                              <p:par>
                                <p:cTn id="49" presetID="10" presetClass="entr" presetSubtype="0" fill="hold" nodeType="after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50"/>
                                        <p:tgtEl>
                                          <p:spTgt spid="27"/>
                                        </p:tgtEl>
                                      </p:cBhvr>
                                    </p:animEffect>
                                  </p:childTnLst>
                                </p:cTn>
                              </p:par>
                            </p:childTnLst>
                          </p:cTn>
                        </p:par>
                        <p:par>
                          <p:cTn id="52" fill="hold">
                            <p:stCondLst>
                              <p:cond delay="600"/>
                            </p:stCondLst>
                            <p:childTnLst>
                              <p:par>
                                <p:cTn id="53" presetID="10" presetClass="entr" presetSubtype="0" fill="hold" nodeType="after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50"/>
                                        <p:tgtEl>
                                          <p:spTgt spid="28"/>
                                        </p:tgtEl>
                                      </p:cBhvr>
                                    </p:animEffect>
                                  </p:childTnLst>
                                </p:cTn>
                              </p:par>
                            </p:childTnLst>
                          </p:cTn>
                        </p:par>
                        <p:par>
                          <p:cTn id="56" fill="hold">
                            <p:stCondLst>
                              <p:cond delay="650"/>
                            </p:stCondLst>
                            <p:childTnLst>
                              <p:par>
                                <p:cTn id="57" presetID="10" presetClass="entr" presetSubtype="0" fill="hold"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50"/>
                                        <p:tgtEl>
                                          <p:spTgt spid="29"/>
                                        </p:tgtEl>
                                      </p:cBhvr>
                                    </p:animEffect>
                                  </p:childTnLst>
                                </p:cTn>
                              </p:par>
                            </p:childTnLst>
                          </p:cTn>
                        </p:par>
                        <p:par>
                          <p:cTn id="60" fill="hold">
                            <p:stCondLst>
                              <p:cond delay="700"/>
                            </p:stCondLst>
                            <p:childTnLst>
                              <p:par>
                                <p:cTn id="61" presetID="10" presetClass="entr" presetSubtype="0" fill="hold" grpId="0" nodeType="after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50"/>
                                        <p:tgtEl>
                                          <p:spTgt spid="30"/>
                                        </p:tgtEl>
                                      </p:cBhvr>
                                    </p:animEffect>
                                  </p:childTnLst>
                                </p:cTn>
                              </p:par>
                            </p:childTnLst>
                          </p:cTn>
                        </p:par>
                        <p:par>
                          <p:cTn id="64" fill="hold">
                            <p:stCondLst>
                              <p:cond delay="750"/>
                            </p:stCondLst>
                            <p:childTnLst>
                              <p:par>
                                <p:cTn id="65" presetID="10" presetClass="entr" presetSubtype="0" fill="hold" grpId="0" nodeType="after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50"/>
                                        <p:tgtEl>
                                          <p:spTgt spid="31"/>
                                        </p:tgtEl>
                                      </p:cBhvr>
                                    </p:animEffect>
                                  </p:childTnLst>
                                </p:cTn>
                              </p:par>
                            </p:childTnLst>
                          </p:cTn>
                        </p:par>
                        <p:par>
                          <p:cTn id="68" fill="hold">
                            <p:stCondLst>
                              <p:cond delay="800"/>
                            </p:stCondLst>
                            <p:childTnLst>
                              <p:par>
                                <p:cTn id="69" presetID="10" presetClass="entr" presetSubtype="0" fill="hold" grpId="0" nodeType="after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50"/>
                                        <p:tgtEl>
                                          <p:spTgt spid="32"/>
                                        </p:tgtEl>
                                      </p:cBhvr>
                                    </p:animEffect>
                                  </p:childTnLst>
                                </p:cTn>
                              </p:par>
                            </p:childTnLst>
                          </p:cTn>
                        </p:par>
                        <p:par>
                          <p:cTn id="72" fill="hold">
                            <p:stCondLst>
                              <p:cond delay="850"/>
                            </p:stCondLst>
                            <p:childTnLst>
                              <p:par>
                                <p:cTn id="73" presetID="10" presetClass="entr" presetSubtype="0" fill="hold" grpId="0" nodeType="after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50"/>
                                        <p:tgtEl>
                                          <p:spTgt spid="33"/>
                                        </p:tgtEl>
                                      </p:cBhvr>
                                    </p:animEffect>
                                  </p:childTnLst>
                                </p:cTn>
                              </p:par>
                            </p:childTnLst>
                          </p:cTn>
                        </p:par>
                        <p:par>
                          <p:cTn id="76" fill="hold">
                            <p:stCondLst>
                              <p:cond delay="900"/>
                            </p:stCondLst>
                            <p:childTnLst>
                              <p:par>
                                <p:cTn id="77" presetID="10" presetClass="entr" presetSubtype="0" fill="hold" grpId="0" nodeType="after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50"/>
                                        <p:tgtEl>
                                          <p:spTgt spid="34"/>
                                        </p:tgtEl>
                                      </p:cBhvr>
                                    </p:animEffect>
                                  </p:childTnLst>
                                </p:cTn>
                              </p:par>
                            </p:childTnLst>
                          </p:cTn>
                        </p:par>
                        <p:par>
                          <p:cTn id="80" fill="hold">
                            <p:stCondLst>
                              <p:cond delay="950"/>
                            </p:stCondLst>
                            <p:childTnLst>
                              <p:par>
                                <p:cTn id="81" presetID="10" presetClass="entr" presetSubtype="0" fill="hold" grpId="0" nodeType="after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fade">
                                      <p:cBhvr>
                                        <p:cTn id="83" dur="50"/>
                                        <p:tgtEl>
                                          <p:spTgt spid="35"/>
                                        </p:tgtEl>
                                      </p:cBhvr>
                                    </p:animEffect>
                                  </p:childTnLst>
                                </p:cTn>
                              </p:par>
                            </p:childTnLst>
                          </p:cTn>
                        </p:par>
                        <p:par>
                          <p:cTn id="84" fill="hold">
                            <p:stCondLst>
                              <p:cond delay="1000"/>
                            </p:stCondLst>
                            <p:childTnLst>
                              <p:par>
                                <p:cTn id="85" presetID="10" presetClass="entr" presetSubtype="0" fill="hold" grpId="0" nodeType="afterEffect">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50"/>
                                        <p:tgtEl>
                                          <p:spTgt spid="36"/>
                                        </p:tgtEl>
                                      </p:cBhvr>
                                    </p:animEffect>
                                  </p:childTnLst>
                                </p:cTn>
                              </p:par>
                            </p:childTnLst>
                          </p:cTn>
                        </p:par>
                        <p:par>
                          <p:cTn id="88" fill="hold">
                            <p:stCondLst>
                              <p:cond delay="1050"/>
                            </p:stCondLst>
                            <p:childTnLst>
                              <p:par>
                                <p:cTn id="89" presetID="10" presetClass="entr" presetSubtype="0" fill="hold" grpId="0" nodeType="afterEffect">
                                  <p:stCondLst>
                                    <p:cond delay="0"/>
                                  </p:stCondLst>
                                  <p:childTnLst>
                                    <p:set>
                                      <p:cBhvr>
                                        <p:cTn id="90" dur="1" fill="hold">
                                          <p:stCondLst>
                                            <p:cond delay="0"/>
                                          </p:stCondLst>
                                        </p:cTn>
                                        <p:tgtEl>
                                          <p:spTgt spid="37"/>
                                        </p:tgtEl>
                                        <p:attrNameLst>
                                          <p:attrName>style.visibility</p:attrName>
                                        </p:attrNameLst>
                                      </p:cBhvr>
                                      <p:to>
                                        <p:strVal val="visible"/>
                                      </p:to>
                                    </p:set>
                                    <p:animEffect transition="in" filter="fade">
                                      <p:cBhvr>
                                        <p:cTn id="91" dur="50"/>
                                        <p:tgtEl>
                                          <p:spTgt spid="37"/>
                                        </p:tgtEl>
                                      </p:cBhvr>
                                    </p:animEffect>
                                  </p:childTnLst>
                                </p:cTn>
                              </p:par>
                            </p:childTnLst>
                          </p:cTn>
                        </p:par>
                        <p:par>
                          <p:cTn id="92" fill="hold">
                            <p:stCondLst>
                              <p:cond delay="1100"/>
                            </p:stCondLst>
                            <p:childTnLst>
                              <p:par>
                                <p:cTn id="93" presetID="10" presetClass="entr" presetSubtype="0" fill="hold" grpId="0" nodeType="afterEffect">
                                  <p:stCondLst>
                                    <p:cond delay="0"/>
                                  </p:stCondLst>
                                  <p:childTnLst>
                                    <p:set>
                                      <p:cBhvr>
                                        <p:cTn id="94" dur="1" fill="hold">
                                          <p:stCondLst>
                                            <p:cond delay="0"/>
                                          </p:stCondLst>
                                        </p:cTn>
                                        <p:tgtEl>
                                          <p:spTgt spid="38"/>
                                        </p:tgtEl>
                                        <p:attrNameLst>
                                          <p:attrName>style.visibility</p:attrName>
                                        </p:attrNameLst>
                                      </p:cBhvr>
                                      <p:to>
                                        <p:strVal val="visible"/>
                                      </p:to>
                                    </p:set>
                                    <p:animEffect transition="in" filter="fade">
                                      <p:cBhvr>
                                        <p:cTn id="95" dur="50"/>
                                        <p:tgtEl>
                                          <p:spTgt spid="38"/>
                                        </p:tgtEl>
                                      </p:cBhvr>
                                    </p:animEffect>
                                  </p:childTnLst>
                                </p:cTn>
                              </p:par>
                            </p:childTnLst>
                          </p:cTn>
                        </p:par>
                        <p:par>
                          <p:cTn id="96" fill="hold">
                            <p:stCondLst>
                              <p:cond delay="1150"/>
                            </p:stCondLst>
                            <p:childTnLst>
                              <p:par>
                                <p:cTn id="97" presetID="10" presetClass="entr" presetSubtype="0" fill="hold" grpId="0" nodeType="afterEffect">
                                  <p:stCondLst>
                                    <p:cond delay="0"/>
                                  </p:stCondLst>
                                  <p:childTnLst>
                                    <p:set>
                                      <p:cBhvr>
                                        <p:cTn id="98" dur="1" fill="hold">
                                          <p:stCondLst>
                                            <p:cond delay="0"/>
                                          </p:stCondLst>
                                        </p:cTn>
                                        <p:tgtEl>
                                          <p:spTgt spid="39"/>
                                        </p:tgtEl>
                                        <p:attrNameLst>
                                          <p:attrName>style.visibility</p:attrName>
                                        </p:attrNameLst>
                                      </p:cBhvr>
                                      <p:to>
                                        <p:strVal val="visible"/>
                                      </p:to>
                                    </p:set>
                                    <p:animEffect transition="in" filter="fade">
                                      <p:cBhvr>
                                        <p:cTn id="99" dur="50"/>
                                        <p:tgtEl>
                                          <p:spTgt spid="39"/>
                                        </p:tgtEl>
                                      </p:cBhvr>
                                    </p:animEffect>
                                  </p:childTnLst>
                                </p:cTn>
                              </p:par>
                            </p:childTnLst>
                          </p:cTn>
                        </p:par>
                        <p:par>
                          <p:cTn id="100" fill="hold">
                            <p:stCondLst>
                              <p:cond delay="1200"/>
                            </p:stCondLst>
                            <p:childTnLst>
                              <p:par>
                                <p:cTn id="101" presetID="10" presetClass="entr" presetSubtype="0" fill="hold" grpId="0" nodeType="afterEffect">
                                  <p:stCondLst>
                                    <p:cond delay="0"/>
                                  </p:stCondLst>
                                  <p:childTnLst>
                                    <p:set>
                                      <p:cBhvr>
                                        <p:cTn id="102" dur="1" fill="hold">
                                          <p:stCondLst>
                                            <p:cond delay="0"/>
                                          </p:stCondLst>
                                        </p:cTn>
                                        <p:tgtEl>
                                          <p:spTgt spid="40"/>
                                        </p:tgtEl>
                                        <p:attrNameLst>
                                          <p:attrName>style.visibility</p:attrName>
                                        </p:attrNameLst>
                                      </p:cBhvr>
                                      <p:to>
                                        <p:strVal val="visible"/>
                                      </p:to>
                                    </p:set>
                                    <p:animEffect transition="in" filter="fade">
                                      <p:cBhvr>
                                        <p:cTn id="103" dur="50"/>
                                        <p:tgtEl>
                                          <p:spTgt spid="40"/>
                                        </p:tgtEl>
                                      </p:cBhvr>
                                    </p:animEffect>
                                  </p:childTnLst>
                                </p:cTn>
                              </p:par>
                            </p:childTnLst>
                          </p:cTn>
                        </p:par>
                        <p:par>
                          <p:cTn id="104" fill="hold">
                            <p:stCondLst>
                              <p:cond delay="1250"/>
                            </p:stCondLst>
                            <p:childTnLst>
                              <p:par>
                                <p:cTn id="105" presetID="10" presetClass="entr" presetSubtype="0" fill="hold" grpId="0" nodeType="afterEffect">
                                  <p:stCondLst>
                                    <p:cond delay="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7" dur="50"/>
                                        <p:tgtEl>
                                          <p:spTgt spid="41"/>
                                        </p:tgtEl>
                                      </p:cBhvr>
                                    </p:animEffect>
                                  </p:childTnLst>
                                </p:cTn>
                              </p:par>
                            </p:childTnLst>
                          </p:cTn>
                        </p:par>
                        <p:par>
                          <p:cTn id="108" fill="hold">
                            <p:stCondLst>
                              <p:cond delay="1300"/>
                            </p:stCondLst>
                            <p:childTnLst>
                              <p:par>
                                <p:cTn id="109" presetID="10" presetClass="entr" presetSubtype="0" fill="hold" grpId="0" nodeType="afterEffect">
                                  <p:stCondLst>
                                    <p:cond delay="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11" dur="50"/>
                                        <p:tgtEl>
                                          <p:spTgt spid="42"/>
                                        </p:tgtEl>
                                      </p:cBhvr>
                                    </p:animEffect>
                                  </p:childTnLst>
                                </p:cTn>
                              </p:par>
                            </p:childTnLst>
                          </p:cTn>
                        </p:par>
                        <p:par>
                          <p:cTn id="112" fill="hold">
                            <p:stCondLst>
                              <p:cond delay="1350"/>
                            </p:stCondLst>
                            <p:childTnLst>
                              <p:par>
                                <p:cTn id="113" presetID="10" presetClass="entr" presetSubtype="0" fill="hold" grpId="0" nodeType="afterEffect">
                                  <p:stCondLst>
                                    <p:cond delay="0"/>
                                  </p:stCondLst>
                                  <p:childTnLst>
                                    <p:set>
                                      <p:cBhvr>
                                        <p:cTn id="114" dur="1" fill="hold">
                                          <p:stCondLst>
                                            <p:cond delay="0"/>
                                          </p:stCondLst>
                                        </p:cTn>
                                        <p:tgtEl>
                                          <p:spTgt spid="43"/>
                                        </p:tgtEl>
                                        <p:attrNameLst>
                                          <p:attrName>style.visibility</p:attrName>
                                        </p:attrNameLst>
                                      </p:cBhvr>
                                      <p:to>
                                        <p:strVal val="visible"/>
                                      </p:to>
                                    </p:set>
                                    <p:animEffect transition="in" filter="fade">
                                      <p:cBhvr>
                                        <p:cTn id="115" dur="50"/>
                                        <p:tgtEl>
                                          <p:spTgt spid="43"/>
                                        </p:tgtEl>
                                      </p:cBhvr>
                                    </p:animEffect>
                                  </p:childTnLst>
                                </p:cTn>
                              </p:par>
                            </p:childTnLst>
                          </p:cTn>
                        </p:par>
                        <p:par>
                          <p:cTn id="116" fill="hold">
                            <p:stCondLst>
                              <p:cond delay="1400"/>
                            </p:stCondLst>
                            <p:childTnLst>
                              <p:par>
                                <p:cTn id="117" presetID="10" presetClass="entr" presetSubtype="0" fill="hold" grpId="0" nodeType="afterEffect">
                                  <p:stCondLst>
                                    <p:cond delay="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9" dur="50"/>
                                        <p:tgtEl>
                                          <p:spTgt spid="44"/>
                                        </p:tgtEl>
                                      </p:cBhvr>
                                    </p:animEffect>
                                  </p:childTnLst>
                                </p:cTn>
                              </p:par>
                            </p:childTnLst>
                          </p:cTn>
                        </p:par>
                        <p:par>
                          <p:cTn id="120" fill="hold">
                            <p:stCondLst>
                              <p:cond delay="1450"/>
                            </p:stCondLst>
                            <p:childTnLst>
                              <p:par>
                                <p:cTn id="121" presetID="10" presetClass="entr" presetSubtype="0" fill="hold" grpId="0" nodeType="after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50"/>
                                        <p:tgtEl>
                                          <p:spTgt spid="45"/>
                                        </p:tgtEl>
                                      </p:cBhvr>
                                    </p:animEffect>
                                  </p:childTnLst>
                                </p:cTn>
                              </p:par>
                            </p:childTnLst>
                          </p:cTn>
                        </p:par>
                        <p:par>
                          <p:cTn id="124" fill="hold">
                            <p:stCondLst>
                              <p:cond delay="1500"/>
                            </p:stCondLst>
                            <p:childTnLst>
                              <p:par>
                                <p:cTn id="125" presetID="10" presetClass="entr" presetSubtype="0" fill="hold" nodeType="after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50"/>
                                        <p:tgtEl>
                                          <p:spTgt spid="46"/>
                                        </p:tgtEl>
                                      </p:cBhvr>
                                    </p:animEffect>
                                  </p:childTnLst>
                                </p:cTn>
                              </p:par>
                            </p:childTnLst>
                          </p:cTn>
                        </p:par>
                      </p:childTnLst>
                    </p:cTn>
                  </p:par>
                  <p:par>
                    <p:cTn id="128" fill="hold">
                      <p:stCondLst>
                        <p:cond delay="indefinite"/>
                      </p:stCondLst>
                      <p:childTnLst>
                        <p:par>
                          <p:cTn id="129" fill="hold">
                            <p:stCondLst>
                              <p:cond delay="0"/>
                            </p:stCondLst>
                            <p:childTnLst>
                              <p:par>
                                <p:cTn id="130" presetID="2" presetClass="entr" presetSubtype="1" fill="hold" nodeType="clickEffect">
                                  <p:stCondLst>
                                    <p:cond delay="0"/>
                                  </p:stCondLst>
                                  <p:childTnLst>
                                    <p:set>
                                      <p:cBhvr>
                                        <p:cTn id="131" dur="1" fill="hold">
                                          <p:stCondLst>
                                            <p:cond delay="0"/>
                                          </p:stCondLst>
                                        </p:cTn>
                                        <p:tgtEl>
                                          <p:spTgt spid="46"/>
                                        </p:tgtEl>
                                        <p:attrNameLst>
                                          <p:attrName>style.visibility</p:attrName>
                                        </p:attrNameLst>
                                      </p:cBhvr>
                                      <p:to>
                                        <p:strVal val="visible"/>
                                      </p:to>
                                    </p:set>
                                    <p:anim calcmode="lin" valueType="num">
                                      <p:cBhvr additive="base">
                                        <p:cTn id="132" dur="500" fill="hold"/>
                                        <p:tgtEl>
                                          <p:spTgt spid="46"/>
                                        </p:tgtEl>
                                        <p:attrNameLst>
                                          <p:attrName>ppt_x</p:attrName>
                                        </p:attrNameLst>
                                      </p:cBhvr>
                                      <p:tavLst>
                                        <p:tav tm="0">
                                          <p:val>
                                            <p:strVal val="#ppt_x"/>
                                          </p:val>
                                        </p:tav>
                                        <p:tav tm="100000">
                                          <p:val>
                                            <p:strVal val="#ppt_x"/>
                                          </p:val>
                                        </p:tav>
                                      </p:tavLst>
                                    </p:anim>
                                    <p:anim calcmode="lin" valueType="num">
                                      <p:cBhvr additive="base">
                                        <p:cTn id="133" dur="500" fill="hold"/>
                                        <p:tgtEl>
                                          <p:spTgt spid="4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sp>
        <p:nvSpPr>
          <p:cNvPr id="10" name="TextBox 2">
            <a:extLst>
              <a:ext uri="{FF2B5EF4-FFF2-40B4-BE49-F238E27FC236}">
                <a16:creationId xmlns:a16="http://schemas.microsoft.com/office/drawing/2014/main" id="{8C9A8234-F3FA-B33C-8100-42FFAC5CCB75}"/>
              </a:ext>
            </a:extLst>
          </p:cNvPr>
          <p:cNvSpPr txBox="1"/>
          <p:nvPr/>
        </p:nvSpPr>
        <p:spPr>
          <a:xfrm>
            <a:off x="1050817" y="1162050"/>
            <a:ext cx="16208483" cy="963930"/>
          </a:xfrm>
          <a:prstGeom prst="rect">
            <a:avLst/>
          </a:prstGeom>
        </p:spPr>
        <p:txBody>
          <a:bodyPr lIns="0" tIns="0" rIns="0" bIns="0" rtlCol="0" anchor="t">
            <a:spAutoFit/>
          </a:bodyPr>
          <a:lstStyle/>
          <a:p>
            <a:pPr marL="0" lvl="0" indent="0" algn="l">
              <a:lnSpc>
                <a:spcPts val="7200"/>
              </a:lnSpc>
            </a:pPr>
            <a:r>
              <a:rPr lang="en-US" sz="7200" b="1" spc="-72">
                <a:solidFill>
                  <a:srgbClr val="002217"/>
                </a:solidFill>
                <a:latin typeface="DM Sans Bold"/>
                <a:ea typeface="DM Sans Bold"/>
                <a:cs typeface="DM Sans Bold"/>
                <a:sym typeface="DM Sans Bold"/>
              </a:rPr>
              <a:t>What’s next?</a:t>
            </a:r>
          </a:p>
        </p:txBody>
      </p:sp>
      <p:grpSp>
        <p:nvGrpSpPr>
          <p:cNvPr id="11" name="Group 3">
            <a:extLst>
              <a:ext uri="{FF2B5EF4-FFF2-40B4-BE49-F238E27FC236}">
                <a16:creationId xmlns:a16="http://schemas.microsoft.com/office/drawing/2014/main" id="{861D1773-390A-391A-99DB-D978BDD392E2}"/>
              </a:ext>
            </a:extLst>
          </p:cNvPr>
          <p:cNvGrpSpPr/>
          <p:nvPr/>
        </p:nvGrpSpPr>
        <p:grpSpPr>
          <a:xfrm>
            <a:off x="1050817" y="2660333"/>
            <a:ext cx="16208483" cy="2459439"/>
            <a:chOff x="0" y="0"/>
            <a:chExt cx="21611311" cy="3279252"/>
          </a:xfrm>
        </p:grpSpPr>
        <p:sp>
          <p:nvSpPr>
            <p:cNvPr id="12" name="TextBox 4">
              <a:extLst>
                <a:ext uri="{FF2B5EF4-FFF2-40B4-BE49-F238E27FC236}">
                  <a16:creationId xmlns:a16="http://schemas.microsoft.com/office/drawing/2014/main" id="{495D5DCC-3AEB-AB4F-8E64-1232AE573269}"/>
                </a:ext>
              </a:extLst>
            </p:cNvPr>
            <p:cNvSpPr txBox="1"/>
            <p:nvPr/>
          </p:nvSpPr>
          <p:spPr>
            <a:xfrm>
              <a:off x="0" y="766555"/>
              <a:ext cx="21611311" cy="2512697"/>
            </a:xfrm>
            <a:prstGeom prst="rect">
              <a:avLst/>
            </a:prstGeom>
          </p:spPr>
          <p:txBody>
            <a:bodyPr lIns="0" tIns="0" rIns="0" bIns="0" rtlCol="0" anchor="t">
              <a:spAutoFit/>
            </a:bodyPr>
            <a:lstStyle/>
            <a:p>
              <a:pPr marL="550521" lvl="1" indent="-275260" algn="l">
                <a:lnSpc>
                  <a:spcPts val="3314"/>
                </a:lnSpc>
                <a:buFont typeface="Arial"/>
                <a:buChar char="•"/>
              </a:pPr>
              <a:r>
                <a:rPr lang="en-US" sz="2549">
                  <a:solidFill>
                    <a:srgbClr val="002217"/>
                  </a:solidFill>
                  <a:latin typeface="Canva Sans"/>
                  <a:ea typeface="Canva Sans"/>
                  <a:cs typeface="Canva Sans"/>
                  <a:sym typeface="Canva Sans"/>
                </a:rPr>
                <a:t>Goal: Complete user authentication/account system, and users’ accounts and databases in the cloud</a:t>
              </a:r>
            </a:p>
            <a:p>
              <a:pPr marL="550521" lvl="1" indent="-275260" algn="l">
                <a:lnSpc>
                  <a:spcPts val="5099"/>
                </a:lnSpc>
                <a:buFont typeface="Arial"/>
                <a:buChar char="•"/>
              </a:pPr>
              <a:r>
                <a:rPr lang="en-US" sz="2549">
                  <a:solidFill>
                    <a:srgbClr val="002217"/>
                  </a:solidFill>
                  <a:latin typeface="Canva Sans"/>
                  <a:ea typeface="Canva Sans"/>
                  <a:cs typeface="Canva Sans"/>
                  <a:sym typeface="Canva Sans"/>
                </a:rPr>
                <a:t>Expected Result #1: User’s authentication without any issues</a:t>
              </a:r>
            </a:p>
            <a:p>
              <a:pPr marL="550521" lvl="1" indent="-275260" algn="l">
                <a:lnSpc>
                  <a:spcPts val="3314"/>
                </a:lnSpc>
                <a:buFont typeface="Arial"/>
                <a:buChar char="•"/>
              </a:pPr>
              <a:r>
                <a:rPr lang="en-US" sz="2549">
                  <a:solidFill>
                    <a:srgbClr val="002217"/>
                  </a:solidFill>
                  <a:latin typeface="Canva Sans"/>
                  <a:ea typeface="Canva Sans"/>
                  <a:cs typeface="Canva Sans"/>
                  <a:sym typeface="Canva Sans"/>
                </a:rPr>
                <a:t>Expected Result #2: Once TWOS provides a travel plan for users, the plan should be stored in the database for users' next plan</a:t>
              </a:r>
            </a:p>
          </p:txBody>
        </p:sp>
        <p:sp>
          <p:nvSpPr>
            <p:cNvPr id="13" name="TextBox 5">
              <a:extLst>
                <a:ext uri="{FF2B5EF4-FFF2-40B4-BE49-F238E27FC236}">
                  <a16:creationId xmlns:a16="http://schemas.microsoft.com/office/drawing/2014/main" id="{73B4588D-89FF-0F26-DBE8-030683B126FC}"/>
                </a:ext>
              </a:extLst>
            </p:cNvPr>
            <p:cNvSpPr txBox="1"/>
            <p:nvPr/>
          </p:nvSpPr>
          <p:spPr>
            <a:xfrm>
              <a:off x="0" y="57150"/>
              <a:ext cx="10909441" cy="507577"/>
            </a:xfrm>
            <a:prstGeom prst="rect">
              <a:avLst/>
            </a:prstGeom>
          </p:spPr>
          <p:txBody>
            <a:bodyPr lIns="0" tIns="0" rIns="0" bIns="0" rtlCol="0" anchor="t">
              <a:spAutoFit/>
            </a:bodyPr>
            <a:lstStyle/>
            <a:p>
              <a:pPr marL="0" lvl="0" indent="0" algn="l">
                <a:lnSpc>
                  <a:spcPts val="2799"/>
                </a:lnSpc>
              </a:pPr>
              <a:r>
                <a:rPr lang="en-US" sz="2799" b="1">
                  <a:solidFill>
                    <a:srgbClr val="002217"/>
                  </a:solidFill>
                  <a:latin typeface="Canva Sans Bold"/>
                  <a:ea typeface="Canva Sans Bold"/>
                  <a:cs typeface="Canva Sans Bold"/>
                  <a:sym typeface="Canva Sans Bold"/>
                </a:rPr>
                <a:t>Connecting Frontend and Backend #2</a:t>
              </a:r>
            </a:p>
          </p:txBody>
        </p:sp>
      </p:grpSp>
      <p:grpSp>
        <p:nvGrpSpPr>
          <p:cNvPr id="14" name="Group 6">
            <a:extLst>
              <a:ext uri="{FF2B5EF4-FFF2-40B4-BE49-F238E27FC236}">
                <a16:creationId xmlns:a16="http://schemas.microsoft.com/office/drawing/2014/main" id="{88C3925F-4631-2468-DE59-8CB6487AB14A}"/>
              </a:ext>
            </a:extLst>
          </p:cNvPr>
          <p:cNvGrpSpPr/>
          <p:nvPr/>
        </p:nvGrpSpPr>
        <p:grpSpPr>
          <a:xfrm>
            <a:off x="1028700" y="5681694"/>
            <a:ext cx="16230600" cy="4164976"/>
            <a:chOff x="0" y="0"/>
            <a:chExt cx="21640800" cy="5553302"/>
          </a:xfrm>
        </p:grpSpPr>
        <p:sp>
          <p:nvSpPr>
            <p:cNvPr id="15" name="TextBox 7">
              <a:extLst>
                <a:ext uri="{FF2B5EF4-FFF2-40B4-BE49-F238E27FC236}">
                  <a16:creationId xmlns:a16="http://schemas.microsoft.com/office/drawing/2014/main" id="{B28664A8-8C6C-21BE-9CE0-1616ACF123EC}"/>
                </a:ext>
              </a:extLst>
            </p:cNvPr>
            <p:cNvSpPr txBox="1"/>
            <p:nvPr/>
          </p:nvSpPr>
          <p:spPr>
            <a:xfrm>
              <a:off x="0" y="602827"/>
              <a:ext cx="21640800" cy="4950475"/>
            </a:xfrm>
            <a:prstGeom prst="rect">
              <a:avLst/>
            </a:prstGeom>
          </p:spPr>
          <p:txBody>
            <a:bodyPr lIns="0" tIns="0" rIns="0" bIns="0" rtlCol="0" anchor="t">
              <a:spAutoFit/>
            </a:bodyPr>
            <a:lstStyle/>
            <a:p>
              <a:pPr marL="550521" lvl="1" indent="-275260" algn="l">
                <a:lnSpc>
                  <a:spcPts val="5099"/>
                </a:lnSpc>
                <a:buFont typeface="Arial"/>
                <a:buChar char="•"/>
              </a:pPr>
              <a:r>
                <a:rPr lang="en-US" sz="2549">
                  <a:solidFill>
                    <a:srgbClr val="002217"/>
                  </a:solidFill>
                  <a:latin typeface="Canva Sans"/>
                  <a:ea typeface="Canva Sans"/>
                  <a:cs typeface="Canva Sans"/>
                  <a:sym typeface="Canva Sans"/>
                </a:rPr>
                <a:t>Goal: Call APIs to get a list of options using information from the user and the LLM </a:t>
              </a:r>
            </a:p>
            <a:p>
              <a:pPr marL="550521" lvl="1" indent="-275260" algn="l">
                <a:lnSpc>
                  <a:spcPts val="5099"/>
                </a:lnSpc>
                <a:buFont typeface="Arial"/>
                <a:buChar char="•"/>
              </a:pPr>
              <a:r>
                <a:rPr lang="en-US" sz="2549">
                  <a:solidFill>
                    <a:srgbClr val="002217"/>
                  </a:solidFill>
                  <a:latin typeface="Canva Sans"/>
                  <a:ea typeface="Canva Sans"/>
                  <a:cs typeface="Canva Sans"/>
                  <a:sym typeface="Canva Sans"/>
                </a:rPr>
                <a:t>Expected Result #1: List of rental car options based on the user’s dates and destination city</a:t>
              </a:r>
            </a:p>
            <a:p>
              <a:pPr marL="550521" lvl="1" indent="-275260" algn="l">
                <a:lnSpc>
                  <a:spcPts val="5099"/>
                </a:lnSpc>
                <a:buFont typeface="Arial"/>
                <a:buChar char="•"/>
              </a:pPr>
              <a:r>
                <a:rPr lang="en-US" sz="2549">
                  <a:solidFill>
                    <a:srgbClr val="002217"/>
                  </a:solidFill>
                  <a:latin typeface="Canva Sans"/>
                  <a:ea typeface="Canva Sans"/>
                  <a:cs typeface="Canva Sans"/>
                  <a:sym typeface="Canva Sans"/>
                </a:rPr>
                <a:t>Expected Result #2: List of attractions based on the user’s destination. The attractions could be restaurants, local tours, etc.</a:t>
              </a:r>
            </a:p>
            <a:p>
              <a:pPr marL="550521" lvl="1" indent="-275260" algn="l">
                <a:lnSpc>
                  <a:spcPts val="5099"/>
                </a:lnSpc>
                <a:buFont typeface="Arial"/>
                <a:buChar char="•"/>
              </a:pPr>
              <a:r>
                <a:rPr lang="en-US" sz="2549">
                  <a:solidFill>
                    <a:srgbClr val="002217"/>
                  </a:solidFill>
                  <a:latin typeface="Canva Sans"/>
                  <a:ea typeface="Canva Sans"/>
                  <a:cs typeface="Canva Sans"/>
                  <a:sym typeface="Canva Sans"/>
                </a:rPr>
                <a:t>Optimise API requests and Database connection for low latency, scalability and availability using Redis or cron jobs.</a:t>
              </a:r>
            </a:p>
          </p:txBody>
        </p:sp>
        <p:sp>
          <p:nvSpPr>
            <p:cNvPr id="16" name="TextBox 8">
              <a:extLst>
                <a:ext uri="{FF2B5EF4-FFF2-40B4-BE49-F238E27FC236}">
                  <a16:creationId xmlns:a16="http://schemas.microsoft.com/office/drawing/2014/main" id="{239BFCCD-F8DB-06B3-6101-5B220D2713AA}"/>
                </a:ext>
              </a:extLst>
            </p:cNvPr>
            <p:cNvSpPr txBox="1"/>
            <p:nvPr/>
          </p:nvSpPr>
          <p:spPr>
            <a:xfrm>
              <a:off x="0" y="57150"/>
              <a:ext cx="21640800" cy="507577"/>
            </a:xfrm>
            <a:prstGeom prst="rect">
              <a:avLst/>
            </a:prstGeom>
          </p:spPr>
          <p:txBody>
            <a:bodyPr lIns="0" tIns="0" rIns="0" bIns="0" rtlCol="0" anchor="t">
              <a:spAutoFit/>
            </a:bodyPr>
            <a:lstStyle/>
            <a:p>
              <a:pPr marL="0" lvl="0" indent="0" algn="l">
                <a:lnSpc>
                  <a:spcPts val="2799"/>
                </a:lnSpc>
                <a:spcBef>
                  <a:spcPct val="0"/>
                </a:spcBef>
              </a:pPr>
              <a:r>
                <a:rPr lang="en-US" sz="2799" b="1">
                  <a:solidFill>
                    <a:srgbClr val="002217"/>
                  </a:solidFill>
                  <a:latin typeface="Canva Sans Bold"/>
                  <a:ea typeface="Canva Sans Bold"/>
                  <a:cs typeface="Canva Sans Bold"/>
                  <a:sym typeface="Canva Sans Bold"/>
                </a:rPr>
                <a:t>Complete APIs Connections (Rental Car, Attractions)</a:t>
              </a:r>
            </a:p>
          </p:txBody>
        </p:sp>
      </p:grpSp>
      <p:sp>
        <p:nvSpPr>
          <p:cNvPr id="17" name="TextBox 9">
            <a:extLst>
              <a:ext uri="{FF2B5EF4-FFF2-40B4-BE49-F238E27FC236}">
                <a16:creationId xmlns:a16="http://schemas.microsoft.com/office/drawing/2014/main" id="{5F144428-96E6-F4B3-833D-A7B557EAF09D}"/>
              </a:ext>
            </a:extLst>
          </p:cNvPr>
          <p:cNvSpPr txBox="1"/>
          <p:nvPr/>
        </p:nvSpPr>
        <p:spPr>
          <a:xfrm>
            <a:off x="12543304" y="9615962"/>
            <a:ext cx="4715996" cy="370206"/>
          </a:xfrm>
          <a:prstGeom prst="rect">
            <a:avLst/>
          </a:prstGeom>
        </p:spPr>
        <p:txBody>
          <a:bodyPr lIns="0" tIns="0" rIns="0" bIns="0" rtlCol="0" anchor="t">
            <a:spAutoFit/>
          </a:bodyPr>
          <a:lstStyle/>
          <a:p>
            <a:pPr algn="ctr">
              <a:lnSpc>
                <a:spcPts val="3054"/>
              </a:lnSpc>
              <a:spcBef>
                <a:spcPct val="0"/>
              </a:spcBef>
            </a:pPr>
            <a:r>
              <a:rPr lang="en-US" sz="2349">
                <a:solidFill>
                  <a:srgbClr val="002217"/>
                </a:solidFill>
                <a:latin typeface="Canva Sans"/>
                <a:ea typeface="Canva Sans"/>
                <a:cs typeface="Canva Sans"/>
                <a:sym typeface="Canva Sans"/>
              </a:rPr>
              <a:t>Created by Sangmin, Ayo, Umair</a:t>
            </a:r>
          </a:p>
        </p:txBody>
      </p:sp>
      <p:sp>
        <p:nvSpPr>
          <p:cNvPr id="18" name="Freeform 10">
            <a:extLst>
              <a:ext uri="{FF2B5EF4-FFF2-40B4-BE49-F238E27FC236}">
                <a16:creationId xmlns:a16="http://schemas.microsoft.com/office/drawing/2014/main" id="{5A5445F6-7335-7F23-69EE-A646F0DB4AFC}"/>
              </a:ext>
            </a:extLst>
          </p:cNvPr>
          <p:cNvSpPr/>
          <p:nvPr/>
        </p:nvSpPr>
        <p:spPr>
          <a:xfrm>
            <a:off x="15209049" y="390194"/>
            <a:ext cx="2050251" cy="2207963"/>
          </a:xfrm>
          <a:custGeom>
            <a:avLst/>
            <a:gdLst/>
            <a:ahLst/>
            <a:cxnLst/>
            <a:rect l="l" t="t" r="r" b="b"/>
            <a:pathLst>
              <a:path w="2050251" h="2207963">
                <a:moveTo>
                  <a:pt x="0" y="0"/>
                </a:moveTo>
                <a:lnTo>
                  <a:pt x="2050251" y="0"/>
                </a:lnTo>
                <a:lnTo>
                  <a:pt x="2050251" y="2207963"/>
                </a:lnTo>
                <a:lnTo>
                  <a:pt x="0" y="2207963"/>
                </a:lnTo>
                <a:lnTo>
                  <a:pt x="0" y="0"/>
                </a:lnTo>
                <a:close/>
              </a:path>
            </a:pathLst>
          </a:custGeom>
          <a:blipFill>
            <a:blip r:embed="rId3"/>
            <a:stretch>
              <a:fillRect l="-104548" t="-64936" r="-105941" b="-123375"/>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063551" y="6387987"/>
            <a:ext cx="2160899" cy="2327122"/>
          </a:xfrm>
          <a:custGeom>
            <a:avLst/>
            <a:gdLst/>
            <a:ahLst/>
            <a:cxnLst/>
            <a:rect l="l" t="t" r="r" b="b"/>
            <a:pathLst>
              <a:path w="2160899" h="2327122">
                <a:moveTo>
                  <a:pt x="0" y="0"/>
                </a:moveTo>
                <a:lnTo>
                  <a:pt x="2160898" y="0"/>
                </a:lnTo>
                <a:lnTo>
                  <a:pt x="2160898" y="2327122"/>
                </a:lnTo>
                <a:lnTo>
                  <a:pt x="0" y="2327122"/>
                </a:lnTo>
                <a:lnTo>
                  <a:pt x="0" y="0"/>
                </a:lnTo>
                <a:close/>
              </a:path>
            </a:pathLst>
          </a:custGeom>
          <a:blipFill>
            <a:blip r:embed="rId3"/>
            <a:stretch>
              <a:fillRect l="-104548" t="-64936" r="-105941" b="-123375"/>
            </a:stretch>
          </a:blipFill>
        </p:spPr>
      </p:sp>
      <p:grpSp>
        <p:nvGrpSpPr>
          <p:cNvPr id="3" name="Group 3"/>
          <p:cNvGrpSpPr/>
          <p:nvPr/>
        </p:nvGrpSpPr>
        <p:grpSpPr>
          <a:xfrm>
            <a:off x="2551286" y="2144127"/>
            <a:ext cx="13185428" cy="4787052"/>
            <a:chOff x="0" y="0"/>
            <a:chExt cx="17580570" cy="6382736"/>
          </a:xfrm>
        </p:grpSpPr>
        <p:sp>
          <p:nvSpPr>
            <p:cNvPr id="4" name="TextBox 4"/>
            <p:cNvSpPr txBox="1"/>
            <p:nvPr/>
          </p:nvSpPr>
          <p:spPr>
            <a:xfrm>
              <a:off x="0" y="400050"/>
              <a:ext cx="17580570" cy="5982686"/>
            </a:xfrm>
            <a:prstGeom prst="rect">
              <a:avLst/>
            </a:prstGeom>
          </p:spPr>
          <p:txBody>
            <a:bodyPr lIns="0" tIns="0" rIns="0" bIns="0" rtlCol="0" anchor="t">
              <a:spAutoFit/>
            </a:bodyPr>
            <a:lstStyle/>
            <a:p>
              <a:pPr algn="ctr">
                <a:lnSpc>
                  <a:spcPts val="17707"/>
                </a:lnSpc>
              </a:pPr>
              <a:r>
                <a:rPr lang="en-US" sz="18255" dirty="0">
                  <a:solidFill>
                    <a:srgbClr val="000000"/>
                  </a:solidFill>
                  <a:latin typeface="Distillery Strong"/>
                  <a:ea typeface="Distillery Strong"/>
                  <a:cs typeface="Distillery Strong"/>
                  <a:sym typeface="Distillery Strong"/>
                </a:rPr>
                <a:t>THANK YOU</a:t>
              </a:r>
            </a:p>
          </p:txBody>
        </p:sp>
        <p:sp>
          <p:nvSpPr>
            <p:cNvPr id="5" name="TextBox 5"/>
            <p:cNvSpPr txBox="1"/>
            <p:nvPr/>
          </p:nvSpPr>
          <p:spPr>
            <a:xfrm>
              <a:off x="5090449" y="3834941"/>
              <a:ext cx="7399672" cy="2187298"/>
            </a:xfrm>
            <a:prstGeom prst="rect">
              <a:avLst/>
            </a:prstGeom>
          </p:spPr>
          <p:txBody>
            <a:bodyPr lIns="0" tIns="0" rIns="0" bIns="0" rtlCol="0" anchor="t">
              <a:spAutoFit/>
            </a:bodyPr>
            <a:lstStyle/>
            <a:p>
              <a:pPr algn="ctr">
                <a:lnSpc>
                  <a:spcPts val="9035"/>
                </a:lnSpc>
              </a:pPr>
              <a:r>
                <a:rPr lang="en-US" sz="15059" dirty="0">
                  <a:solidFill>
                    <a:srgbClr val="000000"/>
                  </a:solidFill>
                  <a:latin typeface="Moontime"/>
                  <a:ea typeface="Moontime"/>
                  <a:cs typeface="Moontime"/>
                  <a:sym typeface="Moontime"/>
                </a:rPr>
                <a:t>twos</a:t>
              </a:r>
            </a:p>
          </p:txBody>
        </p:sp>
      </p:grpSp>
      <p:sp>
        <p:nvSpPr>
          <p:cNvPr id="6" name="TextBox 6"/>
          <p:cNvSpPr txBox="1"/>
          <p:nvPr/>
        </p:nvSpPr>
        <p:spPr>
          <a:xfrm>
            <a:off x="1101679" y="9615962"/>
            <a:ext cx="4877361" cy="370206"/>
          </a:xfrm>
          <a:prstGeom prst="rect">
            <a:avLst/>
          </a:prstGeom>
        </p:spPr>
        <p:txBody>
          <a:bodyPr lIns="0" tIns="0" rIns="0" bIns="0" rtlCol="0" anchor="t">
            <a:spAutoFit/>
          </a:bodyPr>
          <a:lstStyle/>
          <a:p>
            <a:pPr algn="l">
              <a:lnSpc>
                <a:spcPts val="3054"/>
              </a:lnSpc>
              <a:spcBef>
                <a:spcPct val="0"/>
              </a:spcBef>
            </a:pPr>
            <a:r>
              <a:rPr lang="en-US" sz="2349">
                <a:solidFill>
                  <a:srgbClr val="002217"/>
                </a:solidFill>
                <a:latin typeface="Canva Sans"/>
                <a:ea typeface="Canva Sans"/>
                <a:cs typeface="Canva Sans"/>
                <a:sym typeface="Canva Sans"/>
              </a:rPr>
              <a:t>Created by Umair, Sangmin, Ayo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anim calcmode="lin" valueType="num">
                                      <p:cBhvr>
                                        <p:cTn id="8" dur="200" fill="hold"/>
                                        <p:tgtEl>
                                          <p:spTgt spid="3"/>
                                        </p:tgtEl>
                                        <p:attrNameLst>
                                          <p:attrName>ppt_x</p:attrName>
                                        </p:attrNameLst>
                                      </p:cBhvr>
                                      <p:tavLst>
                                        <p:tav tm="0">
                                          <p:val>
                                            <p:strVal val="#ppt_x"/>
                                          </p:val>
                                        </p:tav>
                                        <p:tav tm="100000">
                                          <p:val>
                                            <p:strVal val="#ppt_x"/>
                                          </p:val>
                                        </p:tav>
                                      </p:tavLst>
                                    </p:anim>
                                    <p:anim calcmode="lin" valueType="num">
                                      <p:cBhvr>
                                        <p:cTn id="9" dur="2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2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00"/>
                                        <p:tgtEl>
                                          <p:spTgt spid="6"/>
                                        </p:tgtEl>
                                      </p:cBhvr>
                                    </p:animEffect>
                                    <p:anim calcmode="lin" valueType="num">
                                      <p:cBhvr>
                                        <p:cTn id="14" dur="200" fill="hold"/>
                                        <p:tgtEl>
                                          <p:spTgt spid="6"/>
                                        </p:tgtEl>
                                        <p:attrNameLst>
                                          <p:attrName>ppt_x</p:attrName>
                                        </p:attrNameLst>
                                      </p:cBhvr>
                                      <p:tavLst>
                                        <p:tav tm="0">
                                          <p:val>
                                            <p:strVal val="#ppt_x"/>
                                          </p:val>
                                        </p:tav>
                                        <p:tav tm="100000">
                                          <p:val>
                                            <p:strVal val="#ppt_x"/>
                                          </p:val>
                                        </p:tav>
                                      </p:tavLst>
                                    </p:anim>
                                    <p:anim calcmode="lin" valueType="num">
                                      <p:cBhvr>
                                        <p:cTn id="15" dur="2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TotalTime>
  <Words>1240</Words>
  <Application>Microsoft Macintosh PowerPoint</Application>
  <PresentationFormat>Custom</PresentationFormat>
  <Paragraphs>176</Paragraphs>
  <Slides>11</Slides>
  <Notes>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11</vt:i4>
      </vt:variant>
    </vt:vector>
  </HeadingPairs>
  <TitlesOfParts>
    <vt:vector size="24" baseType="lpstr">
      <vt:lpstr>Canva Sans</vt:lpstr>
      <vt:lpstr>Distillery Strong</vt:lpstr>
      <vt:lpstr>Agrandir</vt:lpstr>
      <vt:lpstr>Arial</vt:lpstr>
      <vt:lpstr>Canva Sans Italics</vt:lpstr>
      <vt:lpstr>DM Sans Bold</vt:lpstr>
      <vt:lpstr>Montserrat Bold</vt:lpstr>
      <vt:lpstr>Montserrat</vt:lpstr>
      <vt:lpstr>Canva Sans Medium</vt:lpstr>
      <vt:lpstr>Moontime</vt:lpstr>
      <vt:lpstr>Calibri</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Checkpoint_1</dc:title>
  <cp:lastModifiedBy>talkthetaste@outlook.com</cp:lastModifiedBy>
  <cp:revision>5</cp:revision>
  <dcterms:created xsi:type="dcterms:W3CDTF">2006-08-16T00:00:00Z</dcterms:created>
  <dcterms:modified xsi:type="dcterms:W3CDTF">2025-09-30T04:09:20Z</dcterms:modified>
  <dc:identifier>DAGycePR9JE</dc:identifier>
</cp:coreProperties>
</file>