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grandir" charset="1" panose="00000500000000000000"/>
      <p:regular r:id="rId20"/>
    </p:embeddedFon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3"/>
    </p:embeddedFont>
    <p:embeddedFont>
      <p:font typeface="Canva Sans Medium" charset="1" panose="020B0603030501040103"/>
      <p:regular r:id="rId24"/>
    </p:embeddedFont>
    <p:embeddedFont>
      <p:font typeface="DM Sans Bold" charset="1" panose="00000000000000000000"/>
      <p:regular r:id="rId25"/>
    </p:embeddedFont>
    <p:embeddedFont>
      <p:font typeface="Canva Sans Italics" charset="1" panose="020B0503030501040103"/>
      <p:regular r:id="rId26"/>
    </p:embeddedFont>
    <p:embeddedFont>
      <p:font typeface="Montserrat Bold" charset="1" panose="00000800000000000000"/>
      <p:regular r:id="rId30"/>
    </p:embeddedFont>
    <p:embeddedFont>
      <p:font typeface="Montserrat" charset="1" panose="00000500000000000000"/>
      <p:regular r:id="rId31"/>
    </p:embeddedFont>
    <p:embeddedFont>
      <p:font typeface="Distillery Strong" charset="1" panose="00000000000000000000"/>
      <p:regular r:id="rId34"/>
    </p:embeddedFont>
    <p:embeddedFont>
      <p:font typeface="Moontime" charset="1" panose="000000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Good Morning</a:t>
            </a:r>
          </a:p>
          <a:p>
            <a:r>
              <a:rPr lang="en-US"/>
              <a:t/>
            </a:r>
          </a:p>
          <a:p>
            <a:r>
              <a:rPr lang="en-US"/>
              <a:t>We are Team TWOS</a:t>
            </a:r>
          </a:p>
          <a:p>
            <a:r>
              <a:rPr lang="en-US"/>
              <a:t>Umair, Sangmin, and Ayo.</a:t>
            </a:r>
          </a:p>
          <a:p>
            <a:r>
              <a:rPr lang="en-US"/>
              <a:t/>
            </a:r>
          </a:p>
          <a:p>
            <a:r>
              <a:rPr lang="en-US"/>
              <a:t>Our project is AI-based Travel Companion</a:t>
            </a:r>
          </a:p>
          <a:p>
            <a:r>
              <a:rPr lang="en-US"/>
              <a:t>Travel Without Stress (TWOS).</a:t>
            </a:r>
          </a:p>
          <a:p>
            <a:r>
              <a:rPr lang="en-US"/>
              <a:t/>
            </a:r>
          </a:p>
          <a:p>
            <a:r>
              <a:rPr lang="en-US"/>
              <a:t>It’s an intelligent platform that plans your entire trip</a:t>
            </a:r>
          </a:p>
          <a:p>
            <a:r>
              <a:rPr lang="en-US"/>
              <a:t/>
            </a:r>
          </a:p>
          <a:p>
            <a:r>
              <a:rPr lang="en-US"/>
              <a:t>Flights, hotels, rentals, and attractions</a:t>
            </a:r>
          </a:p>
          <a:p>
            <a:r>
              <a:rPr lang="en-US"/>
              <a:t/>
            </a:r>
          </a:p>
          <a:p>
            <a:r>
              <a:rPr lang="en-US"/>
              <a:t>All in one chat.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Here are our references for the project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(Sangmin)</a:t>
            </a:r>
          </a:p>
          <a:p>
            <a:r>
              <a:rPr lang="en-US"/>
              <a:t>Thank you Umair,</a:t>
            </a:r>
          </a:p>
          <a:p>
            <a:r>
              <a:rPr lang="en-US"/>
              <a:t/>
            </a:r>
          </a:p>
          <a:p>
            <a:r>
              <a:rPr lang="en-US"/>
              <a:t>Here is our 2nd progress. </a:t>
            </a:r>
          </a:p>
          <a:p>
            <a:r>
              <a:rPr lang="en-US"/>
              <a:t>The FastAPI services for APIs are built. Currently, we successfully get data for flights and hotels based on the user's input.</a:t>
            </a:r>
          </a:p>
          <a:p>
            <a:r>
              <a:rPr lang="en-US"/>
              <a:t/>
            </a:r>
          </a:p>
          <a:p>
            <a:r>
              <a:rPr lang="en-US"/>
              <a:t>I don't have screenshots here, but because of these services, our NLP has also improved. Now, it parses the users' natural language and makes API calls using parsed data at once.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And this is our progress #4</a:t>
            </a:r>
          </a:p>
          <a:p>
            <a:r>
              <a:rPr lang="en-US"/>
              <a:t/>
            </a:r>
          </a:p>
          <a:p>
            <a:r>
              <a:rPr lang="en-US"/>
              <a:t>Finally, we succeeded in deploying the service in the IBM LinuxOne Cloud.</a:t>
            </a:r>
          </a:p>
          <a:p>
            <a:r>
              <a:rPr lang="en-US"/>
              <a:t/>
            </a:r>
          </a:p>
          <a:p>
            <a:r>
              <a:rPr lang="en-US"/>
              <a:t>The issue was for some reason "ufw" command didn't work, but LinuxOne support team advice us to use "iptables" to override it and it worked.</a:t>
            </a:r>
          </a:p>
          <a:p>
            <a:r>
              <a:rPr lang="en-US"/>
              <a:t/>
            </a:r>
          </a:p>
          <a:p>
            <a:r>
              <a:rPr lang="en-US"/>
              <a:t>Now, we can access to our endpoints from local browser which is good start.</a:t>
            </a:r>
          </a:p>
          <a:p>
            <a:r>
              <a:rPr lang="en-US"/>
              <a:t/>
            </a:r>
          </a:p>
          <a:p>
            <a:r>
              <a:rPr lang="en-US"/>
              <a:t>Now, let me pass to the Ayo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(Anyone)</a:t>
            </a:r>
          </a:p>
          <a:p>
            <a:r>
              <a:rPr lang="en-US"/>
              <a:t>Ok, here is our timeline</a:t>
            </a:r>
          </a:p>
          <a:p>
            <a:r>
              <a:rPr lang="en-US"/>
              <a:t/>
            </a:r>
          </a:p>
          <a:p>
            <a:r>
              <a:rPr lang="en-US"/>
              <a:t>We are a little ahead of our plans. We already worked on Flights &amp; Hotels APIs, and are working. We are planning to push ourselves more to implement rentals and attractions integrations.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(Sangmin)</a:t>
            </a:r>
          </a:p>
          <a:p>
            <a:r>
              <a:rPr lang="en-US"/>
              <a:t>Here are our goals for the next two weeks.</a:t>
            </a:r>
          </a:p>
          <a:p>
            <a:r>
              <a:rPr lang="en-US"/>
              <a:t/>
            </a:r>
          </a:p>
          <a:p>
            <a:r>
              <a:rPr lang="en-US"/>
              <a:t>Our next goal is to complete a user authentication system working with a database, and save the user's travel plan to the database for the user's next plan.</a:t>
            </a:r>
          </a:p>
          <a:p>
            <a:r>
              <a:rPr lang="en-US"/>
              <a:t/>
            </a:r>
          </a:p>
          <a:p>
            <a:r>
              <a:rPr lang="en-US"/>
              <a:t>Second, we will keep working on the Rental car and the finding attractions APIs part. After that, we still start optimizing API requests and DB connections for the best user experiences.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(Umair!) </a:t>
            </a:r>
          </a:p>
          <a:p>
            <a:r>
              <a:rPr lang="en-US"/>
              <a:t/>
            </a:r>
          </a:p>
          <a:p>
            <a:r>
              <a:rPr lang="en-US"/>
              <a:t>Thank you for your attention.</a:t>
            </a:r>
          </a:p>
          <a:p>
            <a:r>
              <a:rPr lang="en-US"/>
              <a:t/>
            </a:r>
          </a:p>
          <a:p>
            <a:r>
              <a:rPr lang="en-US"/>
              <a:t>We’re excited to present TWOS, a smarter way to travel.</a:t>
            </a:r>
          </a:p>
          <a:p>
            <a:r>
              <a:rPr lang="en-US"/>
              <a:t/>
            </a:r>
          </a:p>
          <a:p>
            <a:r>
              <a:rPr lang="en-US"/>
              <a:t>We’ll now open the floor for any questions.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94301" y="0"/>
            <a:ext cx="2102201" cy="10287000"/>
            <a:chOff x="0" y="0"/>
            <a:chExt cx="217946" cy="1066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946" cy="1066506"/>
            </a:xfrm>
            <a:custGeom>
              <a:avLst/>
              <a:gdLst/>
              <a:ahLst/>
              <a:cxnLst/>
              <a:rect r="r" b="b" t="t" l="l"/>
              <a:pathLst>
                <a:path h="1066506" w="217946">
                  <a:moveTo>
                    <a:pt x="0" y="0"/>
                  </a:moveTo>
                  <a:lnTo>
                    <a:pt x="217946" y="0"/>
                  </a:lnTo>
                  <a:lnTo>
                    <a:pt x="217946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3"/>
              <a:stretch>
                <a:fillRect l="-317237" t="0" r="-3172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96501" y="0"/>
            <a:ext cx="2102201" cy="10287000"/>
            <a:chOff x="0" y="0"/>
            <a:chExt cx="217946" cy="10665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946" cy="1066506"/>
            </a:xfrm>
            <a:custGeom>
              <a:avLst/>
              <a:gdLst/>
              <a:ahLst/>
              <a:cxnLst/>
              <a:rect r="r" b="b" t="t" l="l"/>
              <a:pathLst>
                <a:path h="1066506" w="217946">
                  <a:moveTo>
                    <a:pt x="0" y="0"/>
                  </a:moveTo>
                  <a:lnTo>
                    <a:pt x="217946" y="0"/>
                  </a:lnTo>
                  <a:lnTo>
                    <a:pt x="217946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4"/>
              <a:stretch>
                <a:fillRect l="-316674" t="0" r="-31667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98702" y="0"/>
            <a:ext cx="2102201" cy="10287000"/>
            <a:chOff x="0" y="0"/>
            <a:chExt cx="217946" cy="1066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946" cy="1066506"/>
            </a:xfrm>
            <a:custGeom>
              <a:avLst/>
              <a:gdLst/>
              <a:ahLst/>
              <a:cxnLst/>
              <a:rect r="r" b="b" t="t" l="l"/>
              <a:pathLst>
                <a:path h="1066506" w="217946">
                  <a:moveTo>
                    <a:pt x="0" y="0"/>
                  </a:moveTo>
                  <a:lnTo>
                    <a:pt x="217946" y="0"/>
                  </a:lnTo>
                  <a:lnTo>
                    <a:pt x="217946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5"/>
              <a:stretch>
                <a:fillRect l="-317237" t="0" r="-31723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08200" y="0"/>
            <a:ext cx="2102201" cy="10287000"/>
            <a:chOff x="0" y="0"/>
            <a:chExt cx="217946" cy="1066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946" cy="1066506"/>
            </a:xfrm>
            <a:custGeom>
              <a:avLst/>
              <a:gdLst/>
              <a:ahLst/>
              <a:cxnLst/>
              <a:rect r="r" b="b" t="t" l="l"/>
              <a:pathLst>
                <a:path h="1066506" w="217946">
                  <a:moveTo>
                    <a:pt x="0" y="0"/>
                  </a:moveTo>
                  <a:lnTo>
                    <a:pt x="217946" y="0"/>
                  </a:lnTo>
                  <a:lnTo>
                    <a:pt x="217946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6"/>
              <a:stretch>
                <a:fillRect l="-317237" t="0" r="-317237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314025" y="1576669"/>
            <a:ext cx="1475251" cy="1588732"/>
          </a:xfrm>
          <a:custGeom>
            <a:avLst/>
            <a:gdLst/>
            <a:ahLst/>
            <a:cxnLst/>
            <a:rect r="r" b="b" t="t" l="l"/>
            <a:pathLst>
              <a:path h="1588732" w="1475251">
                <a:moveTo>
                  <a:pt x="0" y="0"/>
                </a:moveTo>
                <a:lnTo>
                  <a:pt x="1475251" y="0"/>
                </a:lnTo>
                <a:lnTo>
                  <a:pt x="1475251" y="1588732"/>
                </a:lnTo>
                <a:lnTo>
                  <a:pt x="0" y="15887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4548" t="-64936" r="-105941" b="-12337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309107"/>
            <a:ext cx="6760576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2"/>
              </a:lnSpc>
            </a:pPr>
            <a:r>
              <a:rPr lang="en-US" sz="3477">
                <a:solidFill>
                  <a:srgbClr val="314528"/>
                </a:solidFill>
                <a:latin typeface="Agrandir"/>
                <a:ea typeface="Agrandir"/>
                <a:cs typeface="Agrandir"/>
                <a:sym typeface="Agrandir"/>
              </a:rPr>
              <a:t>Capstone Project: Checkpoint 3</a:t>
            </a:r>
          </a:p>
          <a:p>
            <a:pPr algn="l" marL="0" indent="0" lvl="0">
              <a:lnSpc>
                <a:spcPts val="4172"/>
              </a:lnSpc>
            </a:pPr>
          </a:p>
          <a:p>
            <a:pPr algn="l" marL="0" indent="0" lvl="0">
              <a:lnSpc>
                <a:spcPts val="4172"/>
              </a:lnSpc>
            </a:pPr>
            <a:r>
              <a:rPr lang="en-US" sz="3477">
                <a:solidFill>
                  <a:srgbClr val="314528"/>
                </a:solidFill>
                <a:latin typeface="Agrandir"/>
                <a:ea typeface="Agrandir"/>
                <a:cs typeface="Agrandir"/>
                <a:sym typeface="Agrandir"/>
              </a:rPr>
              <a:t>Umair, Sangmin, Ayo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1576669"/>
            <a:ext cx="8421199" cy="3477242"/>
            <a:chOff x="0" y="0"/>
            <a:chExt cx="11228265" cy="463632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3597250"/>
              <a:ext cx="11228265" cy="1039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00"/>
                </a:lnSpc>
              </a:pPr>
              <a:r>
                <a:rPr lang="en-US" sz="4900" spc="-49">
                  <a:solidFill>
                    <a:srgbClr val="314528"/>
                  </a:solidFill>
                  <a:latin typeface="Agrandir"/>
                  <a:ea typeface="Agrandir"/>
                  <a:cs typeface="Agrandir"/>
                  <a:sym typeface="Agrandir"/>
                </a:rPr>
                <a:t>Checkpoint 3 (Week 10-11)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11228265" cy="2722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9"/>
                </a:lnSpc>
              </a:pPr>
              <a:r>
                <a:rPr lang="en-US" sz="12899" spc="-128">
                  <a:solidFill>
                    <a:srgbClr val="34EBFD"/>
                  </a:solidFill>
                  <a:latin typeface="Agrandir"/>
                  <a:ea typeface="Agrandir"/>
                  <a:cs typeface="Agrandir"/>
                  <a:sym typeface="Agrandir"/>
                </a:rPr>
                <a:t>TWOS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560930"/>
              <a:ext cx="11228265" cy="110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923304" y="9485334"/>
            <a:ext cx="4715996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Sangmin, Ayo, Umair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910541"/>
            <a:ext cx="16230600" cy="7347759"/>
            <a:chOff x="0" y="0"/>
            <a:chExt cx="5490351" cy="2485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0351" cy="2485538"/>
            </a:xfrm>
            <a:custGeom>
              <a:avLst/>
              <a:gdLst/>
              <a:ahLst/>
              <a:cxnLst/>
              <a:rect r="r" b="b" t="t" l="l"/>
              <a:pathLst>
                <a:path h="2485538" w="5490351">
                  <a:moveTo>
                    <a:pt x="0" y="0"/>
                  </a:moveTo>
                  <a:lnTo>
                    <a:pt x="5490351" y="0"/>
                  </a:lnTo>
                  <a:lnTo>
                    <a:pt x="5490351" y="2485538"/>
                  </a:lnTo>
                  <a:lnTo>
                    <a:pt x="0" y="2485538"/>
                  </a:lnTo>
                  <a:close/>
                </a:path>
              </a:pathLst>
            </a:custGeom>
            <a:solidFill>
              <a:srgbClr val="E3E8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76325"/>
            <a:ext cx="162306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9"/>
              </a:lnSpc>
              <a:spcBef>
                <a:spcPct val="0"/>
              </a:spcBef>
            </a:pPr>
            <a:r>
              <a:rPr lang="en-US" b="true" sz="4499" spc="-44" u="none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6616" y="2168755"/>
            <a:ext cx="15675719" cy="676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39"/>
              </a:lnSpc>
              <a:buAutoNum type="arabicPeriod" startAt="1"/>
            </a:pPr>
            <a:r>
              <a:rPr lang="en-US" b="true" sz="2399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Booking.com Demand API. (2025). Booking.com. https://developers.booking.com/demand/docs/open-api/demand-api</a:t>
            </a:r>
          </a:p>
          <a:p>
            <a:pPr algn="l" marL="518158" indent="-259079" lvl="1">
              <a:lnSpc>
                <a:spcPts val="3839"/>
              </a:lnSpc>
              <a:buAutoNum type="arabicPeriod" startAt="1"/>
            </a:pPr>
            <a:r>
              <a:rPr lang="en-US" b="true" sz="2399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Connect to Amadeus travel APIs | Amadeus for Developers. (n.d.). Amadeus IT Group SA. https://developers.amadeus.com/self-service</a:t>
            </a:r>
          </a:p>
          <a:p>
            <a:pPr algn="l" marL="518158" indent="-259079" lvl="1">
              <a:lnSpc>
                <a:spcPts val="3839"/>
              </a:lnSpc>
              <a:buAutoNum type="arabicPeriod" startAt="1"/>
            </a:pPr>
            <a:r>
              <a:rPr lang="en-US" b="true" sz="2399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Flights - Expedia Group Developer Hub. (2025). Expediagroup.com. https://developers.expediagroup.com/rapid/flights#step-1---search-available-flight-offers</a:t>
            </a:r>
          </a:p>
          <a:p>
            <a:pPr algn="l" marL="518158" indent="-259079" lvl="1">
              <a:lnSpc>
                <a:spcPts val="3839"/>
              </a:lnSpc>
              <a:buAutoNum type="arabicPeriod" startAt="1"/>
            </a:pPr>
            <a:r>
              <a:rPr lang="en-US" b="true" sz="2399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https://dev.to/gbengelebs/netflix-system-design-backend-architecture-10i3</a:t>
            </a:r>
          </a:p>
          <a:p>
            <a:pPr algn="l" marL="518158" indent="-259079" lvl="1">
              <a:lnSpc>
                <a:spcPts val="3839"/>
              </a:lnSpc>
              <a:buAutoNum type="arabicPeriod" startAt="1"/>
            </a:pPr>
            <a:r>
              <a:rPr lang="en-US" b="true" sz="2399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Swagger-Api. (n.d.). GitHub - swagger-api/swagger-ui: Swagger UI is a collection of HTML, JavaScript, and CSS assets that dynamically generate beautiful documentation from a Swagger-compliant API. GitHub. https://github.com/swagger-api/swagger-ui</a:t>
            </a:r>
          </a:p>
          <a:p>
            <a:pPr algn="l" marL="518158" indent="-259079" lvl="1">
              <a:lnSpc>
                <a:spcPts val="3839"/>
              </a:lnSpc>
              <a:buAutoNum type="arabicPeriod" startAt="1"/>
            </a:pPr>
            <a:r>
              <a:rPr lang="en-US" b="true" sz="2399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 PostgreSQL Global Development Group. (2025). PostgreSQL: Documentation. Www.postgresql.org. https://www.postgresql.org/docs/</a:t>
            </a:r>
          </a:p>
          <a:p>
            <a:pPr algn="l" marL="518158" indent="-259079" lvl="1">
              <a:lnSpc>
                <a:spcPts val="3839"/>
              </a:lnSpc>
              <a:buAutoNum type="arabicPeriod" startAt="1"/>
            </a:pPr>
            <a:r>
              <a:rPr lang="en-US" b="true" sz="2399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Welcome to the Tiqets Distributor API | Tiqets for developers. (2025, September 5). Tiqets.dev. https://developers.tiqets.dev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43304" y="9615962"/>
            <a:ext cx="4715996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Umair, Sangmin, Ayo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2934" y="2474125"/>
            <a:ext cx="5023379" cy="7336465"/>
            <a:chOff x="0" y="0"/>
            <a:chExt cx="1323030" cy="19322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3030" cy="1932238"/>
            </a:xfrm>
            <a:custGeom>
              <a:avLst/>
              <a:gdLst/>
              <a:ahLst/>
              <a:cxnLst/>
              <a:rect r="r" b="b" t="t" l="l"/>
              <a:pathLst>
                <a:path h="1932238" w="1323030">
                  <a:moveTo>
                    <a:pt x="24659" y="0"/>
                  </a:moveTo>
                  <a:lnTo>
                    <a:pt x="1298371" y="0"/>
                  </a:lnTo>
                  <a:cubicBezTo>
                    <a:pt x="1304911" y="0"/>
                    <a:pt x="1311183" y="2598"/>
                    <a:pt x="1315807" y="7222"/>
                  </a:cubicBezTo>
                  <a:cubicBezTo>
                    <a:pt x="1320432" y="11847"/>
                    <a:pt x="1323030" y="18119"/>
                    <a:pt x="1323030" y="24659"/>
                  </a:cubicBezTo>
                  <a:lnTo>
                    <a:pt x="1323030" y="1907579"/>
                  </a:lnTo>
                  <a:cubicBezTo>
                    <a:pt x="1323030" y="1914119"/>
                    <a:pt x="1320432" y="1920391"/>
                    <a:pt x="1315807" y="1925015"/>
                  </a:cubicBezTo>
                  <a:cubicBezTo>
                    <a:pt x="1311183" y="1929640"/>
                    <a:pt x="1304911" y="1932238"/>
                    <a:pt x="1298371" y="1932238"/>
                  </a:cubicBezTo>
                  <a:lnTo>
                    <a:pt x="24659" y="1932238"/>
                  </a:lnTo>
                  <a:cubicBezTo>
                    <a:pt x="18119" y="1932238"/>
                    <a:pt x="11847" y="1929640"/>
                    <a:pt x="7222" y="1925015"/>
                  </a:cubicBezTo>
                  <a:cubicBezTo>
                    <a:pt x="2598" y="1920391"/>
                    <a:pt x="0" y="1914119"/>
                    <a:pt x="0" y="1907579"/>
                  </a:cubicBezTo>
                  <a:lnTo>
                    <a:pt x="0" y="24659"/>
                  </a:lnTo>
                  <a:cubicBezTo>
                    <a:pt x="0" y="18119"/>
                    <a:pt x="2598" y="11847"/>
                    <a:pt x="7222" y="7222"/>
                  </a:cubicBezTo>
                  <a:cubicBezTo>
                    <a:pt x="11847" y="2598"/>
                    <a:pt x="18119" y="0"/>
                    <a:pt x="24659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23030" cy="1960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50817" y="1162050"/>
            <a:ext cx="1620848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7200" spc="-72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Roles for </a:t>
            </a:r>
            <a:r>
              <a:rPr lang="en-US" b="true" sz="7200" spc="-72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Team Members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32533" y="2474125"/>
            <a:ext cx="5023379" cy="7336465"/>
            <a:chOff x="0" y="0"/>
            <a:chExt cx="1323030" cy="1932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3030" cy="1932238"/>
            </a:xfrm>
            <a:custGeom>
              <a:avLst/>
              <a:gdLst/>
              <a:ahLst/>
              <a:cxnLst/>
              <a:rect r="r" b="b" t="t" l="l"/>
              <a:pathLst>
                <a:path h="1932238" w="1323030">
                  <a:moveTo>
                    <a:pt x="24659" y="0"/>
                  </a:moveTo>
                  <a:lnTo>
                    <a:pt x="1298371" y="0"/>
                  </a:lnTo>
                  <a:cubicBezTo>
                    <a:pt x="1304911" y="0"/>
                    <a:pt x="1311183" y="2598"/>
                    <a:pt x="1315807" y="7222"/>
                  </a:cubicBezTo>
                  <a:cubicBezTo>
                    <a:pt x="1320432" y="11847"/>
                    <a:pt x="1323030" y="18119"/>
                    <a:pt x="1323030" y="24659"/>
                  </a:cubicBezTo>
                  <a:lnTo>
                    <a:pt x="1323030" y="1907579"/>
                  </a:lnTo>
                  <a:cubicBezTo>
                    <a:pt x="1323030" y="1914119"/>
                    <a:pt x="1320432" y="1920391"/>
                    <a:pt x="1315807" y="1925015"/>
                  </a:cubicBezTo>
                  <a:cubicBezTo>
                    <a:pt x="1311183" y="1929640"/>
                    <a:pt x="1304911" y="1932238"/>
                    <a:pt x="1298371" y="1932238"/>
                  </a:cubicBezTo>
                  <a:lnTo>
                    <a:pt x="24659" y="1932238"/>
                  </a:lnTo>
                  <a:cubicBezTo>
                    <a:pt x="18119" y="1932238"/>
                    <a:pt x="11847" y="1929640"/>
                    <a:pt x="7222" y="1925015"/>
                  </a:cubicBezTo>
                  <a:cubicBezTo>
                    <a:pt x="2598" y="1920391"/>
                    <a:pt x="0" y="1914119"/>
                    <a:pt x="0" y="1907579"/>
                  </a:cubicBezTo>
                  <a:lnTo>
                    <a:pt x="0" y="24659"/>
                  </a:lnTo>
                  <a:cubicBezTo>
                    <a:pt x="0" y="18119"/>
                    <a:pt x="2598" y="11847"/>
                    <a:pt x="7222" y="7222"/>
                  </a:cubicBezTo>
                  <a:cubicBezTo>
                    <a:pt x="11847" y="2598"/>
                    <a:pt x="18119" y="0"/>
                    <a:pt x="24659" y="0"/>
                  </a:cubicBezTo>
                  <a:close/>
                </a:path>
              </a:pathLst>
            </a:custGeom>
            <a:solidFill>
              <a:srgbClr val="10141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323030" cy="1960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41687" y="2474125"/>
            <a:ext cx="5023379" cy="7336465"/>
            <a:chOff x="0" y="0"/>
            <a:chExt cx="1323030" cy="19322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3030" cy="1932238"/>
            </a:xfrm>
            <a:custGeom>
              <a:avLst/>
              <a:gdLst/>
              <a:ahLst/>
              <a:cxnLst/>
              <a:rect r="r" b="b" t="t" l="l"/>
              <a:pathLst>
                <a:path h="1932238" w="1323030">
                  <a:moveTo>
                    <a:pt x="24659" y="0"/>
                  </a:moveTo>
                  <a:lnTo>
                    <a:pt x="1298371" y="0"/>
                  </a:lnTo>
                  <a:cubicBezTo>
                    <a:pt x="1304911" y="0"/>
                    <a:pt x="1311183" y="2598"/>
                    <a:pt x="1315807" y="7222"/>
                  </a:cubicBezTo>
                  <a:cubicBezTo>
                    <a:pt x="1320432" y="11847"/>
                    <a:pt x="1323030" y="18119"/>
                    <a:pt x="1323030" y="24659"/>
                  </a:cubicBezTo>
                  <a:lnTo>
                    <a:pt x="1323030" y="1907579"/>
                  </a:lnTo>
                  <a:cubicBezTo>
                    <a:pt x="1323030" y="1914119"/>
                    <a:pt x="1320432" y="1920391"/>
                    <a:pt x="1315807" y="1925015"/>
                  </a:cubicBezTo>
                  <a:cubicBezTo>
                    <a:pt x="1311183" y="1929640"/>
                    <a:pt x="1304911" y="1932238"/>
                    <a:pt x="1298371" y="1932238"/>
                  </a:cubicBezTo>
                  <a:lnTo>
                    <a:pt x="24659" y="1932238"/>
                  </a:lnTo>
                  <a:cubicBezTo>
                    <a:pt x="18119" y="1932238"/>
                    <a:pt x="11847" y="1929640"/>
                    <a:pt x="7222" y="1925015"/>
                  </a:cubicBezTo>
                  <a:cubicBezTo>
                    <a:pt x="2598" y="1920391"/>
                    <a:pt x="0" y="1914119"/>
                    <a:pt x="0" y="1907579"/>
                  </a:cubicBezTo>
                  <a:lnTo>
                    <a:pt x="0" y="24659"/>
                  </a:lnTo>
                  <a:cubicBezTo>
                    <a:pt x="0" y="18119"/>
                    <a:pt x="2598" y="11847"/>
                    <a:pt x="7222" y="7222"/>
                  </a:cubicBezTo>
                  <a:cubicBezTo>
                    <a:pt x="11847" y="2598"/>
                    <a:pt x="18119" y="0"/>
                    <a:pt x="24659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323030" cy="1960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4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473949" y="2592695"/>
            <a:ext cx="3362218" cy="3362204"/>
            <a:chOff x="0" y="0"/>
            <a:chExt cx="6350025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955865" y="2592695"/>
            <a:ext cx="3362218" cy="3362204"/>
            <a:chOff x="0" y="0"/>
            <a:chExt cx="6350025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3"/>
              <a:stretch>
                <a:fillRect l="-1149" t="0" r="-1149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970362" y="2592695"/>
            <a:ext cx="3362218" cy="3362204"/>
            <a:chOff x="0" y="0"/>
            <a:chExt cx="6350025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48000">
              <a:off x="-44020" y="-44021"/>
              <a:ext cx="6438066" cy="6438041"/>
            </a:xfrm>
            <a:custGeom>
              <a:avLst/>
              <a:gdLst/>
              <a:ahLst/>
              <a:cxnLst/>
              <a:rect r="r" b="b" t="t" l="l"/>
              <a:pathLst>
                <a:path h="6438041" w="6438066">
                  <a:moveTo>
                    <a:pt x="0" y="88661"/>
                  </a:moveTo>
                  <a:lnTo>
                    <a:pt x="6349406" y="0"/>
                  </a:lnTo>
                  <a:lnTo>
                    <a:pt x="6438066" y="6349381"/>
                  </a:lnTo>
                  <a:lnTo>
                    <a:pt x="88659" y="6438042"/>
                  </a:lnTo>
                  <a:close/>
                </a:path>
              </a:pathLst>
            </a:custGeom>
            <a:blipFill>
              <a:blip r:embed="rId4"/>
              <a:stretch>
                <a:fillRect l="0" t="0" r="-3971" b="-5563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40544" y="6113783"/>
            <a:ext cx="4806911" cy="355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true">
                <a:solidFill>
                  <a:srgbClr val="ADE4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Umair Dada</a:t>
            </a:r>
          </a:p>
          <a:p>
            <a:pPr algn="ctr">
              <a:lnSpc>
                <a:spcPts val="1950"/>
              </a:lnSpc>
              <a:spcBef>
                <a:spcPct val="0"/>
              </a:spcBef>
            </a:pPr>
          </a:p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949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React Native Specialist, Node.js, Express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</a:p>
          <a:p>
            <a:pPr algn="l">
              <a:lnSpc>
                <a:spcPts val="2664"/>
              </a:lnSpc>
              <a:spcBef>
                <a:spcPct val="0"/>
              </a:spcBef>
            </a:pPr>
            <a:r>
              <a:rPr lang="en-US" b="true" sz="2049">
                <a:solidFill>
                  <a:srgbClr val="ADE4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Responsibilities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Lead team &amp; milestones</a:t>
            </a: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 React Native app</a:t>
            </a: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Manage Node.js gateway</a:t>
            </a: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Handle testing &amp; demo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3144" y="6113783"/>
            <a:ext cx="4818839" cy="355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true">
                <a:solidFill>
                  <a:srgbClr val="3145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Sangmin Lee</a:t>
            </a:r>
          </a:p>
          <a:p>
            <a:pPr algn="ctr">
              <a:lnSpc>
                <a:spcPts val="1950"/>
              </a:lnSpc>
              <a:spcBef>
                <a:spcPct val="0"/>
              </a:spcBef>
            </a:pPr>
          </a:p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949" i="true">
                <a:solidFill>
                  <a:srgbClr val="002217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Python, JS, Docker, Kubernetes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</a:p>
          <a:p>
            <a:pPr algn="l">
              <a:lnSpc>
                <a:spcPts val="2664"/>
              </a:lnSpc>
              <a:spcBef>
                <a:spcPct val="0"/>
              </a:spcBef>
            </a:pPr>
            <a:r>
              <a:rPr lang="en-US" b="true" sz="2049">
                <a:solidFill>
                  <a:srgbClr val="3145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Responsibilities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Build N</a:t>
            </a: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LU clarifier logic</a:t>
            </a: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Track and maintain slot-filling states</a:t>
            </a: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Optimize options based on rank/score</a:t>
            </a: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 an explanation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49921" y="6113783"/>
            <a:ext cx="4806911" cy="355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true">
                <a:solidFill>
                  <a:srgbClr val="3145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Ayomika Ajibade</a:t>
            </a:r>
          </a:p>
          <a:p>
            <a:pPr algn="ctr">
              <a:lnSpc>
                <a:spcPts val="1950"/>
              </a:lnSpc>
              <a:spcBef>
                <a:spcPct val="0"/>
              </a:spcBef>
            </a:pPr>
          </a:p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949" i="true">
                <a:solidFill>
                  <a:srgbClr val="002217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FastAPI, Database &amp; API Design, Cloud Integration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</a:p>
          <a:p>
            <a:pPr algn="l">
              <a:lnSpc>
                <a:spcPts val="2664"/>
              </a:lnSpc>
              <a:spcBef>
                <a:spcPct val="0"/>
              </a:spcBef>
            </a:pPr>
            <a:r>
              <a:rPr lang="en-US" b="true" sz="2049">
                <a:solidFill>
                  <a:srgbClr val="3145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Responsibilities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esign API schema</a:t>
            </a: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 databases for local &amp; prod</a:t>
            </a:r>
          </a:p>
          <a:p>
            <a:pPr algn="l" marL="420984" indent="-210492" lvl="1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Integrate and scale Al solutions for the mobile app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72004" y="9782015"/>
            <a:ext cx="4715996" cy="31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Umair, Sangmin, Ayo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706581" y="6182350"/>
            <a:ext cx="313410" cy="337519"/>
          </a:xfrm>
          <a:custGeom>
            <a:avLst/>
            <a:gdLst/>
            <a:ahLst/>
            <a:cxnLst/>
            <a:rect r="r" b="b" t="t" l="l"/>
            <a:pathLst>
              <a:path h="337519" w="313410">
                <a:moveTo>
                  <a:pt x="0" y="0"/>
                </a:moveTo>
                <a:lnTo>
                  <a:pt x="313410" y="0"/>
                </a:lnTo>
                <a:lnTo>
                  <a:pt x="313410" y="337519"/>
                </a:lnTo>
                <a:lnTo>
                  <a:pt x="0" y="337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548" t="-64936" r="-105941" b="-12337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90022" y="6182350"/>
            <a:ext cx="313410" cy="337519"/>
          </a:xfrm>
          <a:custGeom>
            <a:avLst/>
            <a:gdLst/>
            <a:ahLst/>
            <a:cxnLst/>
            <a:rect r="r" b="b" t="t" l="l"/>
            <a:pathLst>
              <a:path h="337519" w="313410">
                <a:moveTo>
                  <a:pt x="0" y="0"/>
                </a:moveTo>
                <a:lnTo>
                  <a:pt x="313411" y="0"/>
                </a:lnTo>
                <a:lnTo>
                  <a:pt x="313411" y="337519"/>
                </a:lnTo>
                <a:lnTo>
                  <a:pt x="0" y="337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548" t="-64936" r="-105941" b="-123375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813657" y="6182350"/>
            <a:ext cx="313410" cy="337519"/>
          </a:xfrm>
          <a:custGeom>
            <a:avLst/>
            <a:gdLst/>
            <a:ahLst/>
            <a:cxnLst/>
            <a:rect r="r" b="b" t="t" l="l"/>
            <a:pathLst>
              <a:path h="337519" w="313410">
                <a:moveTo>
                  <a:pt x="0" y="0"/>
                </a:moveTo>
                <a:lnTo>
                  <a:pt x="313410" y="0"/>
                </a:lnTo>
                <a:lnTo>
                  <a:pt x="313410" y="337519"/>
                </a:lnTo>
                <a:lnTo>
                  <a:pt x="0" y="337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548" t="-64936" r="-105941" b="-123375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71722" y="474167"/>
            <a:ext cx="4492255" cy="9144539"/>
          </a:xfrm>
          <a:custGeom>
            <a:avLst/>
            <a:gdLst/>
            <a:ahLst/>
            <a:cxnLst/>
            <a:rect r="r" b="b" t="t" l="l"/>
            <a:pathLst>
              <a:path h="9144539" w="4492255">
                <a:moveTo>
                  <a:pt x="0" y="0"/>
                </a:moveTo>
                <a:lnTo>
                  <a:pt x="4492255" y="0"/>
                </a:lnTo>
                <a:lnTo>
                  <a:pt x="4492255" y="9144539"/>
                </a:lnTo>
                <a:lnTo>
                  <a:pt x="0" y="9144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47052" y="2291160"/>
            <a:ext cx="3496134" cy="7116812"/>
          </a:xfrm>
          <a:custGeom>
            <a:avLst/>
            <a:gdLst/>
            <a:ahLst/>
            <a:cxnLst/>
            <a:rect r="r" b="b" t="t" l="l"/>
            <a:pathLst>
              <a:path h="7116812" w="3496134">
                <a:moveTo>
                  <a:pt x="0" y="0"/>
                </a:moveTo>
                <a:lnTo>
                  <a:pt x="3496134" y="0"/>
                </a:lnTo>
                <a:lnTo>
                  <a:pt x="3496134" y="7116812"/>
                </a:lnTo>
                <a:lnTo>
                  <a:pt x="0" y="7116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41149" y="3816534"/>
            <a:ext cx="3112219" cy="6335306"/>
          </a:xfrm>
          <a:custGeom>
            <a:avLst/>
            <a:gdLst/>
            <a:ahLst/>
            <a:cxnLst/>
            <a:rect r="r" b="b" t="t" l="l"/>
            <a:pathLst>
              <a:path h="6335306" w="3112219">
                <a:moveTo>
                  <a:pt x="0" y="0"/>
                </a:moveTo>
                <a:lnTo>
                  <a:pt x="3112220" y="0"/>
                </a:lnTo>
                <a:lnTo>
                  <a:pt x="3112220" y="6335307"/>
                </a:lnTo>
                <a:lnTo>
                  <a:pt x="0" y="6335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0817" y="1162050"/>
            <a:ext cx="1620848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7200" spc="-72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 Progress #1 - Frontend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54745"/>
            <a:ext cx="8220895" cy="2091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4"/>
              </a:lnSpc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The signup screen was designed with a clean gradient layout, clear input fields, and balanced spacing. It connects with the backend to handle user registration and was tested for smooth navigation and consistent visual alignment across devices.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44122"/>
            <a:ext cx="8182081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b="true" sz="2799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Signup Screen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565990"/>
            <a:ext cx="8220895" cy="251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4"/>
              </a:lnSpc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The login screen follows the same design language for a unified look. It securely connects to the backend for authentication, allowing users to access their accounts easily. The back button and simple layout keep the flow quick and intuitive.</a:t>
            </a:r>
          </a:p>
          <a:p>
            <a:pPr algn="just">
              <a:lnSpc>
                <a:spcPts val="331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055368"/>
            <a:ext cx="8220895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</a:t>
            </a:r>
            <a:r>
              <a:rPr lang="en-US" b="true" sz="2799" strike="noStrike" u="none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Screen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7479" y="9615962"/>
            <a:ext cx="4715996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3121" y="2386972"/>
            <a:ext cx="8506179" cy="7423618"/>
            <a:chOff x="0" y="0"/>
            <a:chExt cx="11341572" cy="98981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7993" cy="4949866"/>
            </a:xfrm>
            <a:custGeom>
              <a:avLst/>
              <a:gdLst/>
              <a:ahLst/>
              <a:cxnLst/>
              <a:rect r="r" b="b" t="t" l="l"/>
              <a:pathLst>
                <a:path h="4949866" w="4757993">
                  <a:moveTo>
                    <a:pt x="0" y="0"/>
                  </a:moveTo>
                  <a:lnTo>
                    <a:pt x="4757993" y="0"/>
                  </a:lnTo>
                  <a:lnTo>
                    <a:pt x="4757993" y="4949866"/>
                  </a:lnTo>
                  <a:lnTo>
                    <a:pt x="0" y="4949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569" t="0" r="-7616" b="-12446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72870" y="0"/>
              <a:ext cx="5168702" cy="4949866"/>
            </a:xfrm>
            <a:custGeom>
              <a:avLst/>
              <a:gdLst/>
              <a:ahLst/>
              <a:cxnLst/>
              <a:rect r="r" b="b" t="t" l="l"/>
              <a:pathLst>
                <a:path h="4949866" w="5168702">
                  <a:moveTo>
                    <a:pt x="0" y="0"/>
                  </a:moveTo>
                  <a:lnTo>
                    <a:pt x="5168702" y="0"/>
                  </a:lnTo>
                  <a:lnTo>
                    <a:pt x="5168702" y="4949866"/>
                  </a:lnTo>
                  <a:lnTo>
                    <a:pt x="0" y="4949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507" t="0" r="-754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027177" y="5046695"/>
              <a:ext cx="5148551" cy="4851462"/>
            </a:xfrm>
            <a:custGeom>
              <a:avLst/>
              <a:gdLst/>
              <a:ahLst/>
              <a:cxnLst/>
              <a:rect r="r" b="b" t="t" l="l"/>
              <a:pathLst>
                <a:path h="4851462" w="5148551">
                  <a:moveTo>
                    <a:pt x="0" y="0"/>
                  </a:moveTo>
                  <a:lnTo>
                    <a:pt x="5148551" y="0"/>
                  </a:lnTo>
                  <a:lnTo>
                    <a:pt x="5148551" y="4851463"/>
                  </a:lnTo>
                  <a:lnTo>
                    <a:pt x="0" y="4851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21" t="-2513" r="-4122" b="-125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0817" y="1162050"/>
            <a:ext cx="1620848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7200" spc="-72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 Progress #2 - Chatbox Optimization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386972"/>
            <a:ext cx="7051198" cy="6438134"/>
            <a:chOff x="0" y="0"/>
            <a:chExt cx="9401597" cy="858417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74171"/>
              <a:ext cx="9401597" cy="771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58"/>
                </a:lnSpc>
              </a:pPr>
              <a:r>
                <a:rPr lang="en-US" sz="3122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Now, chatbox(NLP) handles:</a:t>
              </a:r>
            </a:p>
            <a:p>
              <a:pPr algn="just">
                <a:lnSpc>
                  <a:spcPts val="1198"/>
                </a:lnSpc>
              </a:pPr>
            </a:p>
            <a:p>
              <a:pPr algn="just" marL="674053" indent="-337027" lvl="1">
                <a:lnSpc>
                  <a:spcPts val="4058"/>
                </a:lnSpc>
                <a:buFont typeface="Arial"/>
                <a:buChar char="•"/>
              </a:pPr>
              <a:r>
                <a:rPr lang="en-US" sz="3122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Parse the user’s inputs</a:t>
              </a:r>
            </a:p>
            <a:p>
              <a:pPr algn="just">
                <a:lnSpc>
                  <a:spcPts val="4058"/>
                </a:lnSpc>
              </a:pPr>
            </a:p>
            <a:p>
              <a:pPr algn="just" marL="674053" indent="-337027" lvl="1">
                <a:lnSpc>
                  <a:spcPts val="4058"/>
                </a:lnSpc>
                <a:buFont typeface="Arial"/>
                <a:buChar char="•"/>
              </a:pPr>
              <a:r>
                <a:rPr lang="en-US" sz="3122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Asking for missing information from the chat.</a:t>
              </a:r>
            </a:p>
            <a:p>
              <a:pPr algn="just">
                <a:lnSpc>
                  <a:spcPts val="4058"/>
                </a:lnSpc>
              </a:pPr>
            </a:p>
            <a:p>
              <a:pPr algn="just" marL="674053" indent="-337027" lvl="1">
                <a:lnSpc>
                  <a:spcPts val="4058"/>
                </a:lnSpc>
                <a:buFont typeface="Arial"/>
                <a:buChar char="•"/>
              </a:pPr>
              <a:r>
                <a:rPr lang="en-US" sz="3122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Provide a travel plan if there is no missing information.</a:t>
              </a:r>
            </a:p>
            <a:p>
              <a:pPr algn="just">
                <a:lnSpc>
                  <a:spcPts val="4058"/>
                </a:lnSpc>
              </a:pPr>
            </a:p>
            <a:p>
              <a:pPr algn="just" marL="674053" indent="-337027" lvl="1">
                <a:lnSpc>
                  <a:spcPts val="4058"/>
                </a:lnSpc>
                <a:buFont typeface="Arial"/>
                <a:buChar char="•"/>
              </a:pPr>
              <a:r>
                <a:rPr lang="en-US" sz="3122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Provide a revised plan based on the revised information.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7150"/>
              <a:ext cx="9401597" cy="620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06"/>
                </a:lnSpc>
              </a:pPr>
              <a:r>
                <a:rPr lang="en-US" b="true" sz="3406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Combine two endpoints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78842" y="9615962"/>
            <a:ext cx="4715996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44927" y="2934205"/>
            <a:ext cx="9196754" cy="3128308"/>
          </a:xfrm>
          <a:custGeom>
            <a:avLst/>
            <a:gdLst/>
            <a:ahLst/>
            <a:cxnLst/>
            <a:rect r="r" b="b" t="t" l="l"/>
            <a:pathLst>
              <a:path h="3128308" w="9196754">
                <a:moveTo>
                  <a:pt x="0" y="0"/>
                </a:moveTo>
                <a:lnTo>
                  <a:pt x="9196754" y="0"/>
                </a:lnTo>
                <a:lnTo>
                  <a:pt x="9196754" y="3128307"/>
                </a:lnTo>
                <a:lnTo>
                  <a:pt x="0" y="3128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31876" y="8147022"/>
            <a:ext cx="14527424" cy="690053"/>
          </a:xfrm>
          <a:custGeom>
            <a:avLst/>
            <a:gdLst/>
            <a:ahLst/>
            <a:cxnLst/>
            <a:rect r="r" b="b" t="t" l="l"/>
            <a:pathLst>
              <a:path h="690053" w="14527424">
                <a:moveTo>
                  <a:pt x="0" y="0"/>
                </a:moveTo>
                <a:lnTo>
                  <a:pt x="14527424" y="0"/>
                </a:lnTo>
                <a:lnTo>
                  <a:pt x="14527424" y="690052"/>
                </a:lnTo>
                <a:lnTo>
                  <a:pt x="0" y="690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0817" y="1162050"/>
            <a:ext cx="1620848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7200" spc="-72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 Progress #3 - Car API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43304" y="9615962"/>
            <a:ext cx="4715996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50817" y="2348164"/>
            <a:ext cx="5913658" cy="5481386"/>
            <a:chOff x="0" y="0"/>
            <a:chExt cx="7884877" cy="730851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7718531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Car Search Service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70129"/>
              <a:ext cx="7884877" cy="6538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74"/>
                </a:lnSpc>
              </a:pPr>
              <a:r>
                <a:rPr lang="en-US" sz="27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 returns</a:t>
              </a:r>
            </a:p>
            <a:p>
              <a:pPr algn="just" marL="593700" indent="-296850" lvl="1">
                <a:lnSpc>
                  <a:spcPts val="3574"/>
                </a:lnSpc>
                <a:buFont typeface="Arial"/>
                <a:buChar char="•"/>
              </a:pPr>
              <a:r>
                <a:rPr lang="en-US" sz="27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Rental company name</a:t>
              </a:r>
            </a:p>
            <a:p>
              <a:pPr algn="just" marL="593700" indent="-296850" lvl="1">
                <a:lnSpc>
                  <a:spcPts val="3574"/>
                </a:lnSpc>
                <a:buFont typeface="Arial"/>
                <a:buChar char="•"/>
              </a:pPr>
              <a:r>
                <a:rPr lang="en-US" sz="27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Car type</a:t>
              </a:r>
            </a:p>
            <a:p>
              <a:pPr algn="just" marL="593700" indent="-296850" lvl="1">
                <a:lnSpc>
                  <a:spcPts val="3574"/>
                </a:lnSpc>
                <a:buFont typeface="Arial"/>
                <a:buChar char="•"/>
              </a:pPr>
              <a:r>
                <a:rPr lang="en-US" sz="27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Price per day</a:t>
              </a:r>
            </a:p>
            <a:p>
              <a:pPr algn="just" marL="593700" indent="-296850" lvl="1">
                <a:lnSpc>
                  <a:spcPts val="3574"/>
                </a:lnSpc>
                <a:buFont typeface="Arial"/>
                <a:buChar char="•"/>
              </a:pPr>
              <a:r>
                <a:rPr lang="en-US" sz="27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Currency</a:t>
              </a:r>
            </a:p>
            <a:p>
              <a:pPr algn="just" marL="593700" indent="-296850" lvl="1">
                <a:lnSpc>
                  <a:spcPts val="3574"/>
                </a:lnSpc>
                <a:buFont typeface="Arial"/>
                <a:buChar char="•"/>
              </a:pPr>
              <a:r>
                <a:rPr lang="en-US" sz="27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Link</a:t>
              </a:r>
            </a:p>
            <a:p>
              <a:pPr algn="just">
                <a:lnSpc>
                  <a:spcPts val="3574"/>
                </a:lnSpc>
              </a:pPr>
            </a:p>
            <a:p>
              <a:pPr algn="just">
                <a:lnSpc>
                  <a:spcPts val="3574"/>
                </a:lnSpc>
              </a:pPr>
              <a:r>
                <a:rPr lang="en-US" sz="27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car type is decided based on the number of people.</a:t>
              </a:r>
            </a:p>
            <a:p>
              <a:pPr algn="just">
                <a:lnSpc>
                  <a:spcPts val="3574"/>
                </a:lnSpc>
              </a:pPr>
              <a:r>
                <a:rPr lang="en-US" sz="27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(e.g. 2 adults + 2 kids = SUV, </a:t>
              </a:r>
            </a:p>
            <a:p>
              <a:pPr algn="just">
                <a:lnSpc>
                  <a:spcPts val="3574"/>
                </a:lnSpc>
              </a:pPr>
              <a:r>
                <a:rPr lang="en-US" sz="27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 adults = Sedan)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539679"/>
            <a:ext cx="8536785" cy="6718621"/>
          </a:xfrm>
          <a:custGeom>
            <a:avLst/>
            <a:gdLst/>
            <a:ahLst/>
            <a:cxnLst/>
            <a:rect r="r" b="b" t="t" l="l"/>
            <a:pathLst>
              <a:path h="6718621" w="8536785">
                <a:moveTo>
                  <a:pt x="0" y="0"/>
                </a:moveTo>
                <a:lnTo>
                  <a:pt x="8536785" y="0"/>
                </a:lnTo>
                <a:lnTo>
                  <a:pt x="8536785" y="6718621"/>
                </a:lnTo>
                <a:lnTo>
                  <a:pt x="0" y="6718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3720" y="5419725"/>
            <a:ext cx="6359421" cy="4565299"/>
          </a:xfrm>
          <a:custGeom>
            <a:avLst/>
            <a:gdLst/>
            <a:ahLst/>
            <a:cxnLst/>
            <a:rect r="r" b="b" t="t" l="l"/>
            <a:pathLst>
              <a:path h="4565299" w="6359421">
                <a:moveTo>
                  <a:pt x="0" y="0"/>
                </a:moveTo>
                <a:lnTo>
                  <a:pt x="6359421" y="0"/>
                </a:lnTo>
                <a:lnTo>
                  <a:pt x="6359421" y="4565299"/>
                </a:lnTo>
                <a:lnTo>
                  <a:pt x="0" y="4565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55521"/>
            <a:ext cx="16208483" cy="61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0"/>
              </a:lnSpc>
            </a:pPr>
            <a:r>
              <a:rPr lang="en-US" b="true" sz="4600" spc="-46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 #4 - Optimise Backend Services For Better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43304" y="9615962"/>
            <a:ext cx="4715996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Ayo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84469"/>
            <a:ext cx="7130324" cy="239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4285" indent="-227143" lvl="1">
              <a:lnSpc>
                <a:spcPts val="2735"/>
              </a:lnSpc>
              <a:buFont typeface="Arial"/>
              <a:buChar char="•"/>
            </a:pPr>
            <a:r>
              <a:rPr lang="en-US" sz="2104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Updated integral tables, relationships and fields based on the API and AI return response</a:t>
            </a:r>
          </a:p>
          <a:p>
            <a:pPr algn="l" marL="454285" indent="-227143" lvl="1">
              <a:lnSpc>
                <a:spcPts val="2735"/>
              </a:lnSpc>
              <a:buFont typeface="Arial"/>
              <a:buChar char="•"/>
            </a:pPr>
            <a:r>
              <a:rPr lang="en-US" sz="2104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Researched on optimisation tools like Redis and Cron Job</a:t>
            </a:r>
          </a:p>
          <a:p>
            <a:pPr algn="l" marL="454285" indent="-227143" lvl="1">
              <a:lnSpc>
                <a:spcPts val="2735"/>
              </a:lnSpc>
              <a:buFont typeface="Arial"/>
              <a:buChar char="•"/>
            </a:pPr>
            <a:r>
              <a:rPr lang="en-US" sz="2104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Reduced API request and response time by </a:t>
            </a:r>
            <a:r>
              <a:rPr lang="en-US" b="true" sz="2104">
                <a:solidFill>
                  <a:srgbClr val="E8E25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20%</a:t>
            </a:r>
          </a:p>
          <a:p>
            <a:pPr algn="l" marL="454285" indent="-227143" lvl="1">
              <a:lnSpc>
                <a:spcPts val="2735"/>
              </a:lnSpc>
              <a:buFont typeface="Arial"/>
              <a:buChar char="•"/>
            </a:pPr>
            <a:r>
              <a:rPr lang="en-US" sz="2104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Integrated and implemented Redis and cron jobs into the system for speed and real-time updates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100" y="1811743"/>
            <a:ext cx="7812708" cy="47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4"/>
              </a:lnSpc>
            </a:pPr>
            <a:r>
              <a:rPr lang="en-US" b="true" sz="2949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Connected to the AI Services </a:t>
            </a:r>
            <a:r>
              <a:rPr lang="en-US" b="true" sz="294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(WIP)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55343" y="4693001"/>
            <a:ext cx="6359421" cy="4565299"/>
          </a:xfrm>
          <a:custGeom>
            <a:avLst/>
            <a:gdLst/>
            <a:ahLst/>
            <a:cxnLst/>
            <a:rect r="r" b="b" t="t" l="l"/>
            <a:pathLst>
              <a:path h="4565299" w="6359421">
                <a:moveTo>
                  <a:pt x="0" y="0"/>
                </a:moveTo>
                <a:lnTo>
                  <a:pt x="6359422" y="0"/>
                </a:lnTo>
                <a:lnTo>
                  <a:pt x="6359422" y="4565299"/>
                </a:lnTo>
                <a:lnTo>
                  <a:pt x="0" y="4565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6662" y="2876190"/>
            <a:ext cx="8002840" cy="5652006"/>
          </a:xfrm>
          <a:custGeom>
            <a:avLst/>
            <a:gdLst/>
            <a:ahLst/>
            <a:cxnLst/>
            <a:rect r="r" b="b" t="t" l="l"/>
            <a:pathLst>
              <a:path h="5652006" w="8002840">
                <a:moveTo>
                  <a:pt x="0" y="0"/>
                </a:moveTo>
                <a:lnTo>
                  <a:pt x="8002840" y="0"/>
                </a:lnTo>
                <a:lnTo>
                  <a:pt x="8002840" y="5652006"/>
                </a:lnTo>
                <a:lnTo>
                  <a:pt x="0" y="5652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33425"/>
            <a:ext cx="16208483" cy="72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5400" spc="-54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 #5 - Integrating and Deploying AI Services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43304" y="9615962"/>
            <a:ext cx="4715996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Ayo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797911"/>
            <a:ext cx="7812708" cy="251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521" indent="-275260" lvl="1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Ensured the system is centralised for smooth workflow amongst the team</a:t>
            </a:r>
          </a:p>
          <a:p>
            <a:pPr algn="l" marL="550521" indent="-275260" lvl="1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Configured and deployed the AI services to IBM</a:t>
            </a:r>
          </a:p>
          <a:p>
            <a:pPr algn="l" marL="550521" indent="-275260" lvl="1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Creating </a:t>
            </a:r>
            <a:r>
              <a:rPr lang="en-US" sz="2549" i="true">
                <a:solidFill>
                  <a:srgbClr val="E8E252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.sh</a:t>
            </a: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 script to have GitHub CI/CD working </a:t>
            </a:r>
            <a:r>
              <a:rPr lang="en-US" b="true" sz="254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(WIP)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991352"/>
            <a:ext cx="2318657" cy="553437"/>
            <a:chOff x="0" y="0"/>
            <a:chExt cx="808177" cy="192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8177" cy="192903"/>
            </a:xfrm>
            <a:custGeom>
              <a:avLst/>
              <a:gdLst/>
              <a:ahLst/>
              <a:cxnLst/>
              <a:rect r="r" b="b" t="t" l="l"/>
              <a:pathLst>
                <a:path h="192903" w="808177">
                  <a:moveTo>
                    <a:pt x="0" y="0"/>
                  </a:moveTo>
                  <a:lnTo>
                    <a:pt x="808177" y="0"/>
                  </a:lnTo>
                  <a:lnTo>
                    <a:pt x="808177" y="192903"/>
                  </a:lnTo>
                  <a:lnTo>
                    <a:pt x="0" y="192903"/>
                  </a:lnTo>
                  <a:close/>
                </a:path>
              </a:pathLst>
            </a:custGeom>
            <a:solidFill>
              <a:srgbClr val="CED5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8177" cy="22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1-3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47357" y="4991352"/>
            <a:ext cx="2318657" cy="553437"/>
            <a:chOff x="0" y="0"/>
            <a:chExt cx="768727" cy="183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8727" cy="183486"/>
            </a:xfrm>
            <a:custGeom>
              <a:avLst/>
              <a:gdLst/>
              <a:ahLst/>
              <a:cxnLst/>
              <a:rect r="r" b="b" t="t" l="l"/>
              <a:pathLst>
                <a:path h="183486" w="768727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979B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4-5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6014" y="4991352"/>
            <a:ext cx="2318657" cy="553437"/>
            <a:chOff x="0" y="0"/>
            <a:chExt cx="768727" cy="183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8727" cy="183486"/>
            </a:xfrm>
            <a:custGeom>
              <a:avLst/>
              <a:gdLst/>
              <a:ahLst/>
              <a:cxnLst/>
              <a:rect r="r" b="b" t="t" l="l"/>
              <a:pathLst>
                <a:path h="183486" w="768727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89E2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6-7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84671" y="4991352"/>
            <a:ext cx="2318657" cy="553437"/>
            <a:chOff x="0" y="0"/>
            <a:chExt cx="768727" cy="183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8727" cy="183486"/>
            </a:xfrm>
            <a:custGeom>
              <a:avLst/>
              <a:gdLst/>
              <a:ahLst/>
              <a:cxnLst/>
              <a:rect r="r" b="b" t="t" l="l"/>
              <a:pathLst>
                <a:path h="183486" w="768727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ADE46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8-9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03329" y="4991352"/>
            <a:ext cx="2318657" cy="553437"/>
            <a:chOff x="0" y="0"/>
            <a:chExt cx="768727" cy="183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727" cy="183486"/>
            </a:xfrm>
            <a:custGeom>
              <a:avLst/>
              <a:gdLst/>
              <a:ahLst/>
              <a:cxnLst/>
              <a:rect r="r" b="b" t="t" l="l"/>
              <a:pathLst>
                <a:path h="183486" w="768727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E8E25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10-11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21986" y="4991352"/>
            <a:ext cx="2318657" cy="553437"/>
            <a:chOff x="0" y="0"/>
            <a:chExt cx="768727" cy="183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727" cy="183486"/>
            </a:xfrm>
            <a:custGeom>
              <a:avLst/>
              <a:gdLst/>
              <a:ahLst/>
              <a:cxnLst/>
              <a:rect r="r" b="b" t="t" l="l"/>
              <a:pathLst>
                <a:path h="183486" w="768727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FFD30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12-13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40643" y="4991352"/>
            <a:ext cx="2318657" cy="553437"/>
            <a:chOff x="0" y="0"/>
            <a:chExt cx="768727" cy="183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8727" cy="183486"/>
            </a:xfrm>
            <a:custGeom>
              <a:avLst/>
              <a:gdLst/>
              <a:ahLst/>
              <a:cxnLst/>
              <a:rect r="r" b="b" t="t" l="l"/>
              <a:pathLst>
                <a:path h="183486" w="768727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FFA6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14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3347357" y="2671575"/>
            <a:ext cx="0" cy="2319776"/>
          </a:xfrm>
          <a:prstGeom prst="line">
            <a:avLst/>
          </a:prstGeom>
          <a:ln cap="flat" w="38100">
            <a:solidFill>
              <a:srgbClr val="CED5E6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24" id="24"/>
          <p:cNvSpPr/>
          <p:nvPr/>
        </p:nvSpPr>
        <p:spPr>
          <a:xfrm flipV="true">
            <a:off x="7965621" y="2671575"/>
            <a:ext cx="0" cy="2319776"/>
          </a:xfrm>
          <a:prstGeom prst="line">
            <a:avLst/>
          </a:prstGeom>
          <a:ln cap="flat" w="38100">
            <a:solidFill>
              <a:srgbClr val="89E2E8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25" id="25"/>
          <p:cNvSpPr/>
          <p:nvPr/>
        </p:nvSpPr>
        <p:spPr>
          <a:xfrm flipH="true">
            <a:off x="5646964" y="5544789"/>
            <a:ext cx="0" cy="2319776"/>
          </a:xfrm>
          <a:prstGeom prst="line">
            <a:avLst/>
          </a:prstGeom>
          <a:ln cap="flat" w="38100">
            <a:solidFill>
              <a:srgbClr val="979BFF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26" id="26"/>
          <p:cNvSpPr/>
          <p:nvPr/>
        </p:nvSpPr>
        <p:spPr>
          <a:xfrm>
            <a:off x="10284279" y="5544789"/>
            <a:ext cx="0" cy="2319776"/>
          </a:xfrm>
          <a:prstGeom prst="line">
            <a:avLst/>
          </a:prstGeom>
          <a:ln cap="flat" w="38100">
            <a:solidFill>
              <a:srgbClr val="ADE466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27" id="27"/>
          <p:cNvSpPr/>
          <p:nvPr/>
        </p:nvSpPr>
        <p:spPr>
          <a:xfrm flipV="true">
            <a:off x="12602936" y="2671575"/>
            <a:ext cx="0" cy="2319776"/>
          </a:xfrm>
          <a:prstGeom prst="line">
            <a:avLst/>
          </a:prstGeom>
          <a:ln cap="flat" w="38100">
            <a:solidFill>
              <a:srgbClr val="E8E252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28" id="28"/>
          <p:cNvSpPr/>
          <p:nvPr/>
        </p:nvSpPr>
        <p:spPr>
          <a:xfrm>
            <a:off x="14921593" y="5544789"/>
            <a:ext cx="0" cy="2319776"/>
          </a:xfrm>
          <a:prstGeom prst="line">
            <a:avLst/>
          </a:prstGeom>
          <a:ln cap="flat" w="38100">
            <a:solidFill>
              <a:srgbClr val="FFD308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29" id="29"/>
          <p:cNvSpPr/>
          <p:nvPr/>
        </p:nvSpPr>
        <p:spPr>
          <a:xfrm flipV="true">
            <a:off x="17240250" y="2671575"/>
            <a:ext cx="0" cy="2319776"/>
          </a:xfrm>
          <a:prstGeom prst="line">
            <a:avLst/>
          </a:prstGeom>
          <a:ln cap="flat" w="38100">
            <a:solidFill>
              <a:srgbClr val="FFA678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30" id="30"/>
          <p:cNvSpPr txBox="true"/>
          <p:nvPr/>
        </p:nvSpPr>
        <p:spPr>
          <a:xfrm rot="0">
            <a:off x="572668" y="3054298"/>
            <a:ext cx="2544845" cy="149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59"/>
              </a:lnSpc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Prepare the project proposal and set up the development environment 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6108" y="2220582"/>
            <a:ext cx="1883842" cy="73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4"/>
              </a:lnSpc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Proposal and Setup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34088" y="3054298"/>
            <a:ext cx="2520739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Integrate LLM API,  API, implement classification slots, and create chat endpoints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83422" y="2220582"/>
            <a:ext cx="1883842" cy="73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4"/>
              </a:lnSpc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+ Chat Setup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68247" y="3054298"/>
            <a:ext cx="2723895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Integrate APIs for car rental, hotels and attractions search, and add an API endpoint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70487" y="3054298"/>
            <a:ext cx="1858969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Publish an app to the Expo/Vercel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921593" y="2220582"/>
            <a:ext cx="2120299" cy="73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4"/>
              </a:lnSpc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Publish &amp; Deployment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347357" y="6486107"/>
            <a:ext cx="2088813" cy="225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Initialize and design the frontend basic layout and the backend basic endpoints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129949" y="5652392"/>
            <a:ext cx="2318657" cy="73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4"/>
              </a:lnSpc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&amp; backend Setup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14516" y="6486107"/>
            <a:ext cx="1858969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Integrate APIs for flights and hotels, and add each API endpoint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92142" y="6486107"/>
            <a:ext cx="2318657" cy="149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Orchestrate flight, hotel, rental,  and attractions based on inputs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17015" y="5652392"/>
            <a:ext cx="2306221" cy="73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4"/>
              </a:lnSpc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Orchestration &amp; Testing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839267"/>
            <a:ext cx="7584203" cy="1075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Timeline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37113" y="5652392"/>
            <a:ext cx="2561244" cy="73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4"/>
              </a:lnSpc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Flights &amp; Hotels Integration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09528" y="2220582"/>
            <a:ext cx="3007486" cy="73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4"/>
              </a:lnSpc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Rent &amp; Attractions Integration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543304" y="9615962"/>
            <a:ext cx="4715996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Sangmin, Umair, Ayo</a:t>
            </a:r>
          </a:p>
        </p:txBody>
      </p:sp>
      <p:sp>
        <p:nvSpPr>
          <p:cNvPr name="AutoShape 46" id="46"/>
          <p:cNvSpPr/>
          <p:nvPr/>
        </p:nvSpPr>
        <p:spPr>
          <a:xfrm flipV="true">
            <a:off x="13781314" y="3298961"/>
            <a:ext cx="0" cy="1446153"/>
          </a:xfrm>
          <a:prstGeom prst="line">
            <a:avLst/>
          </a:prstGeom>
          <a:ln cap="flat" w="95250">
            <a:solidFill>
              <a:srgbClr val="FF3131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0817" y="1162050"/>
            <a:ext cx="1620848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7200" spc="-72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What’s next?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50817" y="2365005"/>
            <a:ext cx="16208483" cy="3316689"/>
            <a:chOff x="0" y="0"/>
            <a:chExt cx="21611311" cy="442225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766555"/>
              <a:ext cx="21611311" cy="3655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0521" indent="-275260" lvl="1">
                <a:lnSpc>
                  <a:spcPts val="3314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Goal:  Test and make sure that the chatbox is working properly in the app.</a:t>
              </a:r>
            </a:p>
            <a:p>
              <a:pPr algn="l" marL="550521" indent="-275260" lvl="1">
                <a:lnSpc>
                  <a:spcPts val="5099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Expected Result #1: Chatbox in the app should handle multiple use cases </a:t>
              </a:r>
            </a:p>
            <a:p>
              <a:pPr algn="l" marL="1101041" indent="-367014" lvl="2">
                <a:lnSpc>
                  <a:spcPts val="5099"/>
                </a:lnSpc>
                <a:buFont typeface="Arial"/>
                <a:buChar char="⚬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Initial parse and making a plan</a:t>
              </a:r>
            </a:p>
            <a:p>
              <a:pPr algn="l" marL="1101041" indent="-367014" lvl="2">
                <a:lnSpc>
                  <a:spcPts val="5099"/>
                </a:lnSpc>
                <a:buFont typeface="Arial"/>
                <a:buChar char="⚬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</a:t>
              </a: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evise slots and the plan</a:t>
              </a:r>
            </a:p>
            <a:p>
              <a:pPr algn="l">
                <a:lnSpc>
                  <a:spcPts val="3314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7150"/>
              <a:ext cx="10909441" cy="50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9"/>
                </a:lnSpc>
              </a:pPr>
              <a:r>
                <a:rPr lang="en-US" b="true" sz="2799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Testing chatbox in the frontend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5681694"/>
            <a:ext cx="16230600" cy="2888626"/>
            <a:chOff x="0" y="0"/>
            <a:chExt cx="21640800" cy="385150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02827"/>
              <a:ext cx="21640800" cy="324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0521" indent="-275260" lvl="1">
                <a:lnSpc>
                  <a:spcPts val="5099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Goal: Save the user’s chat, slots, and plan information into mobile devices/DB</a:t>
              </a:r>
            </a:p>
            <a:p>
              <a:pPr algn="l" marL="550521" indent="-275260" lvl="1">
                <a:lnSpc>
                  <a:spcPts val="5099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Expected Result #1: Save the user’s chat and travel information on the mobile device</a:t>
              </a:r>
            </a:p>
            <a:p>
              <a:pPr algn="l" marL="550521" indent="-275260" lvl="1">
                <a:lnSpc>
                  <a:spcPts val="5099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Expected Result #2: Save the user’s chat and travel information into the DB</a:t>
              </a:r>
            </a:p>
            <a:p>
              <a:pPr algn="l" marL="550521" indent="-275260" lvl="1">
                <a:lnSpc>
                  <a:spcPts val="5099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Goal: Work on more side features from the product backlog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7150"/>
              <a:ext cx="21640800" cy="507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Connect FE and BE #4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43304" y="9615962"/>
            <a:ext cx="4715996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Sangmin, Ayo, Umair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09049" y="1028700"/>
            <a:ext cx="2050251" cy="2207963"/>
          </a:xfrm>
          <a:custGeom>
            <a:avLst/>
            <a:gdLst/>
            <a:ahLst/>
            <a:cxnLst/>
            <a:rect r="r" b="b" t="t" l="l"/>
            <a:pathLst>
              <a:path h="2207963" w="2050251">
                <a:moveTo>
                  <a:pt x="0" y="0"/>
                </a:moveTo>
                <a:lnTo>
                  <a:pt x="2050251" y="0"/>
                </a:lnTo>
                <a:lnTo>
                  <a:pt x="2050251" y="2207963"/>
                </a:lnTo>
                <a:lnTo>
                  <a:pt x="0" y="2207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548" t="-64936" r="-105941" b="-123375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63551" y="6387987"/>
            <a:ext cx="2160899" cy="2327122"/>
          </a:xfrm>
          <a:custGeom>
            <a:avLst/>
            <a:gdLst/>
            <a:ahLst/>
            <a:cxnLst/>
            <a:rect r="r" b="b" t="t" l="l"/>
            <a:pathLst>
              <a:path h="2327122" w="2160899">
                <a:moveTo>
                  <a:pt x="0" y="0"/>
                </a:moveTo>
                <a:lnTo>
                  <a:pt x="2160898" y="0"/>
                </a:lnTo>
                <a:lnTo>
                  <a:pt x="2160898" y="2327122"/>
                </a:lnTo>
                <a:lnTo>
                  <a:pt x="0" y="2327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548" t="-64936" r="-105941" b="-12337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51286" y="2144127"/>
            <a:ext cx="13185428" cy="4787052"/>
            <a:chOff x="0" y="0"/>
            <a:chExt cx="17580570" cy="638273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400050"/>
              <a:ext cx="17580570" cy="598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07"/>
                </a:lnSpc>
              </a:pPr>
              <a:r>
                <a:rPr lang="en-US" sz="18255">
                  <a:solidFill>
                    <a:srgbClr val="000000"/>
                  </a:solidFill>
                  <a:latin typeface="Distillery Strong"/>
                  <a:ea typeface="Distillery Strong"/>
                  <a:cs typeface="Distillery Strong"/>
                  <a:sym typeface="Distillery Strong"/>
                </a:rPr>
                <a:t>THANK YOU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5090449" y="3834941"/>
              <a:ext cx="7399672" cy="2187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35"/>
                </a:lnSpc>
              </a:pPr>
              <a:r>
                <a:rPr lang="en-US" sz="15059">
                  <a:solidFill>
                    <a:srgbClr val="000000"/>
                  </a:solidFill>
                  <a:latin typeface="Moontime"/>
                  <a:ea typeface="Moontime"/>
                  <a:cs typeface="Moontime"/>
                  <a:sym typeface="Moontime"/>
                </a:rPr>
                <a:t>twos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01679" y="9615962"/>
            <a:ext cx="4877361" cy="37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Umair, Sangmin, Ayo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DAG2DyDVdI0</dc:identifier>
  <dcterms:modified xsi:type="dcterms:W3CDTF">2011-08-01T06:04:30Z</dcterms:modified>
  <cp:revision>1</cp:revision>
  <dc:title>Checkpoint_3</dc:title>
</cp:coreProperties>
</file>