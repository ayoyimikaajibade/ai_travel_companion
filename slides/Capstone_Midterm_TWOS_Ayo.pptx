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</p:sldIdLst>
  <p:sldSz cx="18288000" cy="10287000"/>
  <p:notesSz cx="6858000" cy="9144000"/>
  <p:embeddedFontLst>
    <p:embeddedFont>
      <p:font typeface="Agrandir" pitchFamily="2" charset="77"/>
      <p:regular r:id="rId27"/>
    </p:embeddedFont>
    <p:embeddedFont>
      <p:font typeface="Canva Sans" panose="020B0503030501040103" pitchFamily="34" charset="0"/>
      <p:regular r:id="rId28"/>
    </p:embeddedFont>
    <p:embeddedFont>
      <p:font typeface="Canva Sans Bold" panose="020B0803030501040103" pitchFamily="34" charset="0"/>
      <p:regular r:id="rId29"/>
      <p:bold r:id="rId30"/>
    </p:embeddedFont>
    <p:embeddedFont>
      <p:font typeface="Canva Sans Italics" panose="020B0503030501040103" pitchFamily="34" charset="0"/>
      <p:regular r:id="rId31"/>
      <p:italic r:id="rId32"/>
    </p:embeddedFont>
    <p:embeddedFont>
      <p:font typeface="Canva Sans Medium" panose="020B0603030501040103" pitchFamily="34" charset="0"/>
      <p:regular r:id="rId33"/>
    </p:embeddedFont>
    <p:embeddedFont>
      <p:font typeface="Distillery Strong" pitchFamily="2" charset="77"/>
      <p:regular r:id="rId34"/>
    </p:embeddedFont>
    <p:embeddedFont>
      <p:font typeface="DM Sans Bold" pitchFamily="2" charset="77"/>
      <p:regular r:id="rId35"/>
      <p:bold r:id="rId36"/>
    </p:embeddedFont>
    <p:embeddedFont>
      <p:font typeface="Montserrat" pitchFamily="2" charset="77"/>
      <p:regular r:id="rId37"/>
      <p:bold r:id="rId38"/>
      <p:italic r:id="rId39"/>
      <p:boldItalic r:id="rId40"/>
    </p:embeddedFont>
    <p:embeddedFont>
      <p:font typeface="Montserrat Bold" pitchFamily="2" charset="77"/>
      <p:regular r:id="rId41"/>
      <p:bold r:id="rId42"/>
    </p:embeddedFont>
    <p:embeddedFont>
      <p:font typeface="Moontime" pitchFamily="2" charset="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80" d="100"/>
          <a:sy n="80" d="100"/>
        </p:scale>
        <p:origin x="8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Good Morning</a:t>
            </a:r>
          </a:p>
          <a:p>
            <a:endParaRPr lang="en-US"/>
          </a:p>
          <a:p>
            <a:r>
              <a:rPr lang="en-US"/>
              <a:t>We are Team TWOS</a:t>
            </a:r>
          </a:p>
          <a:p>
            <a:r>
              <a:rPr lang="en-US"/>
              <a:t>Umair, Sangmin, and Ayo.</a:t>
            </a:r>
          </a:p>
          <a:p>
            <a:endParaRPr lang="en-US"/>
          </a:p>
          <a:p>
            <a:r>
              <a:rPr lang="en-US"/>
              <a:t>Our project is AI-based Travel Companion</a:t>
            </a:r>
          </a:p>
          <a:p>
            <a:r>
              <a:rPr lang="en-US"/>
              <a:t>Travel Without Stress (TWOS).</a:t>
            </a:r>
          </a:p>
          <a:p>
            <a:endParaRPr lang="en-US"/>
          </a:p>
          <a:p>
            <a:r>
              <a:rPr lang="en-US"/>
              <a:t>It’s an intelligent platform that plans your entire trip</a:t>
            </a:r>
          </a:p>
          <a:p>
            <a:endParaRPr lang="en-US"/>
          </a:p>
          <a:p>
            <a:r>
              <a:rPr lang="en-US"/>
              <a:t>Flights, hotels, rentals, and attractions</a:t>
            </a:r>
          </a:p>
          <a:p>
            <a:endParaRPr lang="en-US"/>
          </a:p>
          <a:p>
            <a:r>
              <a:rPr lang="en-US"/>
              <a:t>All in one chat.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Why is travel planning so stressful?</a:t>
            </a:r>
          </a:p>
          <a:p>
            <a:endParaRPr lang="en-US"/>
          </a:p>
          <a:p>
            <a:r>
              <a:rPr lang="en-US"/>
              <a:t>Because it requires juggling multiple platforms like Expedia for flights, Booking.com for hotels, Hertz for cars, and more.</a:t>
            </a:r>
          </a:p>
          <a:p>
            <a:endParaRPr lang="en-US"/>
          </a:p>
          <a:p>
            <a:r>
              <a:rPr lang="en-US"/>
              <a:t>TWOS solves this by creating one unified AI platform that generates optimized travel packages instantly.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6982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(Sangmin)</a:t>
            </a:r>
          </a:p>
          <a:p>
            <a:endParaRPr lang="en-US"/>
          </a:p>
          <a:p>
            <a:r>
              <a:rPr lang="en-US"/>
              <a:t>Thank you Umair.</a:t>
            </a:r>
          </a:p>
          <a:p>
            <a:endParaRPr lang="en-US"/>
          </a:p>
          <a:p>
            <a:r>
              <a:rPr lang="en-US"/>
              <a:t>Here is our completed work regarding NLP.</a:t>
            </a:r>
          </a:p>
          <a:p>
            <a:endParaRPr lang="en-US"/>
          </a:p>
          <a:p>
            <a:r>
              <a:rPr lang="en-US"/>
              <a:t>There are two main services - Chat and Search.</a:t>
            </a:r>
          </a:p>
          <a:p>
            <a:endParaRPr lang="en-US"/>
          </a:p>
          <a:p>
            <a:r>
              <a:rPr lang="en-US"/>
              <a:t>The chat service interacts with FE. Simply, FE sends a request to "/chat" endpoint whenever it needs something to parse.</a:t>
            </a:r>
          </a:p>
          <a:p>
            <a:endParaRPr lang="en-US"/>
          </a:p>
          <a:p>
            <a:r>
              <a:rPr lang="en-US"/>
              <a:t>There are three major functionalities. </a:t>
            </a:r>
          </a:p>
          <a:p>
            <a:r>
              <a:rPr lang="en-US"/>
              <a:t>First, if the FE request does not have a slot ID, then it assigns a unique slot ID automatically, and this ID never changes.</a:t>
            </a:r>
          </a:p>
          <a:p>
            <a:endParaRPr lang="en-US"/>
          </a:p>
          <a:p>
            <a:r>
              <a:rPr lang="en-US"/>
              <a:t>Second, it parses the message from FE and fills out the slots.</a:t>
            </a:r>
          </a:p>
          <a:p>
            <a:endParaRPr lang="en-US"/>
          </a:p>
          <a:p>
            <a:r>
              <a:rPr lang="en-US"/>
              <a:t>Last, it also supports editing the slot information. For example, if the user wants to change their departure, then it changes the departure information for the user.</a:t>
            </a:r>
          </a:p>
          <a:p>
            <a:endParaRPr lang="en-US"/>
          </a:p>
          <a:p>
            <a:r>
              <a:rPr lang="en-US"/>
              <a:t>The example is showing the case of assigning slot ID.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Second, the example shows the case when the user enters their travel plan in everyday language, the NLP module parses the information.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last example shows the revision case. </a:t>
            </a:r>
          </a:p>
          <a:p>
            <a:endParaRPr lang="en-US"/>
          </a:p>
          <a:p>
            <a:r>
              <a:rPr lang="en-US"/>
              <a:t>As you can see, SFO changed to SJC.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second service is the "Search".</a:t>
            </a:r>
          </a:p>
          <a:p>
            <a:endParaRPr lang="en-US"/>
          </a:p>
          <a:p>
            <a:r>
              <a:rPr lang="en-US"/>
              <a:t>Once the slots are filled, this search service will call APIs and make a travel plan. </a:t>
            </a:r>
          </a:p>
          <a:p>
            <a:endParaRPr lang="en-US"/>
          </a:p>
          <a:p>
            <a:r>
              <a:rPr lang="en-US"/>
              <a:t>And it sends the plan information to FE.</a:t>
            </a:r>
          </a:p>
          <a:p>
            <a:endParaRPr lang="en-US"/>
          </a:p>
          <a:p>
            <a:r>
              <a:rPr lang="en-US"/>
              <a:t>In this example, the service found the cheapest flight and the cheapest 5-star hotel with a pool, and the top 3 local attractions that have "palace or street food tour" in the attraction name and description.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Cuase we just talked about search.</a:t>
            </a:r>
          </a:p>
          <a:p>
            <a:endParaRPr lang="en-US"/>
          </a:p>
          <a:p>
            <a:r>
              <a:rPr lang="en-US"/>
              <a:t>I also want to talk about APIs that are used for the search service.</a:t>
            </a:r>
          </a:p>
          <a:p>
            <a:endParaRPr lang="en-US"/>
          </a:p>
          <a:p>
            <a:r>
              <a:rPr lang="en-US"/>
              <a:t>We set basic principles regarding calling APIs or utilizing data from APIs.</a:t>
            </a:r>
          </a:p>
          <a:p>
            <a:endParaRPr lang="en-US"/>
          </a:p>
          <a:p>
            <a:r>
              <a:rPr lang="en-US"/>
              <a:t>The very fundamental principles are these (1 and 2).</a:t>
            </a:r>
          </a:p>
          <a:p>
            <a:r>
              <a:rPr lang="en-US"/>
              <a:t>Receive data from the APIs and then apply filters and/or sort the data. </a:t>
            </a:r>
          </a:p>
          <a:p>
            <a:endParaRPr lang="en-US"/>
          </a:p>
          <a:p>
            <a:r>
              <a:rPr lang="en-US"/>
              <a:t>By following this, we are able to provide more suitable recommendations to users by creating multiple filter layers.</a:t>
            </a:r>
          </a:p>
          <a:p>
            <a:endParaRPr lang="en-US"/>
          </a:p>
          <a:p>
            <a:r>
              <a:rPr lang="en-US"/>
              <a:t>But at the same time, we need to manage the resources and keep low-latency. So if the "request" field of hotel and car is false, then NLP skips the related API calls.</a:t>
            </a:r>
          </a:p>
          <a:p>
            <a:endParaRPr lang="en-US"/>
          </a:p>
          <a:p>
            <a:r>
              <a:rPr lang="en-US"/>
              <a:t>However, for attractions, although the attractions field is empty, NLP will call the API for recommendations.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Ok,</a:t>
            </a:r>
          </a:p>
          <a:p>
            <a:endParaRPr lang="en-US"/>
          </a:p>
          <a:p>
            <a:r>
              <a:rPr lang="en-US"/>
              <a:t>Here are some logs to show how the APIs are working.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Another example of skipping the API calls. </a:t>
            </a:r>
          </a:p>
          <a:p>
            <a:endParaRPr lang="en-US"/>
          </a:p>
          <a:p>
            <a:r>
              <a:rPr lang="en-US"/>
              <a:t>Now, let me pass to the Ayo.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(Sangmin)</a:t>
            </a:r>
          </a:p>
          <a:p>
            <a:r>
              <a:rPr lang="en-US"/>
              <a:t>Thank you Umair,</a:t>
            </a:r>
          </a:p>
          <a:p>
            <a:endParaRPr lang="en-US"/>
          </a:p>
          <a:p>
            <a:r>
              <a:rPr lang="en-US"/>
              <a:t>Here is our 2nd progress. </a:t>
            </a:r>
          </a:p>
          <a:p>
            <a:r>
              <a:rPr lang="en-US"/>
              <a:t>The FastAPI services for APIs are built. Currently, we successfully get data for flights and hotels based on the user's input.</a:t>
            </a:r>
          </a:p>
          <a:p>
            <a:endParaRPr lang="en-US"/>
          </a:p>
          <a:p>
            <a:r>
              <a:rPr lang="en-US"/>
              <a:t>I don't have screenshots here, but because of these services, our NLP has also improved. Now, it parses the users' natural language and makes API calls using parsed data at once.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(Sangmin)</a:t>
            </a:r>
          </a:p>
          <a:p>
            <a:r>
              <a:rPr lang="en-US"/>
              <a:t>Thank you Umair,</a:t>
            </a:r>
          </a:p>
          <a:p>
            <a:endParaRPr lang="en-US"/>
          </a:p>
          <a:p>
            <a:r>
              <a:rPr lang="en-US"/>
              <a:t>Here is our 2nd progress. </a:t>
            </a:r>
          </a:p>
          <a:p>
            <a:r>
              <a:rPr lang="en-US"/>
              <a:t>The FastAPI services for APIs are built. Currently, we successfully get data for flights and hotels based on the user's input.</a:t>
            </a:r>
          </a:p>
          <a:p>
            <a:endParaRPr lang="en-US"/>
          </a:p>
          <a:p>
            <a:r>
              <a:rPr lang="en-US"/>
              <a:t>I don't have screenshots here, but because of these services, our NLP has also improved. Now, it parses the users' natural language and makes API calls using parsed data at once.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(Sangmin)</a:t>
            </a:r>
          </a:p>
          <a:p>
            <a:r>
              <a:rPr lang="en-US"/>
              <a:t>Thank you Umair,</a:t>
            </a:r>
          </a:p>
          <a:p>
            <a:endParaRPr lang="en-US"/>
          </a:p>
          <a:p>
            <a:r>
              <a:rPr lang="en-US"/>
              <a:t>Here is our 2nd progress. </a:t>
            </a:r>
          </a:p>
          <a:p>
            <a:r>
              <a:rPr lang="en-US"/>
              <a:t>The FastAPI services for APIs are built. Currently, we successfully get data for flights and hotels based on the user's input.</a:t>
            </a:r>
          </a:p>
          <a:p>
            <a:endParaRPr lang="en-US"/>
          </a:p>
          <a:p>
            <a:r>
              <a:rPr lang="en-US"/>
              <a:t>I don't have screenshots here, but because of these services, our NLP has also improved. Now, it parses the users' natural language and makes API calls using parsed data at once.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(Sangmin)</a:t>
            </a:r>
          </a:p>
          <a:p>
            <a:r>
              <a:rPr lang="en-US"/>
              <a:t>Thank you Umair,</a:t>
            </a:r>
          </a:p>
          <a:p>
            <a:endParaRPr lang="en-US"/>
          </a:p>
          <a:p>
            <a:r>
              <a:rPr lang="en-US"/>
              <a:t>Here is our 2nd progress. </a:t>
            </a:r>
          </a:p>
          <a:p>
            <a:r>
              <a:rPr lang="en-US"/>
              <a:t>The FastAPI services for APIs are built. Currently, we successfully get data for flights and hotels based on the user's input.</a:t>
            </a:r>
          </a:p>
          <a:p>
            <a:endParaRPr lang="en-US"/>
          </a:p>
          <a:p>
            <a:r>
              <a:rPr lang="en-US"/>
              <a:t>I don't have screenshots here, but because of these services, our NLP has also improved. Now, it parses the users' natural language and makes API calls using parsed data at once.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(Anyone)</a:t>
            </a:r>
          </a:p>
          <a:p>
            <a:r>
              <a:rPr lang="en-US"/>
              <a:t>Ok, here is our timeline</a:t>
            </a:r>
          </a:p>
          <a:p>
            <a:endParaRPr lang="en-US"/>
          </a:p>
          <a:p>
            <a:r>
              <a:rPr lang="en-US"/>
              <a:t>We are a little ahead of our plans. We already worked on Flights &amp; Hotels APIs, and are working. We are planning to push ourselves more to implement rentals and attractions integrations.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(Sangmin)</a:t>
            </a:r>
          </a:p>
          <a:p>
            <a:r>
              <a:rPr lang="en-US"/>
              <a:t>Here are our goals for the next two weeks.</a:t>
            </a:r>
          </a:p>
          <a:p>
            <a:endParaRPr lang="en-US"/>
          </a:p>
          <a:p>
            <a:r>
              <a:rPr lang="en-US"/>
              <a:t>Our next goal is to complete a user authentication system working with a database, and save the user's travel plan to the database for the user's next plan.</a:t>
            </a:r>
          </a:p>
          <a:p>
            <a:endParaRPr lang="en-US"/>
          </a:p>
          <a:p>
            <a:r>
              <a:rPr lang="en-US"/>
              <a:t>Second, we will keep working on the Rental car and the finding attractions APIs part. After that, we still start optimizing API requests and DB connections for the best user experiences.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Here are our references for the project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(Umair!) </a:t>
            </a:r>
          </a:p>
          <a:p>
            <a:endParaRPr lang="en-US"/>
          </a:p>
          <a:p>
            <a:r>
              <a:rPr lang="en-US"/>
              <a:t>Thank you for your attention.</a:t>
            </a:r>
          </a:p>
          <a:p>
            <a:endParaRPr lang="en-US"/>
          </a:p>
          <a:p>
            <a:r>
              <a:rPr lang="en-US"/>
              <a:t>We’re excited to present TWOS, a smarter way to travel.</a:t>
            </a:r>
          </a:p>
          <a:p>
            <a:endParaRPr lang="en-US"/>
          </a:p>
          <a:p>
            <a:r>
              <a:rPr lang="en-US"/>
              <a:t>We’ll now open the floor for any questions.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6B285-CC19-71C4-E8B7-327F1E2E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B4067F-12FA-6C0A-FA26-51FD1E6D5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A48821-1DDE-AEA6-FBCB-23D842CD889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0C6D59F-06AB-45D6-67C9-D4EAEC9A8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7238748-AB77-BA28-822F-AACE581EA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(Umair!) </a:t>
            </a:r>
          </a:p>
          <a:p>
            <a:endParaRPr lang="en-US"/>
          </a:p>
          <a:p>
            <a:r>
              <a:rPr lang="en-US"/>
              <a:t>Thank you for your attention.</a:t>
            </a:r>
          </a:p>
          <a:p>
            <a:endParaRPr lang="en-US"/>
          </a:p>
          <a:p>
            <a:r>
              <a:rPr lang="en-US"/>
              <a:t>We’re excited to present TWOS, a smarter way to travel.</a:t>
            </a:r>
          </a:p>
          <a:p>
            <a:endParaRPr lang="en-US"/>
          </a:p>
          <a:p>
            <a:r>
              <a:rPr lang="en-US"/>
              <a:t>We’ll now open the floor for any questions.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E2040-8B6A-C022-1773-7CA6442754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D677F-43DB-FD2C-EB6E-164F30167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60603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8.jpe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94301" y="0"/>
            <a:ext cx="2102201" cy="10287000"/>
            <a:chOff x="0" y="0"/>
            <a:chExt cx="217946" cy="10665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946" cy="1066506"/>
            </a:xfrm>
            <a:custGeom>
              <a:avLst/>
              <a:gdLst/>
              <a:ahLst/>
              <a:cxnLst/>
              <a:rect l="l" t="t" r="r" b="b"/>
              <a:pathLst>
                <a:path w="217946" h="1066506">
                  <a:moveTo>
                    <a:pt x="0" y="0"/>
                  </a:moveTo>
                  <a:lnTo>
                    <a:pt x="217946" y="0"/>
                  </a:lnTo>
                  <a:lnTo>
                    <a:pt x="217946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3"/>
              <a:stretch>
                <a:fillRect l="-317237" r="-31723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96501" y="0"/>
            <a:ext cx="2102201" cy="10287000"/>
            <a:chOff x="0" y="0"/>
            <a:chExt cx="217946" cy="10665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946" cy="1066506"/>
            </a:xfrm>
            <a:custGeom>
              <a:avLst/>
              <a:gdLst/>
              <a:ahLst/>
              <a:cxnLst/>
              <a:rect l="l" t="t" r="r" b="b"/>
              <a:pathLst>
                <a:path w="217946" h="1066506">
                  <a:moveTo>
                    <a:pt x="0" y="0"/>
                  </a:moveTo>
                  <a:lnTo>
                    <a:pt x="217946" y="0"/>
                  </a:lnTo>
                  <a:lnTo>
                    <a:pt x="217946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4"/>
              <a:stretch>
                <a:fillRect l="-316674" r="-31667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098702" y="0"/>
            <a:ext cx="2102201" cy="10287000"/>
            <a:chOff x="0" y="0"/>
            <a:chExt cx="217946" cy="10665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946" cy="1066506"/>
            </a:xfrm>
            <a:custGeom>
              <a:avLst/>
              <a:gdLst/>
              <a:ahLst/>
              <a:cxnLst/>
              <a:rect l="l" t="t" r="r" b="b"/>
              <a:pathLst>
                <a:path w="217946" h="1066506">
                  <a:moveTo>
                    <a:pt x="0" y="0"/>
                  </a:moveTo>
                  <a:lnTo>
                    <a:pt x="217946" y="0"/>
                  </a:lnTo>
                  <a:lnTo>
                    <a:pt x="217946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5"/>
              <a:stretch>
                <a:fillRect l="-317237" r="-31723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08200" y="0"/>
            <a:ext cx="2102201" cy="10287000"/>
            <a:chOff x="0" y="0"/>
            <a:chExt cx="217946" cy="10665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946" cy="1066506"/>
            </a:xfrm>
            <a:custGeom>
              <a:avLst/>
              <a:gdLst/>
              <a:ahLst/>
              <a:cxnLst/>
              <a:rect l="l" t="t" r="r" b="b"/>
              <a:pathLst>
                <a:path w="217946" h="1066506">
                  <a:moveTo>
                    <a:pt x="0" y="0"/>
                  </a:moveTo>
                  <a:lnTo>
                    <a:pt x="217946" y="0"/>
                  </a:lnTo>
                  <a:lnTo>
                    <a:pt x="217946" y="1066506"/>
                  </a:lnTo>
                  <a:lnTo>
                    <a:pt x="0" y="1066506"/>
                  </a:lnTo>
                  <a:close/>
                </a:path>
              </a:pathLst>
            </a:custGeom>
            <a:blipFill>
              <a:blip r:embed="rId6"/>
              <a:stretch>
                <a:fillRect l="-317237" r="-31723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14025" y="1576669"/>
            <a:ext cx="1475251" cy="1588732"/>
          </a:xfrm>
          <a:custGeom>
            <a:avLst/>
            <a:gdLst/>
            <a:ahLst/>
            <a:cxnLst/>
            <a:rect l="l" t="t" r="r" b="b"/>
            <a:pathLst>
              <a:path w="1475251" h="1588732">
                <a:moveTo>
                  <a:pt x="0" y="0"/>
                </a:moveTo>
                <a:lnTo>
                  <a:pt x="1475251" y="0"/>
                </a:lnTo>
                <a:lnTo>
                  <a:pt x="1475251" y="1588732"/>
                </a:lnTo>
                <a:lnTo>
                  <a:pt x="0" y="15887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4548" t="-64936" r="-105941" b="-1233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6309107"/>
            <a:ext cx="6760576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72"/>
              </a:lnSpc>
            </a:pPr>
            <a:r>
              <a:rPr lang="en-US" sz="3477">
                <a:solidFill>
                  <a:srgbClr val="314528"/>
                </a:solidFill>
                <a:latin typeface="Agrandir"/>
                <a:ea typeface="Agrandir"/>
                <a:cs typeface="Agrandir"/>
                <a:sym typeface="Agrandir"/>
              </a:rPr>
              <a:t>Capstone Project: Midterm</a:t>
            </a:r>
          </a:p>
          <a:p>
            <a:pPr marL="0" lvl="0" indent="0" algn="l">
              <a:lnSpc>
                <a:spcPts val="4172"/>
              </a:lnSpc>
            </a:pPr>
            <a:endParaRPr lang="en-US" sz="3477">
              <a:solidFill>
                <a:srgbClr val="314528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0" lvl="0" indent="0" algn="l">
              <a:lnSpc>
                <a:spcPts val="4172"/>
              </a:lnSpc>
            </a:pPr>
            <a:r>
              <a:rPr lang="en-US" sz="3477">
                <a:solidFill>
                  <a:srgbClr val="314528"/>
                </a:solidFill>
                <a:latin typeface="Agrandir"/>
                <a:ea typeface="Agrandir"/>
                <a:cs typeface="Agrandir"/>
                <a:sym typeface="Agrandir"/>
              </a:rPr>
              <a:t>Umair, Sangmin, Ayo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1576669"/>
            <a:ext cx="8421199" cy="3477242"/>
            <a:chOff x="0" y="0"/>
            <a:chExt cx="11228265" cy="463632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3597250"/>
              <a:ext cx="11228265" cy="1039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00"/>
                </a:lnSpc>
              </a:pPr>
              <a:r>
                <a:rPr lang="en-US" sz="4900" spc="-49">
                  <a:solidFill>
                    <a:srgbClr val="314528"/>
                  </a:solidFill>
                  <a:latin typeface="Agrandir"/>
                  <a:ea typeface="Agrandir"/>
                  <a:cs typeface="Agrandir"/>
                  <a:sym typeface="Agrandir"/>
                </a:rPr>
                <a:t>Midterm (Week 3-9)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14300"/>
              <a:ext cx="11228265" cy="27228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2899"/>
                </a:lnSpc>
              </a:pPr>
              <a:r>
                <a:rPr lang="en-US" sz="12899" spc="-128">
                  <a:solidFill>
                    <a:srgbClr val="34EBFD"/>
                  </a:solidFill>
                  <a:latin typeface="Agrandir"/>
                  <a:ea typeface="Agrandir"/>
                  <a:cs typeface="Agrandir"/>
                  <a:sym typeface="Agrandir"/>
                </a:rPr>
                <a:t>TWOS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560930"/>
              <a:ext cx="11228265" cy="110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2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923304" y="9485334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Sangmin, Ayo, Umair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2934" y="2474125"/>
            <a:ext cx="5023379" cy="7336465"/>
            <a:chOff x="0" y="0"/>
            <a:chExt cx="1323030" cy="19322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3030" cy="1932238"/>
            </a:xfrm>
            <a:custGeom>
              <a:avLst/>
              <a:gdLst/>
              <a:ahLst/>
              <a:cxnLst/>
              <a:rect l="l" t="t" r="r" b="b"/>
              <a:pathLst>
                <a:path w="1323030" h="1932238">
                  <a:moveTo>
                    <a:pt x="24659" y="0"/>
                  </a:moveTo>
                  <a:lnTo>
                    <a:pt x="1298371" y="0"/>
                  </a:lnTo>
                  <a:cubicBezTo>
                    <a:pt x="1304911" y="0"/>
                    <a:pt x="1311183" y="2598"/>
                    <a:pt x="1315807" y="7222"/>
                  </a:cubicBezTo>
                  <a:cubicBezTo>
                    <a:pt x="1320432" y="11847"/>
                    <a:pt x="1323030" y="18119"/>
                    <a:pt x="1323030" y="24659"/>
                  </a:cubicBezTo>
                  <a:lnTo>
                    <a:pt x="1323030" y="1907579"/>
                  </a:lnTo>
                  <a:cubicBezTo>
                    <a:pt x="1323030" y="1914119"/>
                    <a:pt x="1320432" y="1920391"/>
                    <a:pt x="1315807" y="1925015"/>
                  </a:cubicBezTo>
                  <a:cubicBezTo>
                    <a:pt x="1311183" y="1929640"/>
                    <a:pt x="1304911" y="1932238"/>
                    <a:pt x="1298371" y="1932238"/>
                  </a:cubicBezTo>
                  <a:lnTo>
                    <a:pt x="24659" y="1932238"/>
                  </a:lnTo>
                  <a:cubicBezTo>
                    <a:pt x="18119" y="1932238"/>
                    <a:pt x="11847" y="1929640"/>
                    <a:pt x="7222" y="1925015"/>
                  </a:cubicBezTo>
                  <a:cubicBezTo>
                    <a:pt x="2598" y="1920391"/>
                    <a:pt x="0" y="1914119"/>
                    <a:pt x="0" y="1907579"/>
                  </a:cubicBezTo>
                  <a:lnTo>
                    <a:pt x="0" y="24659"/>
                  </a:lnTo>
                  <a:cubicBezTo>
                    <a:pt x="0" y="18119"/>
                    <a:pt x="2598" y="11847"/>
                    <a:pt x="7222" y="7222"/>
                  </a:cubicBezTo>
                  <a:cubicBezTo>
                    <a:pt x="11847" y="2598"/>
                    <a:pt x="18119" y="0"/>
                    <a:pt x="24659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323030" cy="1960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14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0817" y="1162050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b="1" spc="-72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Roles for Team Members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632533" y="2474125"/>
            <a:ext cx="5023379" cy="7336465"/>
            <a:chOff x="0" y="0"/>
            <a:chExt cx="1323030" cy="19322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23030" cy="1932238"/>
            </a:xfrm>
            <a:custGeom>
              <a:avLst/>
              <a:gdLst/>
              <a:ahLst/>
              <a:cxnLst/>
              <a:rect l="l" t="t" r="r" b="b"/>
              <a:pathLst>
                <a:path w="1323030" h="1932238">
                  <a:moveTo>
                    <a:pt x="24659" y="0"/>
                  </a:moveTo>
                  <a:lnTo>
                    <a:pt x="1298371" y="0"/>
                  </a:lnTo>
                  <a:cubicBezTo>
                    <a:pt x="1304911" y="0"/>
                    <a:pt x="1311183" y="2598"/>
                    <a:pt x="1315807" y="7222"/>
                  </a:cubicBezTo>
                  <a:cubicBezTo>
                    <a:pt x="1320432" y="11847"/>
                    <a:pt x="1323030" y="18119"/>
                    <a:pt x="1323030" y="24659"/>
                  </a:cubicBezTo>
                  <a:lnTo>
                    <a:pt x="1323030" y="1907579"/>
                  </a:lnTo>
                  <a:cubicBezTo>
                    <a:pt x="1323030" y="1914119"/>
                    <a:pt x="1320432" y="1920391"/>
                    <a:pt x="1315807" y="1925015"/>
                  </a:cubicBezTo>
                  <a:cubicBezTo>
                    <a:pt x="1311183" y="1929640"/>
                    <a:pt x="1304911" y="1932238"/>
                    <a:pt x="1298371" y="1932238"/>
                  </a:cubicBezTo>
                  <a:lnTo>
                    <a:pt x="24659" y="1932238"/>
                  </a:lnTo>
                  <a:cubicBezTo>
                    <a:pt x="18119" y="1932238"/>
                    <a:pt x="11847" y="1929640"/>
                    <a:pt x="7222" y="1925015"/>
                  </a:cubicBezTo>
                  <a:cubicBezTo>
                    <a:pt x="2598" y="1920391"/>
                    <a:pt x="0" y="1914119"/>
                    <a:pt x="0" y="1907579"/>
                  </a:cubicBezTo>
                  <a:lnTo>
                    <a:pt x="0" y="24659"/>
                  </a:lnTo>
                  <a:cubicBezTo>
                    <a:pt x="0" y="18119"/>
                    <a:pt x="2598" y="11847"/>
                    <a:pt x="7222" y="7222"/>
                  </a:cubicBezTo>
                  <a:cubicBezTo>
                    <a:pt x="11847" y="2598"/>
                    <a:pt x="18119" y="0"/>
                    <a:pt x="24659" y="0"/>
                  </a:cubicBezTo>
                  <a:close/>
                </a:path>
              </a:pathLst>
            </a:custGeom>
            <a:solidFill>
              <a:srgbClr val="10141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323030" cy="1960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14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41687" y="2474125"/>
            <a:ext cx="5023379" cy="7336465"/>
            <a:chOff x="0" y="0"/>
            <a:chExt cx="1323030" cy="19322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23030" cy="1932238"/>
            </a:xfrm>
            <a:custGeom>
              <a:avLst/>
              <a:gdLst/>
              <a:ahLst/>
              <a:cxnLst/>
              <a:rect l="l" t="t" r="r" b="b"/>
              <a:pathLst>
                <a:path w="1323030" h="1932238">
                  <a:moveTo>
                    <a:pt x="24659" y="0"/>
                  </a:moveTo>
                  <a:lnTo>
                    <a:pt x="1298371" y="0"/>
                  </a:lnTo>
                  <a:cubicBezTo>
                    <a:pt x="1304911" y="0"/>
                    <a:pt x="1311183" y="2598"/>
                    <a:pt x="1315807" y="7222"/>
                  </a:cubicBezTo>
                  <a:cubicBezTo>
                    <a:pt x="1320432" y="11847"/>
                    <a:pt x="1323030" y="18119"/>
                    <a:pt x="1323030" y="24659"/>
                  </a:cubicBezTo>
                  <a:lnTo>
                    <a:pt x="1323030" y="1907579"/>
                  </a:lnTo>
                  <a:cubicBezTo>
                    <a:pt x="1323030" y="1914119"/>
                    <a:pt x="1320432" y="1920391"/>
                    <a:pt x="1315807" y="1925015"/>
                  </a:cubicBezTo>
                  <a:cubicBezTo>
                    <a:pt x="1311183" y="1929640"/>
                    <a:pt x="1304911" y="1932238"/>
                    <a:pt x="1298371" y="1932238"/>
                  </a:cubicBezTo>
                  <a:lnTo>
                    <a:pt x="24659" y="1932238"/>
                  </a:lnTo>
                  <a:cubicBezTo>
                    <a:pt x="18119" y="1932238"/>
                    <a:pt x="11847" y="1929640"/>
                    <a:pt x="7222" y="1925015"/>
                  </a:cubicBezTo>
                  <a:cubicBezTo>
                    <a:pt x="2598" y="1920391"/>
                    <a:pt x="0" y="1914119"/>
                    <a:pt x="0" y="1907579"/>
                  </a:cubicBezTo>
                  <a:lnTo>
                    <a:pt x="0" y="24659"/>
                  </a:lnTo>
                  <a:cubicBezTo>
                    <a:pt x="0" y="18119"/>
                    <a:pt x="2598" y="11847"/>
                    <a:pt x="7222" y="7222"/>
                  </a:cubicBezTo>
                  <a:cubicBezTo>
                    <a:pt x="11847" y="2598"/>
                    <a:pt x="18119" y="0"/>
                    <a:pt x="24659" y="0"/>
                  </a:cubicBezTo>
                  <a:close/>
                </a:path>
              </a:pathLst>
            </a:custGeom>
            <a:solidFill>
              <a:srgbClr val="FFFFFF">
                <a:alpha val="34902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323030" cy="1960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14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7473949" y="2592695"/>
            <a:ext cx="3362218" cy="3362204"/>
            <a:chOff x="0" y="0"/>
            <a:chExt cx="6350025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955865" y="2592695"/>
            <a:ext cx="3362218" cy="3362204"/>
            <a:chOff x="0" y="0"/>
            <a:chExt cx="6350025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3"/>
              <a:stretch>
                <a:fillRect l="-1149" r="-11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2970362" y="2592695"/>
            <a:ext cx="3362218" cy="3362204"/>
            <a:chOff x="0" y="0"/>
            <a:chExt cx="6350025" cy="6350000"/>
          </a:xfrm>
        </p:grpSpPr>
        <p:sp>
          <p:nvSpPr>
            <p:cNvPr id="17" name="Freeform 17"/>
            <p:cNvSpPr/>
            <p:nvPr/>
          </p:nvSpPr>
          <p:spPr>
            <a:xfrm rot="48000">
              <a:off x="-44020" y="-44021"/>
              <a:ext cx="6438066" cy="6438041"/>
            </a:xfrm>
            <a:custGeom>
              <a:avLst/>
              <a:gdLst/>
              <a:ahLst/>
              <a:cxnLst/>
              <a:rect l="l" t="t" r="r" b="b"/>
              <a:pathLst>
                <a:path w="6438066" h="6438041">
                  <a:moveTo>
                    <a:pt x="0" y="88661"/>
                  </a:moveTo>
                  <a:lnTo>
                    <a:pt x="6349406" y="0"/>
                  </a:lnTo>
                  <a:lnTo>
                    <a:pt x="6438066" y="6349381"/>
                  </a:lnTo>
                  <a:lnTo>
                    <a:pt x="88659" y="6438042"/>
                  </a:lnTo>
                  <a:close/>
                </a:path>
              </a:pathLst>
            </a:custGeom>
            <a:blipFill>
              <a:blip r:embed="rId4"/>
              <a:stretch>
                <a:fillRect r="-3971" b="-5563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740544" y="6113783"/>
            <a:ext cx="4806911" cy="355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>
                <a:solidFill>
                  <a:srgbClr val="ADE4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Umair Dada</a:t>
            </a:r>
          </a:p>
          <a:p>
            <a:pPr algn="ctr">
              <a:lnSpc>
                <a:spcPts val="1950"/>
              </a:lnSpc>
              <a:spcBef>
                <a:spcPct val="0"/>
              </a:spcBef>
            </a:pPr>
            <a:endParaRPr lang="en-US" sz="2799" b="1">
              <a:solidFill>
                <a:srgbClr val="ADE466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949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React Native Specialist, Node.js, Express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  <a:endParaRPr lang="en-US" sz="1949" i="1">
              <a:solidFill>
                <a:srgbClr val="FFFFFF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  <a:p>
            <a:pPr algn="l">
              <a:lnSpc>
                <a:spcPts val="2664"/>
              </a:lnSpc>
              <a:spcBef>
                <a:spcPct val="0"/>
              </a:spcBef>
            </a:pPr>
            <a:r>
              <a:rPr lang="en-US" sz="2049" b="1">
                <a:solidFill>
                  <a:srgbClr val="ADE4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Responsibilities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  <a:endParaRPr lang="en-US" sz="2049" b="1">
              <a:solidFill>
                <a:srgbClr val="ADE466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Lead team &amp; milestones</a:t>
            </a: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Build React Native app</a:t>
            </a: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Manage Node.js gateway</a:t>
            </a: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Handle testing &amp; demo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3144" y="6113783"/>
            <a:ext cx="4818839" cy="355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>
                <a:solidFill>
                  <a:srgbClr val="3145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Sangmin Lee</a:t>
            </a:r>
          </a:p>
          <a:p>
            <a:pPr algn="ctr">
              <a:lnSpc>
                <a:spcPts val="1950"/>
              </a:lnSpc>
              <a:spcBef>
                <a:spcPct val="0"/>
              </a:spcBef>
            </a:pPr>
            <a:endParaRPr lang="en-US" sz="2799" b="1">
              <a:solidFill>
                <a:srgbClr val="3145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949" i="1">
                <a:solidFill>
                  <a:srgbClr val="002217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Python, JS, Docker, Kubernetes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  <a:endParaRPr lang="en-US" sz="1949" i="1">
              <a:solidFill>
                <a:srgbClr val="002217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  <a:p>
            <a:pPr algn="l">
              <a:lnSpc>
                <a:spcPts val="2664"/>
              </a:lnSpc>
              <a:spcBef>
                <a:spcPct val="0"/>
              </a:spcBef>
            </a:pPr>
            <a:r>
              <a:rPr lang="en-US" sz="2049" b="1">
                <a:solidFill>
                  <a:srgbClr val="3145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Responsibilities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  <a:endParaRPr lang="en-US" sz="2049" b="1">
              <a:solidFill>
                <a:srgbClr val="3145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Build NLU clarifier logic</a:t>
            </a: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Track and maintain slot-filling states</a:t>
            </a: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Optimize options based on rank/score</a:t>
            </a: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 an explanation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49921" y="6113783"/>
            <a:ext cx="4806911" cy="355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799" b="1">
                <a:solidFill>
                  <a:srgbClr val="3145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Ayoyimika Ajibade</a:t>
            </a:r>
          </a:p>
          <a:p>
            <a:pPr algn="ctr">
              <a:lnSpc>
                <a:spcPts val="1950"/>
              </a:lnSpc>
              <a:spcBef>
                <a:spcPct val="0"/>
              </a:spcBef>
            </a:pPr>
            <a:endParaRPr lang="en-US" sz="2799" b="1">
              <a:solidFill>
                <a:srgbClr val="3145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949" i="1">
                <a:solidFill>
                  <a:srgbClr val="002217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FastAPI, Database &amp; API Design, Cloud Integration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  <a:endParaRPr lang="en-US" sz="1949" i="1">
              <a:solidFill>
                <a:srgbClr val="002217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  <a:p>
            <a:pPr algn="l">
              <a:lnSpc>
                <a:spcPts val="2664"/>
              </a:lnSpc>
              <a:spcBef>
                <a:spcPct val="0"/>
              </a:spcBef>
            </a:pPr>
            <a:r>
              <a:rPr lang="en-US" sz="2049" b="1">
                <a:solidFill>
                  <a:srgbClr val="3145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Responsibilities</a:t>
            </a:r>
          </a:p>
          <a:p>
            <a:pPr algn="l">
              <a:lnSpc>
                <a:spcPts val="2534"/>
              </a:lnSpc>
              <a:spcBef>
                <a:spcPct val="0"/>
              </a:spcBef>
            </a:pPr>
            <a:endParaRPr lang="en-US" sz="2049" b="1">
              <a:solidFill>
                <a:srgbClr val="31452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Design API schema</a:t>
            </a: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 databases for local &amp; prod</a:t>
            </a:r>
          </a:p>
          <a:p>
            <a:pPr marL="420984" lvl="1" indent="-210492" algn="l">
              <a:lnSpc>
                <a:spcPts val="2534"/>
              </a:lnSpc>
              <a:buFont typeface="Arial"/>
              <a:buChar char="•"/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Integrate and scale Al solutions for the mobile app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72004" y="9782015"/>
            <a:ext cx="4715996" cy="31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4"/>
              </a:lnSpc>
              <a:spcBef>
                <a:spcPct val="0"/>
              </a:spcBef>
            </a:pPr>
            <a:r>
              <a:rPr lang="en-US" sz="19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Umair, Sangmin, Ayo</a:t>
            </a:r>
          </a:p>
        </p:txBody>
      </p:sp>
      <p:sp>
        <p:nvSpPr>
          <p:cNvPr id="22" name="Freeform 22"/>
          <p:cNvSpPr/>
          <p:nvPr/>
        </p:nvSpPr>
        <p:spPr>
          <a:xfrm>
            <a:off x="7706581" y="6182350"/>
            <a:ext cx="313410" cy="337519"/>
          </a:xfrm>
          <a:custGeom>
            <a:avLst/>
            <a:gdLst/>
            <a:ahLst/>
            <a:cxnLst/>
            <a:rect l="l" t="t" r="r" b="b"/>
            <a:pathLst>
              <a:path w="313410" h="337519">
                <a:moveTo>
                  <a:pt x="0" y="0"/>
                </a:moveTo>
                <a:lnTo>
                  <a:pt x="313410" y="0"/>
                </a:lnTo>
                <a:lnTo>
                  <a:pt x="313410" y="337519"/>
                </a:lnTo>
                <a:lnTo>
                  <a:pt x="0" y="337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4548" t="-64936" r="-105941" b="-1233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090022" y="6182350"/>
            <a:ext cx="313410" cy="337519"/>
          </a:xfrm>
          <a:custGeom>
            <a:avLst/>
            <a:gdLst/>
            <a:ahLst/>
            <a:cxnLst/>
            <a:rect l="l" t="t" r="r" b="b"/>
            <a:pathLst>
              <a:path w="313410" h="337519">
                <a:moveTo>
                  <a:pt x="0" y="0"/>
                </a:moveTo>
                <a:lnTo>
                  <a:pt x="313411" y="0"/>
                </a:lnTo>
                <a:lnTo>
                  <a:pt x="313411" y="337519"/>
                </a:lnTo>
                <a:lnTo>
                  <a:pt x="0" y="337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4548" t="-64936" r="-105941" b="-1233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2813657" y="6182350"/>
            <a:ext cx="313410" cy="337519"/>
          </a:xfrm>
          <a:custGeom>
            <a:avLst/>
            <a:gdLst/>
            <a:ahLst/>
            <a:cxnLst/>
            <a:rect l="l" t="t" r="r" b="b"/>
            <a:pathLst>
              <a:path w="313410" h="337519">
                <a:moveTo>
                  <a:pt x="0" y="0"/>
                </a:moveTo>
                <a:lnTo>
                  <a:pt x="313410" y="0"/>
                </a:lnTo>
                <a:lnTo>
                  <a:pt x="313410" y="337519"/>
                </a:lnTo>
                <a:lnTo>
                  <a:pt x="0" y="337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4548" t="-64936" r="-105941" b="-12337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5128" y="3094397"/>
            <a:ext cx="7707100" cy="48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4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 is planning travel so stressful?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638907" y="3148943"/>
            <a:ext cx="247756" cy="404624"/>
            <a:chOff x="0" y="0"/>
            <a:chExt cx="330342" cy="539498"/>
          </a:xfrm>
        </p:grpSpPr>
        <p:sp>
          <p:nvSpPr>
            <p:cNvPr id="4" name="AutoShape 4"/>
            <p:cNvSpPr/>
            <p:nvPr/>
          </p:nvSpPr>
          <p:spPr>
            <a:xfrm>
              <a:off x="33712" y="19044"/>
              <a:ext cx="279310" cy="246519"/>
            </a:xfrm>
            <a:prstGeom prst="line">
              <a:avLst/>
            </a:prstGeom>
            <a:ln w="76200" cap="flat">
              <a:gradFill>
                <a:gsLst>
                  <a:gs pos="0">
                    <a:srgbClr val="62BFD4">
                      <a:alpha val="100000"/>
                    </a:srgbClr>
                  </a:gs>
                  <a:gs pos="100000">
                    <a:srgbClr val="F1DD76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7320" y="245243"/>
              <a:ext cx="295701" cy="275677"/>
            </a:xfrm>
            <a:prstGeom prst="line">
              <a:avLst/>
            </a:prstGeom>
            <a:ln w="76200" cap="flat">
              <a:gradFill>
                <a:gsLst>
                  <a:gs pos="0">
                    <a:srgbClr val="62BFD4">
                      <a:alpha val="100000"/>
                    </a:srgbClr>
                  </a:gs>
                  <a:gs pos="100000">
                    <a:srgbClr val="F1DD76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1028700" y="5901347"/>
            <a:ext cx="1428197" cy="0"/>
          </a:xfrm>
          <a:prstGeom prst="line">
            <a:avLst/>
          </a:prstGeom>
          <a:ln w="200025" cap="flat">
            <a:gradFill>
              <a:gsLst>
                <a:gs pos="0">
                  <a:srgbClr val="62BFD4">
                    <a:alpha val="100000"/>
                  </a:srgbClr>
                </a:gs>
                <a:gs pos="100000">
                  <a:srgbClr val="F1DD76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975199" y="5143500"/>
            <a:ext cx="2807155" cy="1990731"/>
          </a:xfrm>
          <a:custGeom>
            <a:avLst/>
            <a:gdLst/>
            <a:ahLst/>
            <a:cxnLst/>
            <a:rect l="l" t="t" r="r" b="b"/>
            <a:pathLst>
              <a:path w="2807155" h="1990731">
                <a:moveTo>
                  <a:pt x="0" y="0"/>
                </a:moveTo>
                <a:lnTo>
                  <a:pt x="2807155" y="0"/>
                </a:lnTo>
                <a:lnTo>
                  <a:pt x="2807155" y="1990731"/>
                </a:lnTo>
                <a:lnTo>
                  <a:pt x="0" y="19907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976" t="-68057" r="-34970" b="-715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848847" y="7155351"/>
            <a:ext cx="1037816" cy="1937694"/>
          </a:xfrm>
          <a:custGeom>
            <a:avLst/>
            <a:gdLst/>
            <a:ahLst/>
            <a:cxnLst/>
            <a:rect l="l" t="t" r="r" b="b"/>
            <a:pathLst>
              <a:path w="1037816" h="1937694">
                <a:moveTo>
                  <a:pt x="0" y="0"/>
                </a:moveTo>
                <a:lnTo>
                  <a:pt x="1037816" y="0"/>
                </a:lnTo>
                <a:lnTo>
                  <a:pt x="1037816" y="1937694"/>
                </a:lnTo>
                <a:lnTo>
                  <a:pt x="0" y="1937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5067883" y="2861291"/>
            <a:ext cx="1350158" cy="2023397"/>
          </a:xfrm>
          <a:custGeom>
            <a:avLst/>
            <a:gdLst/>
            <a:ahLst/>
            <a:cxnLst/>
            <a:rect l="l" t="t" r="r" b="b"/>
            <a:pathLst>
              <a:path w="1350158" h="2023397">
                <a:moveTo>
                  <a:pt x="0" y="0"/>
                </a:moveTo>
                <a:lnTo>
                  <a:pt x="1350158" y="0"/>
                </a:lnTo>
                <a:lnTo>
                  <a:pt x="1350158" y="2023397"/>
                </a:lnTo>
                <a:lnTo>
                  <a:pt x="0" y="20233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837617" y="7677876"/>
            <a:ext cx="3160848" cy="3160848"/>
          </a:xfrm>
          <a:custGeom>
            <a:avLst/>
            <a:gdLst/>
            <a:ahLst/>
            <a:cxnLst/>
            <a:rect l="l" t="t" r="r" b="b"/>
            <a:pathLst>
              <a:path w="3160848" h="3160848">
                <a:moveTo>
                  <a:pt x="0" y="0"/>
                </a:moveTo>
                <a:lnTo>
                  <a:pt x="3160848" y="0"/>
                </a:lnTo>
                <a:lnTo>
                  <a:pt x="3160848" y="3160848"/>
                </a:lnTo>
                <a:lnTo>
                  <a:pt x="0" y="31608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38594" y="1851200"/>
            <a:ext cx="3036605" cy="617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8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Problem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41171" y="1851200"/>
            <a:ext cx="7196499" cy="617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8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Solution: What is TWOS?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594" y="3630268"/>
            <a:ext cx="5019799" cy="980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4"/>
              </a:lnSpc>
            </a:pP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Simply, it requires juggling</a:t>
            </a:r>
          </a:p>
          <a:p>
            <a:pPr algn="just">
              <a:lnSpc>
                <a:spcPts val="3964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multiple platforms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877373"/>
            <a:ext cx="5019799" cy="48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4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And...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594" y="7867339"/>
            <a:ext cx="5019799" cy="48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4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is where TWOS stars.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3503" y="3065806"/>
            <a:ext cx="4677040" cy="1475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64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if I have a platform that make a travel plan for me?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41171" y="5484763"/>
            <a:ext cx="6763398" cy="1971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4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TWOS (</a:t>
            </a:r>
            <a:r>
              <a:rPr lang="en-US" sz="3049">
                <a:solidFill>
                  <a:srgbClr val="E17E23"/>
                </a:solidFill>
                <a:latin typeface="Canva Sans"/>
                <a:ea typeface="Canva Sans"/>
                <a:cs typeface="Canva Sans"/>
                <a:sym typeface="Canva Sans"/>
              </a:rPr>
              <a:t>TravelWithOutStress</a:t>
            </a:r>
            <a:r>
              <a:rPr lang="en-US" sz="30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 shows how AI can skip this process by generating optimized travel packages based on people needs</a:t>
            </a:r>
          </a:p>
        </p:txBody>
      </p:sp>
      <p:sp>
        <p:nvSpPr>
          <p:cNvPr id="18" name="AutoShape 18"/>
          <p:cNvSpPr/>
          <p:nvPr/>
        </p:nvSpPr>
        <p:spPr>
          <a:xfrm>
            <a:off x="9017445" y="1479501"/>
            <a:ext cx="0" cy="7063992"/>
          </a:xfrm>
          <a:prstGeom prst="line">
            <a:avLst/>
          </a:prstGeom>
          <a:ln w="95250" cap="flat">
            <a:gradFill>
              <a:gsLst>
                <a:gs pos="0">
                  <a:srgbClr val="62BFD4">
                    <a:alpha val="100000"/>
                  </a:srgbClr>
                </a:gs>
                <a:gs pos="100000">
                  <a:srgbClr val="F1DD76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C277EA96-290A-80E9-EB97-83202EC50464}"/>
              </a:ext>
            </a:extLst>
          </p:cNvPr>
          <p:cNvSpPr txBox="1"/>
          <p:nvPr/>
        </p:nvSpPr>
        <p:spPr>
          <a:xfrm>
            <a:off x="1157479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0738194" y="752555"/>
            <a:ext cx="4321932" cy="878189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5173296" y="752555"/>
            <a:ext cx="1387196" cy="2832191"/>
          </a:xfrm>
          <a:custGeom>
            <a:avLst/>
            <a:gdLst/>
            <a:ahLst/>
            <a:cxnLst/>
            <a:rect l="l" t="t" r="r" b="b"/>
            <a:pathLst>
              <a:path w="1387196" h="2832191">
                <a:moveTo>
                  <a:pt x="0" y="0"/>
                </a:moveTo>
                <a:lnTo>
                  <a:pt x="1387195" y="0"/>
                </a:lnTo>
                <a:lnTo>
                  <a:pt x="1387195" y="2832191"/>
                </a:lnTo>
                <a:lnTo>
                  <a:pt x="0" y="2832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173296" y="3758382"/>
            <a:ext cx="1387196" cy="2817741"/>
          </a:xfrm>
          <a:custGeom>
            <a:avLst/>
            <a:gdLst/>
            <a:ahLst/>
            <a:cxnLst/>
            <a:rect l="l" t="t" r="r" b="b"/>
            <a:pathLst>
              <a:path w="1387196" h="2817741">
                <a:moveTo>
                  <a:pt x="0" y="0"/>
                </a:moveTo>
                <a:lnTo>
                  <a:pt x="1387195" y="0"/>
                </a:lnTo>
                <a:lnTo>
                  <a:pt x="1387195" y="2817741"/>
                </a:lnTo>
                <a:lnTo>
                  <a:pt x="0" y="2817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183663" y="6737761"/>
            <a:ext cx="1376829" cy="2796684"/>
          </a:xfrm>
          <a:custGeom>
            <a:avLst/>
            <a:gdLst/>
            <a:ahLst/>
            <a:cxnLst/>
            <a:rect l="l" t="t" r="r" b="b"/>
            <a:pathLst>
              <a:path w="1376829" h="2796684">
                <a:moveTo>
                  <a:pt x="0" y="0"/>
                </a:moveTo>
                <a:lnTo>
                  <a:pt x="1376828" y="0"/>
                </a:lnTo>
                <a:lnTo>
                  <a:pt x="1376828" y="2796684"/>
                </a:lnTo>
                <a:lnTo>
                  <a:pt x="0" y="27966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36992" y="1162050"/>
            <a:ext cx="7408130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b="1" spc="-72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645229"/>
            <a:ext cx="8398664" cy="251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Built the full user interface for TWOS.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Designed the chat, onboarding, and payment screens.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Focused on clarity, speed, and real-app feel.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Made sure the app works even without backend.</a:t>
            </a:r>
          </a:p>
          <a:p>
            <a:pPr algn="just">
              <a:lnSpc>
                <a:spcPts val="3314"/>
              </a:lnSpc>
            </a:pPr>
            <a:endParaRPr lang="en-US" sz="2549">
              <a:solidFill>
                <a:srgbClr val="002217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36992" y="2745434"/>
            <a:ext cx="8182081" cy="3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en-US" sz="2799" b="1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Role and Work Summary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7479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6992" y="6264868"/>
            <a:ext cx="7841023" cy="227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I handled everything users see. My part was to turn our idea into a working mobile app that looks finished.</a:t>
            </a:r>
          </a:p>
          <a:p>
            <a:pPr algn="just">
              <a:lnSpc>
                <a:spcPts val="3054"/>
              </a:lnSpc>
              <a:spcBef>
                <a:spcPct val="0"/>
              </a:spcBef>
            </a:pPr>
            <a:endParaRPr lang="en-US" sz="2349">
              <a:solidFill>
                <a:srgbClr val="00221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TWOS needed to feel real not like a demo, so I focused on simple layouts, fast interactions, and a chat that behaves like a travel assistant.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32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32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11008512" y="557325"/>
            <a:ext cx="4553915" cy="9253265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136992" y="1162050"/>
            <a:ext cx="7408130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b="1" spc="-72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 #2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645229"/>
            <a:ext cx="8398664" cy="1672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Main chat screen built from scratch.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Auto-scrolling messages and typing animation.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Detects missing info and asks next question.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Shows quick-reply chips for faster input.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6992" y="2745434"/>
            <a:ext cx="8182081" cy="3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en-US" sz="2799" b="1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Chat Interface and 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7479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6992" y="5948288"/>
            <a:ext cx="7841023" cy="3037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4"/>
              </a:lnSpc>
              <a:spcBef>
                <a:spcPct val="0"/>
              </a:spcBef>
            </a:pPr>
            <a:r>
              <a:rPr lang="en-US" sz="2349" dirty="0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The chat is the center of TWOS. When someone says, “I want to fly to Doha,” the app realizes it needs a departure city and asks, “Where will you be flying from?”</a:t>
            </a:r>
          </a:p>
          <a:p>
            <a:pPr algn="just">
              <a:lnSpc>
                <a:spcPts val="3054"/>
              </a:lnSpc>
              <a:spcBef>
                <a:spcPct val="0"/>
              </a:spcBef>
            </a:pPr>
            <a:endParaRPr lang="en-US" sz="2349" dirty="0">
              <a:solidFill>
                <a:srgbClr val="00221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054"/>
              </a:lnSpc>
              <a:spcBef>
                <a:spcPct val="0"/>
              </a:spcBef>
            </a:pPr>
            <a:r>
              <a:rPr lang="en-US" sz="2349" dirty="0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Then it offers ready-made answers like “San Francisco (SFO).” Even greetings like “Hi” or “How are you?” are handled instantly on the frontend.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81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23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57898" y="1238645"/>
            <a:ext cx="3086100" cy="728326"/>
            <a:chOff x="0" y="0"/>
            <a:chExt cx="812800" cy="191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91823"/>
            </a:xfrm>
            <a:custGeom>
              <a:avLst/>
              <a:gdLst/>
              <a:ahLst/>
              <a:cxnLst/>
              <a:rect l="l" t="t" r="r" b="b"/>
              <a:pathLst>
                <a:path w="812800" h="191823">
                  <a:moveTo>
                    <a:pt x="0" y="0"/>
                  </a:moveTo>
                  <a:lnTo>
                    <a:pt x="812800" y="0"/>
                  </a:lnTo>
                  <a:lnTo>
                    <a:pt x="812800" y="191823"/>
                  </a:lnTo>
                  <a:lnTo>
                    <a:pt x="0" y="191823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812800" cy="210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36992" y="1162050"/>
            <a:ext cx="7408130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b="1" spc="-72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 #3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0408" y="3645229"/>
            <a:ext cx="8398664" cy="209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Frontend reads messages before calling backend.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Handles greetings, flight intents, and missing slots.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Uses three JSON files: prompts, replies, greetings.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Works smoothly offline using mock data.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6992" y="2745434"/>
            <a:ext cx="8182081" cy="3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en-US" sz="2799" b="1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Logic and Local Intelligence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7479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6992" y="6279845"/>
            <a:ext cx="7841023" cy="2656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I made the frontend smart enough to hold a conversation without the server. It uses local data to ask questions, reply to greetings, and fill in trip details. </a:t>
            </a:r>
          </a:p>
          <a:p>
            <a:pPr algn="just">
              <a:lnSpc>
                <a:spcPts val="3054"/>
              </a:lnSpc>
              <a:spcBef>
                <a:spcPct val="0"/>
              </a:spcBef>
            </a:pPr>
            <a:endParaRPr lang="en-US" sz="2349">
              <a:solidFill>
                <a:srgbClr val="00221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This made the app ready for demos while the backend was still in progress. It feels intelligent and natural even without real AI.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357898" y="2515612"/>
            <a:ext cx="3086100" cy="728326"/>
            <a:chOff x="0" y="0"/>
            <a:chExt cx="812800" cy="1918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91823"/>
            </a:xfrm>
            <a:custGeom>
              <a:avLst/>
              <a:gdLst/>
              <a:ahLst/>
              <a:cxnLst/>
              <a:rect l="l" t="t" r="r" b="b"/>
              <a:pathLst>
                <a:path w="812800" h="191823">
                  <a:moveTo>
                    <a:pt x="0" y="0"/>
                  </a:moveTo>
                  <a:lnTo>
                    <a:pt x="812800" y="0"/>
                  </a:lnTo>
                  <a:lnTo>
                    <a:pt x="812800" y="191823"/>
                  </a:lnTo>
                  <a:lnTo>
                    <a:pt x="0" y="191823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12800" cy="210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Frontend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357898" y="3796388"/>
            <a:ext cx="3086100" cy="728326"/>
            <a:chOff x="0" y="0"/>
            <a:chExt cx="812800" cy="1918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91823"/>
            </a:xfrm>
            <a:custGeom>
              <a:avLst/>
              <a:gdLst/>
              <a:ahLst/>
              <a:cxnLst/>
              <a:rect l="l" t="t" r="r" b="b"/>
              <a:pathLst>
                <a:path w="812800" h="191823">
                  <a:moveTo>
                    <a:pt x="0" y="0"/>
                  </a:moveTo>
                  <a:lnTo>
                    <a:pt x="812800" y="0"/>
                  </a:lnTo>
                  <a:lnTo>
                    <a:pt x="812800" y="191823"/>
                  </a:lnTo>
                  <a:lnTo>
                    <a:pt x="0" y="191823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812800" cy="210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API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57898" y="5077164"/>
            <a:ext cx="3086100" cy="1297336"/>
            <a:chOff x="0" y="0"/>
            <a:chExt cx="812800" cy="3416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341685"/>
            </a:xfrm>
            <a:custGeom>
              <a:avLst/>
              <a:gdLst/>
              <a:ahLst/>
              <a:cxnLst/>
              <a:rect l="l" t="t" r="r" b="b"/>
              <a:pathLst>
                <a:path w="812800" h="341685">
                  <a:moveTo>
                    <a:pt x="0" y="0"/>
                  </a:moveTo>
                  <a:lnTo>
                    <a:pt x="812800" y="0"/>
                  </a:lnTo>
                  <a:lnTo>
                    <a:pt x="812800" y="341685"/>
                  </a:lnTo>
                  <a:lnTo>
                    <a:pt x="0" y="341685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812800" cy="360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Slots</a:t>
              </a:r>
            </a:p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+</a:t>
              </a:r>
            </a:p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Missing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57898" y="6926949"/>
            <a:ext cx="3086100" cy="728326"/>
            <a:chOff x="0" y="0"/>
            <a:chExt cx="812800" cy="19182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191823"/>
            </a:xfrm>
            <a:custGeom>
              <a:avLst/>
              <a:gdLst/>
              <a:ahLst/>
              <a:cxnLst/>
              <a:rect l="l" t="t" r="r" b="b"/>
              <a:pathLst>
                <a:path w="812800" h="191823">
                  <a:moveTo>
                    <a:pt x="0" y="0"/>
                  </a:moveTo>
                  <a:lnTo>
                    <a:pt x="812800" y="0"/>
                  </a:lnTo>
                  <a:lnTo>
                    <a:pt x="812800" y="191823"/>
                  </a:lnTo>
                  <a:lnTo>
                    <a:pt x="0" y="191823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812800" cy="210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Bot Prompt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357898" y="8207725"/>
            <a:ext cx="3086100" cy="728326"/>
            <a:chOff x="0" y="0"/>
            <a:chExt cx="812800" cy="19182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191823"/>
            </a:xfrm>
            <a:custGeom>
              <a:avLst/>
              <a:gdLst/>
              <a:ahLst/>
              <a:cxnLst/>
              <a:rect l="l" t="t" r="r" b="b"/>
              <a:pathLst>
                <a:path w="812800" h="191823">
                  <a:moveTo>
                    <a:pt x="0" y="0"/>
                  </a:moveTo>
                  <a:lnTo>
                    <a:pt x="812800" y="0"/>
                  </a:lnTo>
                  <a:lnTo>
                    <a:pt x="812800" y="191823"/>
                  </a:lnTo>
                  <a:lnTo>
                    <a:pt x="0" y="191823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812800" cy="210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User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13900948" y="1966972"/>
            <a:ext cx="83466" cy="5486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13900948" y="3243938"/>
            <a:ext cx="0" cy="5524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13900948" y="4524714"/>
            <a:ext cx="60071" cy="5524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13900948" y="6374499"/>
            <a:ext cx="62294" cy="6078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H="1">
            <a:off x="13845324" y="7655275"/>
            <a:ext cx="55624" cy="5006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41143" y="1028700"/>
            <a:ext cx="4053078" cy="8229600"/>
          </a:xfrm>
          <a:custGeom>
            <a:avLst/>
            <a:gdLst/>
            <a:ahLst/>
            <a:cxnLst/>
            <a:rect l="l" t="t" r="r" b="b"/>
            <a:pathLst>
              <a:path w="4053078" h="8229600">
                <a:moveTo>
                  <a:pt x="0" y="0"/>
                </a:moveTo>
                <a:lnTo>
                  <a:pt x="4053078" y="0"/>
                </a:lnTo>
                <a:lnTo>
                  <a:pt x="405307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13891905" y="1028700"/>
            <a:ext cx="4050127" cy="8229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36992" y="1162050"/>
            <a:ext cx="7408130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b="1" spc="-72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 #4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0408" y="3645229"/>
            <a:ext cx="8398664" cy="251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Added Booking.com and Expedia-style preview pages.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Built simulated payment with Apple Pay, Card, and PayPal.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Payment ends with success and returns to chat.</a:t>
            </a:r>
          </a:p>
          <a:p>
            <a:pPr marL="550521" lvl="1" indent="-275260" algn="just">
              <a:lnSpc>
                <a:spcPts val="3314"/>
              </a:lnSpc>
              <a:buFont typeface="Arial"/>
              <a:buChar char="•"/>
            </a:pPr>
            <a:r>
              <a:rPr lang="en-US" sz="25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Clean design consistent with brand colors.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6992" y="2745434"/>
            <a:ext cx="8182081" cy="3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9"/>
              </a:lnSpc>
            </a:pPr>
            <a:r>
              <a:rPr lang="en-US" sz="2799" b="1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Checkout and Finishing Touches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7479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6992" y="6602094"/>
            <a:ext cx="7841023" cy="2656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To make the app feel complete, I designed mock provider screens and a payment flow. The Booking.com page matches their real color scheme. </a:t>
            </a:r>
          </a:p>
          <a:p>
            <a:pPr algn="just">
              <a:lnSpc>
                <a:spcPts val="3054"/>
              </a:lnSpc>
              <a:spcBef>
                <a:spcPct val="0"/>
              </a:spcBef>
            </a:pPr>
            <a:endParaRPr lang="en-US" sz="2349">
              <a:solidFill>
                <a:srgbClr val="002217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The payment screen lets users pick Apple Pay, Card, or PayPal and simulates a real checkout. It’s ready for backend connection later.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26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0817" y="1162050"/>
            <a:ext cx="16208483" cy="934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6600" b="1" spc="-72" dirty="0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Natural Language Processing(NLP) #1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303417"/>
            <a:ext cx="8126358" cy="7311568"/>
            <a:chOff x="0" y="0"/>
            <a:chExt cx="10835144" cy="9748757"/>
          </a:xfrm>
        </p:grpSpPr>
        <p:sp>
          <p:nvSpPr>
            <p:cNvPr id="4" name="TextBox 4"/>
            <p:cNvSpPr txBox="1"/>
            <p:nvPr/>
          </p:nvSpPr>
          <p:spPr>
            <a:xfrm>
              <a:off x="734216" y="1381557"/>
              <a:ext cx="10100928" cy="836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29"/>
                </a:lnSpc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When the user’s NL is entered at the chatbox,</a:t>
              </a:r>
            </a:p>
            <a:p>
              <a:pPr algn="l">
                <a:lnSpc>
                  <a:spcPts val="3329"/>
                </a:lnSpc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frontend(FE) communicates with the backend(BE) via the </a:t>
              </a: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“/chat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” endpoint.</a:t>
              </a:r>
            </a:p>
            <a:p>
              <a:pPr algn="l">
                <a:lnSpc>
                  <a:spcPts val="3329"/>
                </a:lnSpc>
              </a:pPr>
              <a:endParaRPr lang="en-US" sz="2561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329"/>
                </a:lnSpc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Three major functionalities of the </a:t>
              </a: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“/chat”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endpoint.</a:t>
              </a:r>
            </a:p>
            <a:p>
              <a:pPr marL="553027" lvl="1" indent="-276514" algn="l">
                <a:lnSpc>
                  <a:spcPts val="3329"/>
                </a:lnSpc>
                <a:buFont typeface="Arial"/>
                <a:buChar char="•"/>
              </a:pP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Assigns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a unique slot_id </a:t>
              </a:r>
            </a:p>
            <a:p>
              <a:pPr marL="553027" lvl="1" indent="-276514" algn="l">
                <a:lnSpc>
                  <a:spcPts val="3329"/>
                </a:lnSpc>
                <a:buFont typeface="Arial"/>
                <a:buChar char="•"/>
              </a:pP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Parses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the user’s NL and fills out the slots</a:t>
              </a:r>
            </a:p>
            <a:p>
              <a:pPr marL="553027" lvl="1" indent="-276514" algn="l">
                <a:lnSpc>
                  <a:spcPts val="3329"/>
                </a:lnSpc>
                <a:buFont typeface="Arial"/>
                <a:buChar char="•"/>
              </a:pP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Edits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the slot information if the FE sends different information (Ex, I want to leave from San Jose instead of SF.</a:t>
              </a:r>
            </a:p>
            <a:p>
              <a:pPr algn="l">
                <a:lnSpc>
                  <a:spcPts val="3329"/>
                </a:lnSpc>
              </a:pPr>
              <a:endParaRPr lang="en-US" sz="2561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329"/>
                </a:lnSpc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 requests with </a:t>
              </a: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“message” + “current slots”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  <a:p>
              <a:pPr algn="l">
                <a:lnSpc>
                  <a:spcPts val="3329"/>
                </a:lnSpc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NLP response with </a:t>
              </a: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“current_slots” + “missing”</a:t>
              </a:r>
            </a:p>
            <a:p>
              <a:pPr algn="l">
                <a:lnSpc>
                  <a:spcPts val="3329"/>
                </a:lnSpc>
              </a:pPr>
              <a:endParaRPr lang="en-US" sz="2561" b="1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9667581" cy="1060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50451" lvl="1" indent="-325226" algn="l">
                <a:lnSpc>
                  <a:spcPts val="3012"/>
                </a:lnSpc>
                <a:buFont typeface="Arial"/>
                <a:buChar char="•"/>
              </a:pPr>
              <a:r>
                <a:rPr lang="en-US" sz="3012" b="1" dirty="0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Chat service interacts with Frontend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169815" y="9459019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315304" y="2303417"/>
            <a:ext cx="3943996" cy="6993677"/>
            <a:chOff x="0" y="0"/>
            <a:chExt cx="5258662" cy="93249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58662" cy="8856694"/>
            </a:xfrm>
            <a:custGeom>
              <a:avLst/>
              <a:gdLst/>
              <a:ahLst/>
              <a:cxnLst/>
              <a:rect l="l" t="t" r="r" b="b"/>
              <a:pathLst>
                <a:path w="5258662" h="8856694">
                  <a:moveTo>
                    <a:pt x="0" y="0"/>
                  </a:moveTo>
                  <a:lnTo>
                    <a:pt x="5258662" y="0"/>
                  </a:lnTo>
                  <a:lnTo>
                    <a:pt x="5258662" y="8856694"/>
                  </a:lnTo>
                  <a:lnTo>
                    <a:pt x="0" y="885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837644"/>
              <a:ext cx="5258662" cy="487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/chat response sample 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00547" y="2303417"/>
            <a:ext cx="3869268" cy="6993677"/>
            <a:chOff x="0" y="0"/>
            <a:chExt cx="5159024" cy="93249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159024" cy="8856694"/>
            </a:xfrm>
            <a:custGeom>
              <a:avLst/>
              <a:gdLst/>
              <a:ahLst/>
              <a:cxnLst/>
              <a:rect l="l" t="t" r="r" b="b"/>
              <a:pathLst>
                <a:path w="5159024" h="8856694">
                  <a:moveTo>
                    <a:pt x="0" y="0"/>
                  </a:moveTo>
                  <a:lnTo>
                    <a:pt x="5159024" y="0"/>
                  </a:lnTo>
                  <a:lnTo>
                    <a:pt x="5159024" y="8856694"/>
                  </a:lnTo>
                  <a:lnTo>
                    <a:pt x="0" y="88566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744" y="8837644"/>
              <a:ext cx="5144280" cy="487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/chat request sample 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0817" y="1162050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200"/>
              </a:lnSpc>
            </a:pPr>
            <a:r>
              <a:rPr lang="en-US" sz="7200" b="1" spc="-72" dirty="0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NLP #1.1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181279" y="9796937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725699" y="2211705"/>
            <a:ext cx="6911161" cy="7522270"/>
            <a:chOff x="0" y="0"/>
            <a:chExt cx="9214881" cy="100296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214881" cy="9561485"/>
            </a:xfrm>
            <a:custGeom>
              <a:avLst/>
              <a:gdLst/>
              <a:ahLst/>
              <a:cxnLst/>
              <a:rect l="l" t="t" r="r" b="b"/>
              <a:pathLst>
                <a:path w="9214881" h="9561485">
                  <a:moveTo>
                    <a:pt x="0" y="0"/>
                  </a:moveTo>
                  <a:lnTo>
                    <a:pt x="9214881" y="0"/>
                  </a:lnTo>
                  <a:lnTo>
                    <a:pt x="9214881" y="9561485"/>
                  </a:lnTo>
                  <a:lnTo>
                    <a:pt x="0" y="9561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78110" y="9542435"/>
              <a:ext cx="5258662" cy="487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/chat response sample 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84715" y="2211705"/>
            <a:ext cx="7298844" cy="7522270"/>
            <a:chOff x="0" y="0"/>
            <a:chExt cx="9731792" cy="100296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731792" cy="9561485"/>
            </a:xfrm>
            <a:custGeom>
              <a:avLst/>
              <a:gdLst/>
              <a:ahLst/>
              <a:cxnLst/>
              <a:rect l="l" t="t" r="r" b="b"/>
              <a:pathLst>
                <a:path w="9731792" h="9561485">
                  <a:moveTo>
                    <a:pt x="0" y="0"/>
                  </a:moveTo>
                  <a:lnTo>
                    <a:pt x="9731792" y="0"/>
                  </a:lnTo>
                  <a:lnTo>
                    <a:pt x="9731792" y="9561485"/>
                  </a:lnTo>
                  <a:lnTo>
                    <a:pt x="0" y="9561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93756" y="9542435"/>
              <a:ext cx="5144280" cy="487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/chat request sample 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0817" y="1162050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200"/>
              </a:lnSpc>
            </a:pPr>
            <a:r>
              <a:rPr lang="en-US" sz="7200" b="1" spc="-72" dirty="0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NLP #1.2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181279" y="9796937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701577" y="2154555"/>
            <a:ext cx="5451700" cy="7607995"/>
            <a:chOff x="0" y="0"/>
            <a:chExt cx="7268934" cy="101439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268934" cy="9675785"/>
            </a:xfrm>
            <a:custGeom>
              <a:avLst/>
              <a:gdLst/>
              <a:ahLst/>
              <a:cxnLst/>
              <a:rect l="l" t="t" r="r" b="b"/>
              <a:pathLst>
                <a:path w="7268934" h="9675785">
                  <a:moveTo>
                    <a:pt x="0" y="0"/>
                  </a:moveTo>
                  <a:lnTo>
                    <a:pt x="7268934" y="0"/>
                  </a:lnTo>
                  <a:lnTo>
                    <a:pt x="7268934" y="9675785"/>
                  </a:lnTo>
                  <a:lnTo>
                    <a:pt x="0" y="9675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05136" y="9656735"/>
              <a:ext cx="5258662" cy="487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/chat response sample 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872658" y="2154555"/>
            <a:ext cx="6122958" cy="7607995"/>
            <a:chOff x="0" y="0"/>
            <a:chExt cx="8163944" cy="101439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63944" cy="9675785"/>
            </a:xfrm>
            <a:custGeom>
              <a:avLst/>
              <a:gdLst/>
              <a:ahLst/>
              <a:cxnLst/>
              <a:rect l="l" t="t" r="r" b="b"/>
              <a:pathLst>
                <a:path w="8163944" h="9675785">
                  <a:moveTo>
                    <a:pt x="0" y="0"/>
                  </a:moveTo>
                  <a:lnTo>
                    <a:pt x="8163944" y="0"/>
                  </a:lnTo>
                  <a:lnTo>
                    <a:pt x="8163944" y="9675785"/>
                  </a:lnTo>
                  <a:lnTo>
                    <a:pt x="0" y="9675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09832" y="9656735"/>
              <a:ext cx="5144280" cy="487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/chat request sample 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0817" y="1162050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200"/>
              </a:lnSpc>
            </a:pPr>
            <a:r>
              <a:rPr lang="en-US" sz="7200" b="1" spc="-72" dirty="0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NLP #1.3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800340" y="4042562"/>
            <a:ext cx="6754559" cy="5735477"/>
            <a:chOff x="0" y="0"/>
            <a:chExt cx="9006078" cy="76473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18584" cy="7647302"/>
            </a:xfrm>
            <a:custGeom>
              <a:avLst/>
              <a:gdLst/>
              <a:ahLst/>
              <a:cxnLst/>
              <a:rect l="l" t="t" r="r" b="b"/>
              <a:pathLst>
                <a:path w="6318584" h="7647302">
                  <a:moveTo>
                    <a:pt x="0" y="0"/>
                  </a:moveTo>
                  <a:lnTo>
                    <a:pt x="6318584" y="0"/>
                  </a:lnTo>
                  <a:lnTo>
                    <a:pt x="6318584" y="7647302"/>
                  </a:lnTo>
                  <a:lnTo>
                    <a:pt x="0" y="7647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51984" y="3552427"/>
              <a:ext cx="2554094" cy="1503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/search</a:t>
              </a:r>
            </a:p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response </a:t>
              </a:r>
            </a:p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sample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800340" y="960432"/>
            <a:ext cx="6754559" cy="3053555"/>
            <a:chOff x="0" y="0"/>
            <a:chExt cx="9006078" cy="4071407"/>
          </a:xfrm>
        </p:grpSpPr>
        <p:sp>
          <p:nvSpPr>
            <p:cNvPr id="7" name="TextBox 7"/>
            <p:cNvSpPr txBox="1"/>
            <p:nvPr/>
          </p:nvSpPr>
          <p:spPr>
            <a:xfrm>
              <a:off x="6374803" y="1306414"/>
              <a:ext cx="2631275" cy="1503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/search</a:t>
              </a:r>
            </a:p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request </a:t>
              </a:r>
            </a:p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sample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6349172" cy="4071407"/>
            </a:xfrm>
            <a:custGeom>
              <a:avLst/>
              <a:gdLst/>
              <a:ahLst/>
              <a:cxnLst/>
              <a:rect l="l" t="t" r="r" b="b"/>
              <a:pathLst>
                <a:path w="6349172" h="4071407">
                  <a:moveTo>
                    <a:pt x="0" y="0"/>
                  </a:moveTo>
                  <a:lnTo>
                    <a:pt x="6349172" y="0"/>
                  </a:lnTo>
                  <a:lnTo>
                    <a:pt x="6349172" y="4071407"/>
                  </a:lnTo>
                  <a:lnTo>
                    <a:pt x="0" y="4071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0817" y="2303417"/>
            <a:ext cx="8128972" cy="7349668"/>
            <a:chOff x="0" y="0"/>
            <a:chExt cx="10838629" cy="9799557"/>
          </a:xfrm>
        </p:grpSpPr>
        <p:sp>
          <p:nvSpPr>
            <p:cNvPr id="10" name="TextBox 10"/>
            <p:cNvSpPr txBox="1"/>
            <p:nvPr/>
          </p:nvSpPr>
          <p:spPr>
            <a:xfrm>
              <a:off x="734452" y="873557"/>
              <a:ext cx="10104177" cy="8926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29"/>
                </a:lnSpc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When slots are filled, FE calls the </a:t>
              </a: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“/search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” endpoint.</a:t>
              </a:r>
            </a:p>
            <a:p>
              <a:pPr algn="l">
                <a:lnSpc>
                  <a:spcPts val="3329"/>
                </a:lnSpc>
              </a:pPr>
              <a:endParaRPr lang="en-US" sz="2561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329"/>
                </a:lnSpc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Two major functionalities of the </a:t>
              </a: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“/search”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endpoint.</a:t>
              </a:r>
            </a:p>
            <a:p>
              <a:pPr marL="553027" lvl="1" indent="-276514" algn="l">
                <a:lnSpc>
                  <a:spcPts val="3329"/>
                </a:lnSpc>
                <a:buFont typeface="Arial"/>
                <a:buChar char="•"/>
              </a:pP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Make API calls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to search based on slots</a:t>
              </a:r>
            </a:p>
            <a:p>
              <a:pPr marL="1106055" lvl="2" indent="-368685" algn="l">
                <a:lnSpc>
                  <a:spcPts val="3329"/>
                </a:lnSpc>
                <a:buFont typeface="Arial"/>
                <a:buChar char="⚬"/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Flight</a:t>
              </a:r>
            </a:p>
            <a:p>
              <a:pPr marL="1106055" lvl="2" indent="-368685" algn="l">
                <a:lnSpc>
                  <a:spcPts val="3329"/>
                </a:lnSpc>
                <a:buFont typeface="Arial"/>
                <a:buChar char="⚬"/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Hotel - Rating(Star), Amenities</a:t>
              </a:r>
            </a:p>
            <a:p>
              <a:pPr marL="1106055" lvl="2" indent="-368685" algn="l">
                <a:lnSpc>
                  <a:spcPts val="3329"/>
                </a:lnSpc>
                <a:buFont typeface="Arial"/>
                <a:buChar char="⚬"/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Car</a:t>
              </a:r>
            </a:p>
            <a:p>
              <a:pPr marL="1106055" lvl="2" indent="-368685" algn="l">
                <a:lnSpc>
                  <a:spcPts val="3329"/>
                </a:lnSpc>
                <a:buFont typeface="Arial"/>
                <a:buChar char="⚬"/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Attractions - Name, Description</a:t>
              </a:r>
            </a:p>
            <a:p>
              <a:pPr marL="553027" lvl="1" indent="-276514" algn="l">
                <a:lnSpc>
                  <a:spcPts val="3329"/>
                </a:lnSpc>
                <a:buFont typeface="Arial"/>
                <a:buChar char="•"/>
              </a:pP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Make an travel plan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based on each API call's responses.</a:t>
              </a:r>
            </a:p>
            <a:p>
              <a:pPr algn="l">
                <a:lnSpc>
                  <a:spcPts val="3329"/>
                </a:lnSpc>
              </a:pPr>
              <a:endParaRPr lang="en-US" sz="2561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  <a:p>
              <a:pPr algn="l">
                <a:lnSpc>
                  <a:spcPts val="3329"/>
                </a:lnSpc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 requests with </a:t>
              </a: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“current slots”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  <a:p>
              <a:pPr algn="l">
                <a:lnSpc>
                  <a:spcPts val="3329"/>
                </a:lnSpc>
              </a:pP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NLP response with </a:t>
              </a:r>
              <a:r>
                <a:rPr lang="en-US" sz="2561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“travel plan”</a:t>
              </a:r>
              <a:r>
                <a:rPr lang="en-US" sz="2561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.</a:t>
              </a:r>
            </a:p>
            <a:p>
              <a:pPr algn="l">
                <a:lnSpc>
                  <a:spcPts val="3329"/>
                </a:lnSpc>
              </a:pPr>
              <a:endParaRPr lang="en-US" sz="2561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7150"/>
              <a:ext cx="9670690" cy="552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50451" lvl="1" indent="-325226" algn="l">
                <a:lnSpc>
                  <a:spcPts val="3012"/>
                </a:lnSpc>
                <a:buFont typeface="Arial"/>
                <a:buChar char="•"/>
              </a:pPr>
              <a:r>
                <a:rPr lang="en-US" sz="3012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Search service 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81279" y="9796937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0817" y="1162050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b="1" spc="-72" dirty="0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APIs #1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43304" y="9239250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42375" y="2324236"/>
            <a:ext cx="7985813" cy="6515278"/>
            <a:chOff x="0" y="0"/>
            <a:chExt cx="10647751" cy="8687037"/>
          </a:xfrm>
        </p:grpSpPr>
        <p:sp>
          <p:nvSpPr>
            <p:cNvPr id="5" name="TextBox 5"/>
            <p:cNvSpPr txBox="1"/>
            <p:nvPr/>
          </p:nvSpPr>
          <p:spPr>
            <a:xfrm>
              <a:off x="831322" y="1306203"/>
              <a:ext cx="9816428" cy="7380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79"/>
                </a:lnSpc>
              </a:pPr>
              <a:r>
                <a:rPr lang="en-US" sz="3061" b="1" dirty="0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Basic principles:</a:t>
              </a:r>
            </a:p>
            <a:p>
              <a:pPr marL="660975" lvl="1" indent="-330487" algn="l">
                <a:lnSpc>
                  <a:spcPts val="3979"/>
                </a:lnSpc>
                <a:buAutoNum type="arabicPeriod"/>
              </a:pPr>
              <a:r>
                <a:rPr lang="en-US" sz="3061" dirty="0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Receive data from the APIs.</a:t>
              </a:r>
            </a:p>
            <a:p>
              <a:pPr marL="660975" lvl="1" indent="-330487" algn="l">
                <a:lnSpc>
                  <a:spcPts val="3979"/>
                </a:lnSpc>
                <a:buAutoNum type="arabicPeriod"/>
              </a:pPr>
              <a:r>
                <a:rPr lang="en-US" sz="3061" dirty="0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Filter and/or sort data based on the user’s request.</a:t>
              </a:r>
            </a:p>
            <a:p>
              <a:pPr marL="660975" lvl="1" indent="-330487" algn="l">
                <a:lnSpc>
                  <a:spcPts val="3979"/>
                </a:lnSpc>
                <a:buAutoNum type="arabicPeriod"/>
              </a:pPr>
              <a:r>
                <a:rPr lang="en-US" sz="3061" dirty="0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Hotel &amp; Car:</a:t>
              </a:r>
            </a:p>
            <a:p>
              <a:pPr marL="1321949" lvl="2" indent="-440650" algn="l">
                <a:lnSpc>
                  <a:spcPts val="3979"/>
                </a:lnSpc>
                <a:buAutoNum type="alphaLcPeriod"/>
              </a:pPr>
              <a:r>
                <a:rPr lang="en-US" sz="3061" dirty="0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If the “request” field is false, then skip the related API calls.</a:t>
              </a:r>
            </a:p>
            <a:p>
              <a:pPr marL="660975" lvl="1" indent="-330487" algn="l">
                <a:lnSpc>
                  <a:spcPts val="3979"/>
                </a:lnSpc>
                <a:buAutoNum type="arabicPeriod"/>
              </a:pPr>
              <a:r>
                <a:rPr lang="en-US" sz="3061" dirty="0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Attractions:</a:t>
              </a:r>
            </a:p>
            <a:p>
              <a:pPr marL="1321949" lvl="2" indent="-440650" algn="l">
                <a:lnSpc>
                  <a:spcPts val="3979"/>
                </a:lnSpc>
                <a:buAutoNum type="alphaLcPeriod"/>
              </a:pPr>
              <a:r>
                <a:rPr lang="en-US" sz="3061" dirty="0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Even though the attractions field is empty, call the API for a recommendation.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7150"/>
              <a:ext cx="10169455" cy="1201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36809" lvl="1" indent="-368404" algn="l">
                <a:lnSpc>
                  <a:spcPts val="3412"/>
                </a:lnSpc>
                <a:buFont typeface="Arial"/>
                <a:buChar char="•"/>
              </a:pPr>
              <a:r>
                <a:rPr lang="en-US" sz="3412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APIs - Flight, Hotel, Attractions, (Car)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8102" y="3111625"/>
            <a:ext cx="8011198" cy="4807521"/>
            <a:chOff x="0" y="0"/>
            <a:chExt cx="10681597" cy="64100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81597" cy="5895321"/>
            </a:xfrm>
            <a:custGeom>
              <a:avLst/>
              <a:gdLst/>
              <a:ahLst/>
              <a:cxnLst/>
              <a:rect l="l" t="t" r="r" b="b"/>
              <a:pathLst>
                <a:path w="10681597" h="5895321">
                  <a:moveTo>
                    <a:pt x="0" y="0"/>
                  </a:moveTo>
                  <a:lnTo>
                    <a:pt x="10681597" y="0"/>
                  </a:lnTo>
                  <a:lnTo>
                    <a:pt x="10681597" y="5895321"/>
                  </a:lnTo>
                  <a:lnTo>
                    <a:pt x="0" y="589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902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866746"/>
              <a:ext cx="10681597" cy="543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8"/>
                </a:lnSpc>
                <a:spcBef>
                  <a:spcPct val="0"/>
                </a:spcBef>
              </a:pPr>
              <a:r>
                <a:rPr lang="en-US" sz="2583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API endpoints list for search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0817" y="1162050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200"/>
              </a:lnSpc>
            </a:pPr>
            <a:r>
              <a:rPr lang="en-US" sz="7200" b="1" spc="-72" dirty="0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APIs #1.1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239250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551008" y="2221230"/>
            <a:ext cx="11002863" cy="3099263"/>
            <a:chOff x="0" y="0"/>
            <a:chExt cx="14670484" cy="41323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244004" cy="4132351"/>
            </a:xfrm>
            <a:custGeom>
              <a:avLst/>
              <a:gdLst/>
              <a:ahLst/>
              <a:cxnLst/>
              <a:rect l="l" t="t" r="r" b="b"/>
              <a:pathLst>
                <a:path w="12244004" h="4132351">
                  <a:moveTo>
                    <a:pt x="0" y="0"/>
                  </a:moveTo>
                  <a:lnTo>
                    <a:pt x="12244004" y="0"/>
                  </a:lnTo>
                  <a:lnTo>
                    <a:pt x="12244004" y="4132351"/>
                  </a:lnTo>
                  <a:lnTo>
                    <a:pt x="0" y="4132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244004" y="1559021"/>
              <a:ext cx="2426480" cy="995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Flight API</a:t>
              </a:r>
            </a:p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sample 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551008" y="5444318"/>
            <a:ext cx="11002863" cy="1377450"/>
            <a:chOff x="0" y="0"/>
            <a:chExt cx="14670484" cy="18366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44004" cy="1836601"/>
            </a:xfrm>
            <a:custGeom>
              <a:avLst/>
              <a:gdLst/>
              <a:ahLst/>
              <a:cxnLst/>
              <a:rect l="l" t="t" r="r" b="b"/>
              <a:pathLst>
                <a:path w="12244004" h="1836601">
                  <a:moveTo>
                    <a:pt x="0" y="0"/>
                  </a:moveTo>
                  <a:lnTo>
                    <a:pt x="12244004" y="0"/>
                  </a:lnTo>
                  <a:lnTo>
                    <a:pt x="12244004" y="1836601"/>
                  </a:lnTo>
                  <a:lnTo>
                    <a:pt x="0" y="18366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44004" y="411146"/>
              <a:ext cx="2426480" cy="995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Hotel API</a:t>
              </a:r>
            </a:p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sample 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51008" y="6945594"/>
            <a:ext cx="11520811" cy="2789337"/>
            <a:chOff x="0" y="0"/>
            <a:chExt cx="15361081" cy="37191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44004" cy="3719116"/>
            </a:xfrm>
            <a:custGeom>
              <a:avLst/>
              <a:gdLst/>
              <a:ahLst/>
              <a:cxnLst/>
              <a:rect l="l" t="t" r="r" b="b"/>
              <a:pathLst>
                <a:path w="12244004" h="3719116">
                  <a:moveTo>
                    <a:pt x="0" y="0"/>
                  </a:moveTo>
                  <a:lnTo>
                    <a:pt x="12244004" y="0"/>
                  </a:lnTo>
                  <a:lnTo>
                    <a:pt x="12244004" y="3719116"/>
                  </a:lnTo>
                  <a:lnTo>
                    <a:pt x="0" y="3719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244004" y="1352404"/>
              <a:ext cx="3117077" cy="995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Attractions API</a:t>
              </a:r>
            </a:p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sample 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50817" y="2221230"/>
            <a:ext cx="5316006" cy="6708115"/>
            <a:chOff x="0" y="0"/>
            <a:chExt cx="7088008" cy="89441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88008" cy="8475944"/>
            </a:xfrm>
            <a:custGeom>
              <a:avLst/>
              <a:gdLst/>
              <a:ahLst/>
              <a:cxnLst/>
              <a:rect l="l" t="t" r="r" b="b"/>
              <a:pathLst>
                <a:path w="7088008" h="8475944">
                  <a:moveTo>
                    <a:pt x="0" y="0"/>
                  </a:moveTo>
                  <a:lnTo>
                    <a:pt x="7088008" y="0"/>
                  </a:lnTo>
                  <a:lnTo>
                    <a:pt x="7088008" y="8475944"/>
                  </a:lnTo>
                  <a:lnTo>
                    <a:pt x="0" y="847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8456894"/>
              <a:ext cx="7088008" cy="487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Requested slots sample 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551008" y="2554651"/>
            <a:ext cx="11002863" cy="3099263"/>
            <a:chOff x="0" y="0"/>
            <a:chExt cx="14670484" cy="4132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44004" cy="4132351"/>
            </a:xfrm>
            <a:custGeom>
              <a:avLst/>
              <a:gdLst/>
              <a:ahLst/>
              <a:cxnLst/>
              <a:rect l="l" t="t" r="r" b="b"/>
              <a:pathLst>
                <a:path w="12244004" h="4132351">
                  <a:moveTo>
                    <a:pt x="0" y="0"/>
                  </a:moveTo>
                  <a:lnTo>
                    <a:pt x="12244004" y="0"/>
                  </a:lnTo>
                  <a:lnTo>
                    <a:pt x="12244004" y="4132351"/>
                  </a:lnTo>
                  <a:lnTo>
                    <a:pt x="0" y="41323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244004" y="1559021"/>
              <a:ext cx="2426480" cy="995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Flight API</a:t>
              </a:r>
            </a:p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sample 2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554651"/>
            <a:ext cx="5316006" cy="6362008"/>
            <a:chOff x="0" y="0"/>
            <a:chExt cx="7088008" cy="84826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88008" cy="8014468"/>
            </a:xfrm>
            <a:custGeom>
              <a:avLst/>
              <a:gdLst/>
              <a:ahLst/>
              <a:cxnLst/>
              <a:rect l="l" t="t" r="r" b="b"/>
              <a:pathLst>
                <a:path w="7088008" h="8014468">
                  <a:moveTo>
                    <a:pt x="0" y="0"/>
                  </a:moveTo>
                  <a:lnTo>
                    <a:pt x="7088008" y="0"/>
                  </a:lnTo>
                  <a:lnTo>
                    <a:pt x="7088008" y="8014468"/>
                  </a:lnTo>
                  <a:lnTo>
                    <a:pt x="0" y="8014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9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995418"/>
              <a:ext cx="7088008" cy="487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Requested slots sample 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51008" y="5735655"/>
            <a:ext cx="11527746" cy="2848881"/>
            <a:chOff x="0" y="0"/>
            <a:chExt cx="15370328" cy="3798508"/>
          </a:xfrm>
        </p:grpSpPr>
        <p:sp>
          <p:nvSpPr>
            <p:cNvPr id="9" name="TextBox 9"/>
            <p:cNvSpPr txBox="1"/>
            <p:nvPr/>
          </p:nvSpPr>
          <p:spPr>
            <a:xfrm>
              <a:off x="12253251" y="1392100"/>
              <a:ext cx="3117077" cy="995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54"/>
                </a:lnSpc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Attractions API</a:t>
              </a:r>
            </a:p>
            <a:p>
              <a:pPr algn="ctr">
                <a:lnSpc>
                  <a:spcPts val="3054"/>
                </a:lnSpc>
                <a:spcBef>
                  <a:spcPct val="0"/>
                </a:spcBef>
              </a:pPr>
              <a:r>
                <a:rPr lang="en-US" sz="23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sample 2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2253251" cy="3798508"/>
            </a:xfrm>
            <a:custGeom>
              <a:avLst/>
              <a:gdLst/>
              <a:ahLst/>
              <a:cxnLst/>
              <a:rect l="l" t="t" r="r" b="b"/>
              <a:pathLst>
                <a:path w="12253251" h="3798508">
                  <a:moveTo>
                    <a:pt x="0" y="0"/>
                  </a:moveTo>
                  <a:lnTo>
                    <a:pt x="12253251" y="0"/>
                  </a:lnTo>
                  <a:lnTo>
                    <a:pt x="12253251" y="3798508"/>
                  </a:lnTo>
                  <a:lnTo>
                    <a:pt x="0" y="3798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50817" y="1162050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200"/>
              </a:lnSpc>
            </a:pPr>
            <a:r>
              <a:rPr lang="en-US" sz="7200" b="1" spc="-72" dirty="0">
                <a:solidFill>
                  <a:srgbClr val="002217"/>
                </a:solidFill>
                <a:latin typeface="DM Sans Bold"/>
                <a:ea typeface="DM Sans Bold"/>
                <a:cs typeface="DM Sans Bold"/>
                <a:sym typeface="DM Sans Bold"/>
              </a:rPr>
              <a:t>APIs #1.2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43304" y="9239250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0395" y="1303052"/>
            <a:ext cx="10148569" cy="6812227"/>
          </a:xfrm>
          <a:custGeom>
            <a:avLst/>
            <a:gdLst/>
            <a:ahLst/>
            <a:cxnLst/>
            <a:rect l="l" t="t" r="r" b="b"/>
            <a:pathLst>
              <a:path w="10148569" h="6812227">
                <a:moveTo>
                  <a:pt x="0" y="0"/>
                </a:moveTo>
                <a:lnTo>
                  <a:pt x="10148569" y="0"/>
                </a:lnTo>
                <a:lnTo>
                  <a:pt x="10148569" y="6812227"/>
                </a:lnTo>
                <a:lnTo>
                  <a:pt x="0" y="6812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337184"/>
            <a:ext cx="16208483" cy="69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00"/>
              </a:lnSpc>
            </a:pPr>
            <a:r>
              <a:rPr lang="en-US" sz="5100" b="1" spc="-51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# Backend Architecture &amp; Database Schema Design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572004" y="948999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Ayo</a:t>
            </a:r>
          </a:p>
        </p:txBody>
      </p:sp>
      <p:sp>
        <p:nvSpPr>
          <p:cNvPr id="5" name="Freeform 5"/>
          <p:cNvSpPr/>
          <p:nvPr/>
        </p:nvSpPr>
        <p:spPr>
          <a:xfrm>
            <a:off x="11182355" y="3666644"/>
            <a:ext cx="6366563" cy="4448636"/>
          </a:xfrm>
          <a:custGeom>
            <a:avLst/>
            <a:gdLst/>
            <a:ahLst/>
            <a:cxnLst/>
            <a:rect l="l" t="t" r="r" b="b"/>
            <a:pathLst>
              <a:path w="6366563" h="4448636">
                <a:moveTo>
                  <a:pt x="0" y="0"/>
                </a:moveTo>
                <a:lnTo>
                  <a:pt x="6366563" y="0"/>
                </a:lnTo>
                <a:lnTo>
                  <a:pt x="6366563" y="4448635"/>
                </a:lnTo>
                <a:lnTo>
                  <a:pt x="0" y="4448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65873" y="8404296"/>
            <a:ext cx="10420572" cy="1104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923" spc="-2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The proposed architecture is designed for scalability and low latency, leveraging microservices principles. Taking inspiration from Netflix's backend architecture design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1259" y="1343432"/>
            <a:ext cx="11976170" cy="5104842"/>
          </a:xfrm>
          <a:custGeom>
            <a:avLst/>
            <a:gdLst/>
            <a:ahLst/>
            <a:cxnLst/>
            <a:rect l="l" t="t" r="r" b="b"/>
            <a:pathLst>
              <a:path w="11976170" h="5104842">
                <a:moveTo>
                  <a:pt x="0" y="0"/>
                </a:moveTo>
                <a:lnTo>
                  <a:pt x="11976170" y="0"/>
                </a:lnTo>
                <a:lnTo>
                  <a:pt x="11976170" y="5104843"/>
                </a:lnTo>
                <a:lnTo>
                  <a:pt x="0" y="5104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2543304" y="1028700"/>
            <a:ext cx="5312224" cy="6918159"/>
          </a:xfrm>
          <a:custGeom>
            <a:avLst/>
            <a:gdLst/>
            <a:ahLst/>
            <a:cxnLst/>
            <a:rect l="l" t="t" r="r" b="b"/>
            <a:pathLst>
              <a:path w="5312224" h="6918159">
                <a:moveTo>
                  <a:pt x="0" y="0"/>
                </a:moveTo>
                <a:lnTo>
                  <a:pt x="5312224" y="0"/>
                </a:lnTo>
                <a:lnTo>
                  <a:pt x="5312224" y="6918159"/>
                </a:lnTo>
                <a:lnTo>
                  <a:pt x="0" y="69181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189344" y="6703717"/>
            <a:ext cx="5318458" cy="2931296"/>
          </a:xfrm>
          <a:custGeom>
            <a:avLst/>
            <a:gdLst/>
            <a:ahLst/>
            <a:cxnLst/>
            <a:rect l="l" t="t" r="r" b="b"/>
            <a:pathLst>
              <a:path w="5318458" h="2931296">
                <a:moveTo>
                  <a:pt x="0" y="0"/>
                </a:moveTo>
                <a:lnTo>
                  <a:pt x="5318458" y="0"/>
                </a:lnTo>
                <a:lnTo>
                  <a:pt x="5318458" y="2931295"/>
                </a:lnTo>
                <a:lnTo>
                  <a:pt x="0" y="29312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33695" y="462228"/>
            <a:ext cx="17361620" cy="62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68"/>
              </a:lnSpc>
            </a:pPr>
            <a:r>
              <a:rPr lang="en-US" sz="4668" b="1" spc="-46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 Low Level Design &amp; Database Integration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43304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Ayo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1259" y="6741529"/>
            <a:ext cx="5479239" cy="282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3"/>
              </a:lnSpc>
              <a:spcBef>
                <a:spcPct val="0"/>
              </a:spcBef>
            </a:pPr>
            <a:r>
              <a:rPr lang="en-US" sz="2494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The diagrams illustrate the precise components, their technologies, and the data flow for a primary user interaction: processing a chat message and returning travel packages, plus how it’s integrated and stored on Postgresql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72304" y="1413065"/>
            <a:ext cx="7323342" cy="7460870"/>
          </a:xfrm>
          <a:custGeom>
            <a:avLst/>
            <a:gdLst/>
            <a:ahLst/>
            <a:cxnLst/>
            <a:rect l="l" t="t" r="r" b="b"/>
            <a:pathLst>
              <a:path w="7323342" h="7460870">
                <a:moveTo>
                  <a:pt x="0" y="0"/>
                </a:moveTo>
                <a:lnTo>
                  <a:pt x="7323342" y="0"/>
                </a:lnTo>
                <a:lnTo>
                  <a:pt x="7323342" y="7460870"/>
                </a:lnTo>
                <a:lnTo>
                  <a:pt x="0" y="7460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76092" y="2397994"/>
            <a:ext cx="9727752" cy="1906303"/>
          </a:xfrm>
          <a:custGeom>
            <a:avLst/>
            <a:gdLst/>
            <a:ahLst/>
            <a:cxnLst/>
            <a:rect l="l" t="t" r="r" b="b"/>
            <a:pathLst>
              <a:path w="9727752" h="1906303">
                <a:moveTo>
                  <a:pt x="0" y="0"/>
                </a:moveTo>
                <a:lnTo>
                  <a:pt x="9727752" y="0"/>
                </a:lnTo>
                <a:lnTo>
                  <a:pt x="9727752" y="1906303"/>
                </a:lnTo>
                <a:lnTo>
                  <a:pt x="0" y="190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26588" y="4740585"/>
            <a:ext cx="4790126" cy="3769926"/>
          </a:xfrm>
          <a:custGeom>
            <a:avLst/>
            <a:gdLst/>
            <a:ahLst/>
            <a:cxnLst/>
            <a:rect l="l" t="t" r="r" b="b"/>
            <a:pathLst>
              <a:path w="4790126" h="3769926">
                <a:moveTo>
                  <a:pt x="0" y="0"/>
                </a:moveTo>
                <a:lnTo>
                  <a:pt x="4790126" y="0"/>
                </a:lnTo>
                <a:lnTo>
                  <a:pt x="4790126" y="3769926"/>
                </a:lnTo>
                <a:lnTo>
                  <a:pt x="0" y="3769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50817" y="997775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b="1" spc="-72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 Api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43304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Ayo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97790" y="4721535"/>
            <a:ext cx="4006055" cy="4076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5"/>
              </a:lnSpc>
              <a:spcBef>
                <a:spcPct val="0"/>
              </a:spcBef>
            </a:pPr>
            <a:r>
              <a:rPr lang="en-US" sz="2273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The FastAPI is organised around RESTful architecture principles for resource management, like Bookings, Trip-Component, Trip, Package, Authentication and Users with a full </a:t>
            </a:r>
            <a:r>
              <a:rPr lang="en-US" sz="2273" b="1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CRUD</a:t>
            </a:r>
            <a:r>
              <a:rPr lang="en-US" sz="2273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 functionality, all deployed on IBM LinuxOne, publicly accessible via </a:t>
            </a:r>
            <a:r>
              <a:rPr lang="en-US" sz="2273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http://148.100.78.58:8000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134709" y="2481857"/>
            <a:ext cx="874291" cy="524153"/>
            <a:chOff x="0" y="0"/>
            <a:chExt cx="230266" cy="1380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0266" cy="138048"/>
            </a:xfrm>
            <a:custGeom>
              <a:avLst/>
              <a:gdLst/>
              <a:ahLst/>
              <a:cxnLst/>
              <a:rect l="l" t="t" r="r" b="b"/>
              <a:pathLst>
                <a:path w="230266" h="138048">
                  <a:moveTo>
                    <a:pt x="0" y="0"/>
                  </a:moveTo>
                  <a:lnTo>
                    <a:pt x="230266" y="0"/>
                  </a:lnTo>
                  <a:lnTo>
                    <a:pt x="230266" y="138048"/>
                  </a:lnTo>
                  <a:lnTo>
                    <a:pt x="0" y="138048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30266" cy="15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r>
                <a:rPr lang="en-US" sz="2100" b="1">
                  <a:solidFill>
                    <a:srgbClr val="31452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DONE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35158" y="4881424"/>
            <a:ext cx="874291" cy="524153"/>
            <a:chOff x="0" y="0"/>
            <a:chExt cx="230266" cy="1380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0266" cy="138048"/>
            </a:xfrm>
            <a:custGeom>
              <a:avLst/>
              <a:gdLst/>
              <a:ahLst/>
              <a:cxnLst/>
              <a:rect l="l" t="t" r="r" b="b"/>
              <a:pathLst>
                <a:path w="230266" h="138048">
                  <a:moveTo>
                    <a:pt x="0" y="0"/>
                  </a:moveTo>
                  <a:lnTo>
                    <a:pt x="230266" y="0"/>
                  </a:lnTo>
                  <a:lnTo>
                    <a:pt x="230266" y="138048"/>
                  </a:lnTo>
                  <a:lnTo>
                    <a:pt x="0" y="138048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30266" cy="15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0"/>
                </a:lnSpc>
              </a:pPr>
              <a:r>
                <a:rPr lang="en-US" sz="2300" b="1">
                  <a:solidFill>
                    <a:srgbClr val="FFD30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WIP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25184" y="7341295"/>
            <a:ext cx="874291" cy="524153"/>
            <a:chOff x="0" y="0"/>
            <a:chExt cx="230266" cy="1380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0266" cy="138048"/>
            </a:xfrm>
            <a:custGeom>
              <a:avLst/>
              <a:gdLst/>
              <a:ahLst/>
              <a:cxnLst/>
              <a:rect l="l" t="t" r="r" b="b"/>
              <a:pathLst>
                <a:path w="230266" h="138048">
                  <a:moveTo>
                    <a:pt x="0" y="0"/>
                  </a:moveTo>
                  <a:lnTo>
                    <a:pt x="230266" y="0"/>
                  </a:lnTo>
                  <a:lnTo>
                    <a:pt x="230266" y="138048"/>
                  </a:lnTo>
                  <a:lnTo>
                    <a:pt x="0" y="138048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30266" cy="15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0"/>
                </a:lnSpc>
              </a:pPr>
              <a:r>
                <a:rPr lang="en-US" sz="2300" b="1">
                  <a:solidFill>
                    <a:srgbClr val="FFD30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WIP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125980"/>
            <a:ext cx="3839296" cy="2646968"/>
          </a:xfrm>
          <a:custGeom>
            <a:avLst/>
            <a:gdLst/>
            <a:ahLst/>
            <a:cxnLst/>
            <a:rect l="l" t="t" r="r" b="b"/>
            <a:pathLst>
              <a:path w="3839296" h="2646968">
                <a:moveTo>
                  <a:pt x="0" y="0"/>
                </a:moveTo>
                <a:lnTo>
                  <a:pt x="3839296" y="0"/>
                </a:lnTo>
                <a:lnTo>
                  <a:pt x="3839296" y="2646968"/>
                </a:lnTo>
                <a:lnTo>
                  <a:pt x="0" y="2646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048200" y="2736850"/>
            <a:ext cx="3149409" cy="2771128"/>
          </a:xfrm>
          <a:custGeom>
            <a:avLst/>
            <a:gdLst/>
            <a:ahLst/>
            <a:cxnLst/>
            <a:rect l="l" t="t" r="r" b="b"/>
            <a:pathLst>
              <a:path w="3149409" h="2771128">
                <a:moveTo>
                  <a:pt x="0" y="0"/>
                </a:moveTo>
                <a:lnTo>
                  <a:pt x="3149409" y="0"/>
                </a:lnTo>
                <a:lnTo>
                  <a:pt x="3149409" y="2771128"/>
                </a:lnTo>
                <a:lnTo>
                  <a:pt x="0" y="2771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406513" y="3126318"/>
            <a:ext cx="3474975" cy="2922807"/>
          </a:xfrm>
          <a:custGeom>
            <a:avLst/>
            <a:gdLst/>
            <a:ahLst/>
            <a:cxnLst/>
            <a:rect l="l" t="t" r="r" b="b"/>
            <a:pathLst>
              <a:path w="3474975" h="2922807">
                <a:moveTo>
                  <a:pt x="0" y="0"/>
                </a:moveTo>
                <a:lnTo>
                  <a:pt x="3474974" y="0"/>
                </a:lnTo>
                <a:lnTo>
                  <a:pt x="3474974" y="2922807"/>
                </a:lnTo>
                <a:lnTo>
                  <a:pt x="0" y="29228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988470" y="3450386"/>
            <a:ext cx="3912832" cy="2274672"/>
          </a:xfrm>
          <a:custGeom>
            <a:avLst/>
            <a:gdLst/>
            <a:ahLst/>
            <a:cxnLst/>
            <a:rect l="l" t="t" r="r" b="b"/>
            <a:pathLst>
              <a:path w="3912832" h="2274672">
                <a:moveTo>
                  <a:pt x="0" y="0"/>
                </a:moveTo>
                <a:lnTo>
                  <a:pt x="3912832" y="0"/>
                </a:lnTo>
                <a:lnTo>
                  <a:pt x="3912832" y="2274672"/>
                </a:lnTo>
                <a:lnTo>
                  <a:pt x="0" y="22746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05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006077" y="4968821"/>
            <a:ext cx="3107703" cy="3499777"/>
          </a:xfrm>
          <a:custGeom>
            <a:avLst/>
            <a:gdLst/>
            <a:ahLst/>
            <a:cxnLst/>
            <a:rect l="l" t="t" r="r" b="b"/>
            <a:pathLst>
              <a:path w="3107703" h="3499777">
                <a:moveTo>
                  <a:pt x="0" y="0"/>
                </a:moveTo>
                <a:lnTo>
                  <a:pt x="3107703" y="0"/>
                </a:lnTo>
                <a:lnTo>
                  <a:pt x="3107703" y="3499778"/>
                </a:lnTo>
                <a:lnTo>
                  <a:pt x="0" y="34997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066" r="-69226" b="-165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435811" y="6718710"/>
            <a:ext cx="3187093" cy="3037178"/>
          </a:xfrm>
          <a:custGeom>
            <a:avLst/>
            <a:gdLst/>
            <a:ahLst/>
            <a:cxnLst/>
            <a:rect l="l" t="t" r="r" b="b"/>
            <a:pathLst>
              <a:path w="3187093" h="3037178">
                <a:moveTo>
                  <a:pt x="0" y="0"/>
                </a:moveTo>
                <a:lnTo>
                  <a:pt x="3187093" y="0"/>
                </a:lnTo>
                <a:lnTo>
                  <a:pt x="3187093" y="3037178"/>
                </a:lnTo>
                <a:lnTo>
                  <a:pt x="0" y="30371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461426" y="4968821"/>
            <a:ext cx="2365897" cy="561334"/>
            <a:chOff x="0" y="0"/>
            <a:chExt cx="623117" cy="1478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3117" cy="147841"/>
            </a:xfrm>
            <a:custGeom>
              <a:avLst/>
              <a:gdLst/>
              <a:ahLst/>
              <a:cxnLst/>
              <a:rect l="l" t="t" r="r" b="b"/>
              <a:pathLst>
                <a:path w="623117" h="147841">
                  <a:moveTo>
                    <a:pt x="0" y="0"/>
                  </a:moveTo>
                  <a:lnTo>
                    <a:pt x="623117" y="0"/>
                  </a:lnTo>
                  <a:lnTo>
                    <a:pt x="623117" y="147841"/>
                  </a:lnTo>
                  <a:lnTo>
                    <a:pt x="0" y="147841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623117" cy="166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Register User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50817" y="733425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b="1" spc="-72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 Authentication Flow with JWT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43304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Ayo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439956" y="5725058"/>
            <a:ext cx="2365897" cy="561334"/>
            <a:chOff x="0" y="0"/>
            <a:chExt cx="623117" cy="1478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3117" cy="147841"/>
            </a:xfrm>
            <a:custGeom>
              <a:avLst/>
              <a:gdLst/>
              <a:ahLst/>
              <a:cxnLst/>
              <a:rect l="l" t="t" r="r" b="b"/>
              <a:pathLst>
                <a:path w="623117" h="147841">
                  <a:moveTo>
                    <a:pt x="0" y="0"/>
                  </a:moveTo>
                  <a:lnTo>
                    <a:pt x="623117" y="0"/>
                  </a:lnTo>
                  <a:lnTo>
                    <a:pt x="623117" y="147841"/>
                  </a:lnTo>
                  <a:lnTo>
                    <a:pt x="0" y="147841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23117" cy="166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Login User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972110" y="6286392"/>
            <a:ext cx="2365897" cy="561334"/>
            <a:chOff x="0" y="0"/>
            <a:chExt cx="623117" cy="1478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3117" cy="147841"/>
            </a:xfrm>
            <a:custGeom>
              <a:avLst/>
              <a:gdLst/>
              <a:ahLst/>
              <a:cxnLst/>
              <a:rect l="l" t="t" r="r" b="b"/>
              <a:pathLst>
                <a:path w="623117" h="147841">
                  <a:moveTo>
                    <a:pt x="0" y="0"/>
                  </a:moveTo>
                  <a:lnTo>
                    <a:pt x="623117" y="0"/>
                  </a:lnTo>
                  <a:lnTo>
                    <a:pt x="623117" y="147841"/>
                  </a:lnTo>
                  <a:lnTo>
                    <a:pt x="0" y="147841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23117" cy="166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Logout User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489093" y="6049125"/>
            <a:ext cx="2983214" cy="916336"/>
            <a:chOff x="0" y="0"/>
            <a:chExt cx="785702" cy="2413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85702" cy="241339"/>
            </a:xfrm>
            <a:custGeom>
              <a:avLst/>
              <a:gdLst/>
              <a:ahLst/>
              <a:cxnLst/>
              <a:rect l="l" t="t" r="r" b="b"/>
              <a:pathLst>
                <a:path w="785702" h="241339">
                  <a:moveTo>
                    <a:pt x="0" y="0"/>
                  </a:moveTo>
                  <a:lnTo>
                    <a:pt x="785702" y="0"/>
                  </a:lnTo>
                  <a:lnTo>
                    <a:pt x="785702" y="241339"/>
                  </a:lnTo>
                  <a:lnTo>
                    <a:pt x="0" y="241339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785702" cy="260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Request Temp Password Reset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384642" y="8593638"/>
            <a:ext cx="3729138" cy="916336"/>
            <a:chOff x="0" y="0"/>
            <a:chExt cx="982160" cy="24133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82160" cy="241339"/>
            </a:xfrm>
            <a:custGeom>
              <a:avLst/>
              <a:gdLst/>
              <a:ahLst/>
              <a:cxnLst/>
              <a:rect l="l" t="t" r="r" b="b"/>
              <a:pathLst>
                <a:path w="982160" h="241339">
                  <a:moveTo>
                    <a:pt x="0" y="0"/>
                  </a:moveTo>
                  <a:lnTo>
                    <a:pt x="982160" y="0"/>
                  </a:lnTo>
                  <a:lnTo>
                    <a:pt x="982160" y="241339"/>
                  </a:lnTo>
                  <a:lnTo>
                    <a:pt x="0" y="241339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982160" cy="260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Change Temp Password to Permanent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837465" y="7651638"/>
            <a:ext cx="4269290" cy="1171321"/>
            <a:chOff x="0" y="0"/>
            <a:chExt cx="1124422" cy="30849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24422" cy="308496"/>
            </a:xfrm>
            <a:custGeom>
              <a:avLst/>
              <a:gdLst/>
              <a:ahLst/>
              <a:cxnLst/>
              <a:rect l="l" t="t" r="r" b="b"/>
              <a:pathLst>
                <a:path w="1124422" h="308496">
                  <a:moveTo>
                    <a:pt x="0" y="0"/>
                  </a:moveTo>
                  <a:lnTo>
                    <a:pt x="1124422" y="0"/>
                  </a:lnTo>
                  <a:lnTo>
                    <a:pt x="1124422" y="308496"/>
                  </a:lnTo>
                  <a:lnTo>
                    <a:pt x="0" y="308496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124422" cy="3275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54"/>
                </a:lnSpc>
              </a:pPr>
              <a:r>
                <a:rPr lang="en-US" sz="234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Verify Logged in User via </a:t>
              </a:r>
              <a:r>
                <a:rPr lang="en-US" sz="2349" b="1">
                  <a:solidFill>
                    <a:srgbClr val="E8E25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/user/me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9839" y="2331752"/>
            <a:ext cx="7516162" cy="5308289"/>
          </a:xfrm>
          <a:custGeom>
            <a:avLst/>
            <a:gdLst/>
            <a:ahLst/>
            <a:cxnLst/>
            <a:rect l="l" t="t" r="r" b="b"/>
            <a:pathLst>
              <a:path w="7516162" h="5308289">
                <a:moveTo>
                  <a:pt x="0" y="0"/>
                </a:moveTo>
                <a:lnTo>
                  <a:pt x="7516162" y="0"/>
                </a:lnTo>
                <a:lnTo>
                  <a:pt x="7516162" y="5308289"/>
                </a:lnTo>
                <a:lnTo>
                  <a:pt x="0" y="5308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891844" y="1965507"/>
            <a:ext cx="6018915" cy="7498565"/>
          </a:xfrm>
          <a:custGeom>
            <a:avLst/>
            <a:gdLst/>
            <a:ahLst/>
            <a:cxnLst/>
            <a:rect l="l" t="t" r="r" b="b"/>
            <a:pathLst>
              <a:path w="6018915" h="7498565">
                <a:moveTo>
                  <a:pt x="0" y="0"/>
                </a:moveTo>
                <a:lnTo>
                  <a:pt x="6018916" y="0"/>
                </a:lnTo>
                <a:lnTo>
                  <a:pt x="6018916" y="7498565"/>
                </a:lnTo>
                <a:lnTo>
                  <a:pt x="0" y="74985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50817" y="830127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b="1" spc="-72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 Cloud Deployment | CI/CD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43304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Ayo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9839" y="8091962"/>
            <a:ext cx="7678253" cy="1894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FastAPI services for backend and AI(NLP) services are individually deployed in LinuxOne Cloud. The next step is to sync all services together and improve our CI/CD workflow using GitHub Actions while optimising our application and business logic overall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922700" y="6826865"/>
            <a:ext cx="2829665" cy="524153"/>
            <a:chOff x="0" y="0"/>
            <a:chExt cx="745261" cy="1380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5261" cy="138048"/>
            </a:xfrm>
            <a:custGeom>
              <a:avLst/>
              <a:gdLst/>
              <a:ahLst/>
              <a:cxnLst/>
              <a:rect l="l" t="t" r="r" b="b"/>
              <a:pathLst>
                <a:path w="745261" h="138048">
                  <a:moveTo>
                    <a:pt x="0" y="0"/>
                  </a:moveTo>
                  <a:lnTo>
                    <a:pt x="745261" y="0"/>
                  </a:lnTo>
                  <a:lnTo>
                    <a:pt x="745261" y="138048"/>
                  </a:lnTo>
                  <a:lnTo>
                    <a:pt x="0" y="138048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745261" cy="15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0"/>
                </a:lnSpc>
              </a:pPr>
              <a:r>
                <a:rPr lang="en-US" sz="2300" b="1">
                  <a:solidFill>
                    <a:srgbClr val="FFD30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WIP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922700" y="5452458"/>
            <a:ext cx="2829665" cy="524153"/>
            <a:chOff x="0" y="0"/>
            <a:chExt cx="745261" cy="1380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5261" cy="138048"/>
            </a:xfrm>
            <a:custGeom>
              <a:avLst/>
              <a:gdLst/>
              <a:ahLst/>
              <a:cxnLst/>
              <a:rect l="l" t="t" r="r" b="b"/>
              <a:pathLst>
                <a:path w="745261" h="138048">
                  <a:moveTo>
                    <a:pt x="0" y="0"/>
                  </a:moveTo>
                  <a:lnTo>
                    <a:pt x="745261" y="0"/>
                  </a:lnTo>
                  <a:lnTo>
                    <a:pt x="745261" y="138048"/>
                  </a:lnTo>
                  <a:lnTo>
                    <a:pt x="0" y="138048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745261" cy="157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0"/>
                </a:lnSpc>
              </a:pPr>
              <a:r>
                <a:rPr lang="en-US" sz="2300" b="1">
                  <a:solidFill>
                    <a:srgbClr val="FFD30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WIP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22700" y="3022009"/>
            <a:ext cx="3035167" cy="488928"/>
            <a:chOff x="0" y="0"/>
            <a:chExt cx="799386" cy="1287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99386" cy="128771"/>
            </a:xfrm>
            <a:custGeom>
              <a:avLst/>
              <a:gdLst/>
              <a:ahLst/>
              <a:cxnLst/>
              <a:rect l="l" t="t" r="r" b="b"/>
              <a:pathLst>
                <a:path w="799386" h="128771">
                  <a:moveTo>
                    <a:pt x="0" y="0"/>
                  </a:moveTo>
                  <a:lnTo>
                    <a:pt x="799386" y="0"/>
                  </a:lnTo>
                  <a:lnTo>
                    <a:pt x="799386" y="128771"/>
                  </a:lnTo>
                  <a:lnTo>
                    <a:pt x="0" y="128771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799386" cy="147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r>
                <a:rPr lang="en-US" sz="2100" b="1">
                  <a:solidFill>
                    <a:srgbClr val="31452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DONE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922700" y="4237234"/>
            <a:ext cx="3035167" cy="488928"/>
            <a:chOff x="0" y="0"/>
            <a:chExt cx="799386" cy="1287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99386" cy="128771"/>
            </a:xfrm>
            <a:custGeom>
              <a:avLst/>
              <a:gdLst/>
              <a:ahLst/>
              <a:cxnLst/>
              <a:rect l="l" t="t" r="r" b="b"/>
              <a:pathLst>
                <a:path w="799386" h="128771">
                  <a:moveTo>
                    <a:pt x="0" y="0"/>
                  </a:moveTo>
                  <a:lnTo>
                    <a:pt x="799386" y="0"/>
                  </a:lnTo>
                  <a:lnTo>
                    <a:pt x="799386" y="128771"/>
                  </a:lnTo>
                  <a:lnTo>
                    <a:pt x="0" y="128771"/>
                  </a:lnTo>
                  <a:close/>
                </a:path>
              </a:pathLst>
            </a:custGeom>
            <a:solidFill>
              <a:srgbClr val="34EBF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799386" cy="147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r>
                <a:rPr lang="en-US" sz="2100" b="1">
                  <a:solidFill>
                    <a:srgbClr val="31452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DONE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991352"/>
            <a:ext cx="2318657" cy="553437"/>
            <a:chOff x="0" y="0"/>
            <a:chExt cx="808177" cy="1929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8177" cy="192903"/>
            </a:xfrm>
            <a:custGeom>
              <a:avLst/>
              <a:gdLst/>
              <a:ahLst/>
              <a:cxnLst/>
              <a:rect l="l" t="t" r="r" b="b"/>
              <a:pathLst>
                <a:path w="808177" h="192903">
                  <a:moveTo>
                    <a:pt x="0" y="0"/>
                  </a:moveTo>
                  <a:lnTo>
                    <a:pt x="808177" y="0"/>
                  </a:lnTo>
                  <a:lnTo>
                    <a:pt x="808177" y="192903"/>
                  </a:lnTo>
                  <a:lnTo>
                    <a:pt x="0" y="192903"/>
                  </a:lnTo>
                  <a:close/>
                </a:path>
              </a:pathLst>
            </a:custGeom>
            <a:solidFill>
              <a:srgbClr val="CED5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808177" cy="221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1-3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47357" y="4991352"/>
            <a:ext cx="2318657" cy="553437"/>
            <a:chOff x="0" y="0"/>
            <a:chExt cx="768727" cy="1834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8727" cy="183486"/>
            </a:xfrm>
            <a:custGeom>
              <a:avLst/>
              <a:gdLst/>
              <a:ahLst/>
              <a:cxnLst/>
              <a:rect l="l" t="t" r="r" b="b"/>
              <a:pathLst>
                <a:path w="768727" h="183486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979B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4-5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66014" y="4991352"/>
            <a:ext cx="2318657" cy="553437"/>
            <a:chOff x="0" y="0"/>
            <a:chExt cx="768727" cy="183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8727" cy="183486"/>
            </a:xfrm>
            <a:custGeom>
              <a:avLst/>
              <a:gdLst/>
              <a:ahLst/>
              <a:cxnLst/>
              <a:rect l="l" t="t" r="r" b="b"/>
              <a:pathLst>
                <a:path w="768727" h="183486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89E2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6-7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984671" y="4991352"/>
            <a:ext cx="2318657" cy="553437"/>
            <a:chOff x="0" y="0"/>
            <a:chExt cx="768727" cy="1834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8727" cy="183486"/>
            </a:xfrm>
            <a:custGeom>
              <a:avLst/>
              <a:gdLst/>
              <a:ahLst/>
              <a:cxnLst/>
              <a:rect l="l" t="t" r="r" b="b"/>
              <a:pathLst>
                <a:path w="768727" h="183486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ADE46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8-9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303329" y="4991352"/>
            <a:ext cx="2318657" cy="553437"/>
            <a:chOff x="0" y="0"/>
            <a:chExt cx="768727" cy="1834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68727" cy="183486"/>
            </a:xfrm>
            <a:custGeom>
              <a:avLst/>
              <a:gdLst/>
              <a:ahLst/>
              <a:cxnLst/>
              <a:rect l="l" t="t" r="r" b="b"/>
              <a:pathLst>
                <a:path w="768727" h="183486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E8E25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10-11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621986" y="4991352"/>
            <a:ext cx="2318657" cy="553437"/>
            <a:chOff x="0" y="0"/>
            <a:chExt cx="768727" cy="18348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68727" cy="183486"/>
            </a:xfrm>
            <a:custGeom>
              <a:avLst/>
              <a:gdLst/>
              <a:ahLst/>
              <a:cxnLst/>
              <a:rect l="l" t="t" r="r" b="b"/>
              <a:pathLst>
                <a:path w="768727" h="183486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FFD30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12-13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940643" y="4991352"/>
            <a:ext cx="2318657" cy="553437"/>
            <a:chOff x="0" y="0"/>
            <a:chExt cx="768727" cy="18348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68727" cy="183486"/>
            </a:xfrm>
            <a:custGeom>
              <a:avLst/>
              <a:gdLst/>
              <a:ahLst/>
              <a:cxnLst/>
              <a:rect l="l" t="t" r="r" b="b"/>
              <a:pathLst>
                <a:path w="768727" h="183486">
                  <a:moveTo>
                    <a:pt x="0" y="0"/>
                  </a:moveTo>
                  <a:lnTo>
                    <a:pt x="768727" y="0"/>
                  </a:lnTo>
                  <a:lnTo>
                    <a:pt x="768727" y="183486"/>
                  </a:lnTo>
                  <a:lnTo>
                    <a:pt x="0" y="183486"/>
                  </a:lnTo>
                  <a:close/>
                </a:path>
              </a:pathLst>
            </a:custGeom>
            <a:solidFill>
              <a:srgbClr val="FFA67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768727" cy="212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39"/>
                </a:lnSpc>
                <a:spcBef>
                  <a:spcPct val="0"/>
                </a:spcBef>
              </a:pPr>
              <a:r>
                <a:rPr lang="en-US" sz="1599" b="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Week 14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 flipV="1">
            <a:off x="3347357" y="2671575"/>
            <a:ext cx="0" cy="2319776"/>
          </a:xfrm>
          <a:prstGeom prst="line">
            <a:avLst/>
          </a:prstGeom>
          <a:ln w="38100" cap="flat">
            <a:solidFill>
              <a:srgbClr val="CED5E6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 flipV="1">
            <a:off x="7965621" y="2671575"/>
            <a:ext cx="0" cy="2319776"/>
          </a:xfrm>
          <a:prstGeom prst="line">
            <a:avLst/>
          </a:prstGeom>
          <a:ln w="38100" cap="flat">
            <a:solidFill>
              <a:srgbClr val="89E2E8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 flipH="1">
            <a:off x="5646964" y="5544789"/>
            <a:ext cx="0" cy="2319776"/>
          </a:xfrm>
          <a:prstGeom prst="line">
            <a:avLst/>
          </a:prstGeom>
          <a:ln w="38100" cap="flat">
            <a:solidFill>
              <a:srgbClr val="979BFF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10284279" y="5544789"/>
            <a:ext cx="0" cy="2319776"/>
          </a:xfrm>
          <a:prstGeom prst="line">
            <a:avLst/>
          </a:prstGeom>
          <a:ln w="38100" cap="flat">
            <a:solidFill>
              <a:srgbClr val="ADE466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V="1">
            <a:off x="12602936" y="2671575"/>
            <a:ext cx="0" cy="2319776"/>
          </a:xfrm>
          <a:prstGeom prst="line">
            <a:avLst/>
          </a:prstGeom>
          <a:ln w="38100" cap="flat">
            <a:solidFill>
              <a:srgbClr val="E8E252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>
            <a:off x="14921593" y="5544789"/>
            <a:ext cx="0" cy="2319776"/>
          </a:xfrm>
          <a:prstGeom prst="line">
            <a:avLst/>
          </a:prstGeom>
          <a:ln w="38100" cap="flat">
            <a:solidFill>
              <a:srgbClr val="FFD308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V="1">
            <a:off x="17240250" y="2671575"/>
            <a:ext cx="0" cy="2319776"/>
          </a:xfrm>
          <a:prstGeom prst="line">
            <a:avLst/>
          </a:prstGeom>
          <a:ln w="38100" cap="flat">
            <a:solidFill>
              <a:srgbClr val="FFA678"/>
            </a:solidFill>
            <a:prstDash val="solid"/>
            <a:headEnd type="none" w="sm" len="sm"/>
            <a:tailEnd type="diamond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572668" y="3054298"/>
            <a:ext cx="2544845" cy="1497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59"/>
              </a:lnSpc>
            </a:pPr>
            <a:r>
              <a:rPr lang="en-US" sz="1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Prepare the project proposal and set up the development environment 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6108" y="2220582"/>
            <a:ext cx="1883842" cy="73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4"/>
              </a:lnSpc>
            </a:pPr>
            <a:r>
              <a:rPr lang="en-US" sz="2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Proposal and Setup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234088" y="3054298"/>
            <a:ext cx="2520739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Integrate LLM API,  API, implement classification slots, and create chat endpoints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83422" y="2220582"/>
            <a:ext cx="1883842" cy="73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4"/>
              </a:lnSpc>
            </a:pPr>
            <a:r>
              <a:rPr lang="en-US" sz="2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 + Chat Setup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68247" y="3054298"/>
            <a:ext cx="2723895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Integrate APIs for car rental, hotels and attractions search, and add an API endpoint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170487" y="3054298"/>
            <a:ext cx="1858969" cy="111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Publish an app to the Expo/Vercel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921593" y="2220582"/>
            <a:ext cx="2120299" cy="73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4"/>
              </a:lnSpc>
            </a:pPr>
            <a:r>
              <a:rPr lang="en-US" sz="2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Publish &amp; Deployment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347357" y="6486107"/>
            <a:ext cx="2088813" cy="225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Initialize and design the frontend basic layout and the backend basic endpoints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29949" y="5652392"/>
            <a:ext cx="2318657" cy="73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4"/>
              </a:lnSpc>
            </a:pPr>
            <a:r>
              <a:rPr lang="en-US" sz="2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&amp; backend Setup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14516" y="6486107"/>
            <a:ext cx="1858969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Integrate APIs for flights and hotels, and add each API endpoint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392142" y="6486107"/>
            <a:ext cx="2318657" cy="1497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6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Orchestrate flight, hotel, rental,  and attractions based on inputs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417015" y="5652392"/>
            <a:ext cx="2306221" cy="73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4"/>
              </a:lnSpc>
            </a:pPr>
            <a:r>
              <a:rPr lang="en-US" sz="2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Orchestration &amp; Testing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" y="839267"/>
            <a:ext cx="7584203" cy="1075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6"/>
              </a:lnSpc>
              <a:spcBef>
                <a:spcPct val="0"/>
              </a:spcBef>
            </a:pPr>
            <a:r>
              <a:rPr lang="en-US" sz="7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Timeline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37113" y="5652392"/>
            <a:ext cx="2561244" cy="73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4"/>
              </a:lnSpc>
            </a:pPr>
            <a:r>
              <a:rPr lang="en-US" sz="2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Flights &amp; Hotels Integration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409528" y="2220582"/>
            <a:ext cx="3007486" cy="73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4"/>
              </a:lnSpc>
            </a:pPr>
            <a:r>
              <a:rPr lang="en-US" sz="23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Rent &amp; Attractions Integration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543304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Sangmin, Umair, Ayo</a:t>
            </a:r>
          </a:p>
        </p:txBody>
      </p:sp>
      <p:sp>
        <p:nvSpPr>
          <p:cNvPr id="46" name="AutoShape 46"/>
          <p:cNvSpPr/>
          <p:nvPr/>
        </p:nvSpPr>
        <p:spPr>
          <a:xfrm flipV="1">
            <a:off x="11510282" y="5820181"/>
            <a:ext cx="0" cy="1446153"/>
          </a:xfrm>
          <a:prstGeom prst="line">
            <a:avLst/>
          </a:prstGeom>
          <a:ln w="95250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0817" y="1162050"/>
            <a:ext cx="1620848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</a:pPr>
            <a:r>
              <a:rPr lang="en-US" sz="7200" b="1" spc="-72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What’s next?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50817" y="2660333"/>
            <a:ext cx="16208483" cy="2459439"/>
            <a:chOff x="0" y="0"/>
            <a:chExt cx="21611311" cy="3279252"/>
          </a:xfrm>
        </p:grpSpPr>
        <p:sp>
          <p:nvSpPr>
            <p:cNvPr id="4" name="TextBox 4"/>
            <p:cNvSpPr txBox="1"/>
            <p:nvPr/>
          </p:nvSpPr>
          <p:spPr>
            <a:xfrm>
              <a:off x="0" y="766555"/>
              <a:ext cx="21611311" cy="2512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0521" lvl="1" indent="-275260" algn="l">
                <a:lnSpc>
                  <a:spcPts val="3314"/>
                </a:lnSpc>
                <a:buFont typeface="Arial"/>
                <a:buChar char="•"/>
              </a:pPr>
              <a:r>
                <a:rPr lang="en-US" sz="25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Goal:</a:t>
              </a: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Complete the user’s record storage strategies.</a:t>
              </a:r>
            </a:p>
            <a:p>
              <a:pPr marL="550521" lvl="1" indent="-275260" algn="l">
                <a:lnSpc>
                  <a:spcPts val="5099"/>
                </a:lnSpc>
                <a:buFont typeface="Arial"/>
                <a:buChar char="•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Expected Result #1: The application can track the user’s record regardless of the user's registration.</a:t>
              </a:r>
            </a:p>
            <a:p>
              <a:pPr marL="550521" lvl="1" indent="-275260" algn="l">
                <a:lnSpc>
                  <a:spcPts val="3314"/>
                </a:lnSpc>
                <a:buFont typeface="Arial"/>
                <a:buChar char="•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Expected Result #2: Once TWOS provides a travel plan for users, the plan should be stored in the database for users' next plan and future optimized personlizations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7150"/>
              <a:ext cx="10909441" cy="507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99"/>
                </a:lnSpc>
              </a:pPr>
              <a:r>
                <a:rPr lang="en-US" sz="279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Connecting Frontend and Backend #3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5681694"/>
            <a:ext cx="16230600" cy="4164976"/>
            <a:chOff x="0" y="0"/>
            <a:chExt cx="21640800" cy="5553302"/>
          </a:xfrm>
        </p:grpSpPr>
        <p:sp>
          <p:nvSpPr>
            <p:cNvPr id="7" name="TextBox 7"/>
            <p:cNvSpPr txBox="1"/>
            <p:nvPr/>
          </p:nvSpPr>
          <p:spPr>
            <a:xfrm>
              <a:off x="0" y="602827"/>
              <a:ext cx="21640800" cy="4950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50521" lvl="1" indent="-275260" algn="l">
                <a:lnSpc>
                  <a:spcPts val="5099"/>
                </a:lnSpc>
                <a:buFont typeface="Arial"/>
                <a:buChar char="•"/>
              </a:pPr>
              <a:r>
                <a:rPr lang="en-US" sz="25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Goal:</a:t>
              </a: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Call APIs to get a list of options using information from the user and the LLM </a:t>
              </a:r>
            </a:p>
            <a:p>
              <a:pPr marL="550521" lvl="1" indent="-275260" algn="l">
                <a:lnSpc>
                  <a:spcPts val="5099"/>
                </a:lnSpc>
                <a:buFont typeface="Arial"/>
                <a:buChar char="•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Expected Result #1: List of rental car options based on the user’s dates and destination city</a:t>
              </a:r>
            </a:p>
            <a:p>
              <a:pPr marL="550521" lvl="1" indent="-275260" algn="l">
                <a:lnSpc>
                  <a:spcPts val="5099"/>
                </a:lnSpc>
                <a:buFont typeface="Arial"/>
                <a:buChar char="•"/>
              </a:pPr>
              <a:r>
                <a:rPr lang="en-US" sz="25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Goal:</a:t>
              </a: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Optimise API requests and AI services for low latency, scalability and availability using tools like Redis or cron jobs.</a:t>
              </a:r>
            </a:p>
            <a:p>
              <a:pPr marL="550521" lvl="1" indent="-275260" algn="l">
                <a:lnSpc>
                  <a:spcPts val="5099"/>
                </a:lnSpc>
                <a:buFont typeface="Arial"/>
                <a:buChar char="•"/>
              </a:pP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Expected Result #1: Zero-downtime or wait time for Chat, AI and external API services.</a:t>
              </a:r>
            </a:p>
            <a:p>
              <a:pPr marL="550521" lvl="1" indent="-275260" algn="l">
                <a:lnSpc>
                  <a:spcPts val="5099"/>
                </a:lnSpc>
                <a:buFont typeface="Arial"/>
                <a:buChar char="•"/>
              </a:pPr>
              <a:r>
                <a:rPr lang="en-US" sz="254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Goal:</a:t>
              </a:r>
              <a:r>
                <a:rPr lang="en-US" sz="2549">
                  <a:solidFill>
                    <a:srgbClr val="00221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Implement future features and user stories as planned on Jira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7150"/>
              <a:ext cx="21640800" cy="507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221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Connect API(Rental Car) with Application and Optimizations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543304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Sangmin, Ayo, Umair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209049" y="1028700"/>
            <a:ext cx="2050251" cy="2207963"/>
          </a:xfrm>
          <a:custGeom>
            <a:avLst/>
            <a:gdLst/>
            <a:ahLst/>
            <a:cxnLst/>
            <a:rect l="l" t="t" r="r" b="b"/>
            <a:pathLst>
              <a:path w="2050251" h="2207963">
                <a:moveTo>
                  <a:pt x="0" y="0"/>
                </a:moveTo>
                <a:lnTo>
                  <a:pt x="2050251" y="0"/>
                </a:lnTo>
                <a:lnTo>
                  <a:pt x="2050251" y="2207963"/>
                </a:lnTo>
                <a:lnTo>
                  <a:pt x="0" y="2207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548" t="-64936" r="-105941" b="-12337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910541"/>
            <a:ext cx="16230600" cy="7347759"/>
            <a:chOff x="0" y="0"/>
            <a:chExt cx="5490351" cy="2485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90351" cy="2485538"/>
            </a:xfrm>
            <a:custGeom>
              <a:avLst/>
              <a:gdLst/>
              <a:ahLst/>
              <a:cxnLst/>
              <a:rect l="l" t="t" r="r" b="b"/>
              <a:pathLst>
                <a:path w="5490351" h="2485538">
                  <a:moveTo>
                    <a:pt x="0" y="0"/>
                  </a:moveTo>
                  <a:lnTo>
                    <a:pt x="5490351" y="0"/>
                  </a:lnTo>
                  <a:lnTo>
                    <a:pt x="5490351" y="2485538"/>
                  </a:lnTo>
                  <a:lnTo>
                    <a:pt x="0" y="2485538"/>
                  </a:lnTo>
                  <a:close/>
                </a:path>
              </a:pathLst>
            </a:custGeom>
            <a:solidFill>
              <a:srgbClr val="E3E8E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076325"/>
            <a:ext cx="1623060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9"/>
              </a:lnSpc>
              <a:spcBef>
                <a:spcPct val="0"/>
              </a:spcBef>
            </a:pPr>
            <a:r>
              <a:rPr lang="en-US" sz="4499" b="1" u="none" spc="-44">
                <a:solidFill>
                  <a:srgbClr val="00221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6616" y="1949046"/>
            <a:ext cx="15675719" cy="6984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519"/>
              </a:lnSpc>
              <a:buAutoNum type="arabicPeriod"/>
            </a:pPr>
            <a:r>
              <a:rPr lang="en-US" sz="2199" b="1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Booking.com Demand API. (2025). Booking.com. https://developers.booking.com/demand/docs/open-api/demand-api</a:t>
            </a:r>
          </a:p>
          <a:p>
            <a:pPr marL="474979" lvl="1" indent="-237490" algn="l">
              <a:lnSpc>
                <a:spcPts val="3519"/>
              </a:lnSpc>
              <a:buAutoNum type="arabicPeriod"/>
            </a:pPr>
            <a:r>
              <a:rPr lang="en-US" sz="2199" b="1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Connect to Amadeus travel APIs | Amadeus for Developers. (n.d.). Amadeus IT Group SA. https://developers.amadeus.com/self-service</a:t>
            </a:r>
          </a:p>
          <a:p>
            <a:pPr marL="474979" lvl="1" indent="-237490" algn="l">
              <a:lnSpc>
                <a:spcPts val="3519"/>
              </a:lnSpc>
              <a:buAutoNum type="arabicPeriod"/>
            </a:pPr>
            <a:r>
              <a:rPr lang="en-US" sz="2199" b="1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Flights - Expedia Group Developer Hub. (2025). Expediagroup.com. https://developers.expediagroup.com/rapid/flights#step-1---search-available-flight-offers</a:t>
            </a:r>
          </a:p>
          <a:p>
            <a:pPr marL="474979" lvl="1" indent="-237490" algn="l">
              <a:lnSpc>
                <a:spcPts val="3519"/>
              </a:lnSpc>
              <a:buAutoNum type="arabicPeriod"/>
            </a:pPr>
            <a:r>
              <a:rPr lang="en-US" sz="2199" b="1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https://dev.to/gbengelebs/netflix-system-design-backend-architecture-10i3</a:t>
            </a:r>
          </a:p>
          <a:p>
            <a:pPr marL="474979" lvl="1" indent="-237490" algn="l">
              <a:lnSpc>
                <a:spcPts val="3519"/>
              </a:lnSpc>
              <a:buAutoNum type="arabicPeriod"/>
            </a:pPr>
            <a:r>
              <a:rPr lang="en-US" sz="2199" b="1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Swagger-Api. (n.d.). GitHub - swagger-api/swagger-ui: Swagger UI is a collection of HTML, JavaScript, and CSS assets that dynamically generate beautiful documentation from a Swagger-compliant API. GitHub. https://github.com/swagger-api/swagger-ui</a:t>
            </a:r>
          </a:p>
          <a:p>
            <a:pPr marL="474979" lvl="1" indent="-237490" algn="l">
              <a:lnSpc>
                <a:spcPts val="3519"/>
              </a:lnSpc>
              <a:buAutoNum type="arabicPeriod"/>
            </a:pPr>
            <a:r>
              <a:rPr lang="en-US" sz="2199" b="1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 PostgreSQL Global Development Group. (2025). PostgreSQL: Documentation. Www.postgresql.org. https://www.postgresql.org/docs/</a:t>
            </a:r>
          </a:p>
          <a:p>
            <a:pPr marL="474979" lvl="1" indent="-237490" algn="l">
              <a:lnSpc>
                <a:spcPts val="3519"/>
              </a:lnSpc>
              <a:buAutoNum type="arabicPeriod"/>
            </a:pPr>
            <a:r>
              <a:rPr lang="en-US" sz="2199" b="1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Welcome to the Tiqets Distributor API | Tiqets for developers. (2025, September 5). Tiqets.dev. https://developers.tiqets.dev</a:t>
            </a:r>
          </a:p>
          <a:p>
            <a:pPr marL="474979" lvl="1" indent="-237490" algn="l">
              <a:lnSpc>
                <a:spcPts val="3519"/>
              </a:lnSpc>
              <a:buAutoNum type="arabicPeriod"/>
            </a:pPr>
            <a:r>
              <a:rPr lang="en-US" sz="2199" b="1">
                <a:solidFill>
                  <a:srgbClr val="00221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https://github.com/linuxone-community-cloud/technical-resources/blob/master/faststart/deploy-virtual-server.md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43304" y="9615962"/>
            <a:ext cx="4715996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Umair, Sangmin, Ayo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63551" y="6387987"/>
            <a:ext cx="2160899" cy="2327122"/>
          </a:xfrm>
          <a:custGeom>
            <a:avLst/>
            <a:gdLst/>
            <a:ahLst/>
            <a:cxnLst/>
            <a:rect l="l" t="t" r="r" b="b"/>
            <a:pathLst>
              <a:path w="2160899" h="2327122">
                <a:moveTo>
                  <a:pt x="0" y="0"/>
                </a:moveTo>
                <a:lnTo>
                  <a:pt x="2160898" y="0"/>
                </a:lnTo>
                <a:lnTo>
                  <a:pt x="2160898" y="2327122"/>
                </a:lnTo>
                <a:lnTo>
                  <a:pt x="0" y="2327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548" t="-64936" r="-105941" b="-1233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2551286" y="2144127"/>
            <a:ext cx="13185428" cy="4787052"/>
            <a:chOff x="0" y="0"/>
            <a:chExt cx="17580570" cy="6382736"/>
          </a:xfrm>
        </p:grpSpPr>
        <p:sp>
          <p:nvSpPr>
            <p:cNvPr id="4" name="TextBox 4"/>
            <p:cNvSpPr txBox="1"/>
            <p:nvPr/>
          </p:nvSpPr>
          <p:spPr>
            <a:xfrm>
              <a:off x="0" y="400050"/>
              <a:ext cx="17580570" cy="5982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07"/>
                </a:lnSpc>
              </a:pPr>
              <a:r>
                <a:rPr lang="en-US" sz="18255">
                  <a:solidFill>
                    <a:srgbClr val="000000"/>
                  </a:solidFill>
                  <a:latin typeface="Distillery Strong"/>
                  <a:ea typeface="Distillery Strong"/>
                  <a:cs typeface="Distillery Strong"/>
                  <a:sym typeface="Distillery Strong"/>
                </a:rPr>
                <a:t>THANK YOU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090449" y="3834941"/>
              <a:ext cx="7399672" cy="2187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35"/>
                </a:lnSpc>
              </a:pPr>
              <a:r>
                <a:rPr lang="en-US" sz="15059">
                  <a:solidFill>
                    <a:srgbClr val="000000"/>
                  </a:solidFill>
                  <a:latin typeface="Moontime"/>
                  <a:ea typeface="Moontime"/>
                  <a:cs typeface="Moontime"/>
                  <a:sym typeface="Moontime"/>
                </a:rPr>
                <a:t>twos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01679" y="9615962"/>
            <a:ext cx="4877361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Umair, Sangmin, Ayo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rgbClr val="62BFD4">
                <a:alpha val="100000"/>
              </a:srgbClr>
            </a:gs>
            <a:gs pos="100000">
              <a:srgbClr val="F1DD76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A781F-D414-767C-4E1F-A73D5DCAE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8F385D4-84A5-54FD-A86D-1F94424BF63F}"/>
              </a:ext>
            </a:extLst>
          </p:cNvPr>
          <p:cNvSpPr/>
          <p:nvPr/>
        </p:nvSpPr>
        <p:spPr>
          <a:xfrm>
            <a:off x="8063551" y="6387987"/>
            <a:ext cx="2160899" cy="2327122"/>
          </a:xfrm>
          <a:custGeom>
            <a:avLst/>
            <a:gdLst/>
            <a:ahLst/>
            <a:cxnLst/>
            <a:rect l="l" t="t" r="r" b="b"/>
            <a:pathLst>
              <a:path w="2160899" h="2327122">
                <a:moveTo>
                  <a:pt x="0" y="0"/>
                </a:moveTo>
                <a:lnTo>
                  <a:pt x="2160898" y="0"/>
                </a:lnTo>
                <a:lnTo>
                  <a:pt x="2160898" y="2327122"/>
                </a:lnTo>
                <a:lnTo>
                  <a:pt x="0" y="2327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548" t="-64936" r="-105941" b="-12337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2702576-2E36-8C39-F4BC-4A5162418B22}"/>
              </a:ext>
            </a:extLst>
          </p:cNvPr>
          <p:cNvGrpSpPr/>
          <p:nvPr/>
        </p:nvGrpSpPr>
        <p:grpSpPr>
          <a:xfrm>
            <a:off x="2551286" y="2144127"/>
            <a:ext cx="13185428" cy="4787052"/>
            <a:chOff x="0" y="0"/>
            <a:chExt cx="17580570" cy="6382736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AF367DD-2462-146D-C627-CE45D941440D}"/>
                </a:ext>
              </a:extLst>
            </p:cNvPr>
            <p:cNvSpPr txBox="1"/>
            <p:nvPr/>
          </p:nvSpPr>
          <p:spPr>
            <a:xfrm>
              <a:off x="0" y="400050"/>
              <a:ext cx="17580570" cy="5982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707"/>
                </a:lnSpc>
              </a:pPr>
              <a:r>
                <a:rPr lang="en-US" sz="18255" dirty="0">
                  <a:solidFill>
                    <a:srgbClr val="000000"/>
                  </a:solidFill>
                  <a:latin typeface="Distillery Strong"/>
                  <a:ea typeface="Distillery Strong"/>
                  <a:cs typeface="Distillery Strong"/>
                  <a:sym typeface="Distillery Strong"/>
                </a:rPr>
                <a:t>THANK YOU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C0EFF92-B642-D129-4F78-3EE421F66CF1}"/>
                </a:ext>
              </a:extLst>
            </p:cNvPr>
            <p:cNvSpPr txBox="1"/>
            <p:nvPr/>
          </p:nvSpPr>
          <p:spPr>
            <a:xfrm>
              <a:off x="5090449" y="3834941"/>
              <a:ext cx="7399672" cy="2187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35"/>
                </a:lnSpc>
              </a:pPr>
              <a:r>
                <a:rPr lang="en-US" sz="15059">
                  <a:solidFill>
                    <a:srgbClr val="000000"/>
                  </a:solidFill>
                  <a:latin typeface="Moontime"/>
                  <a:ea typeface="Moontime"/>
                  <a:cs typeface="Moontime"/>
                  <a:sym typeface="Moontime"/>
                </a:rPr>
                <a:t>twos</a:t>
              </a:r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0BED701E-790D-0302-9AF0-2A5454A28EFB}"/>
              </a:ext>
            </a:extLst>
          </p:cNvPr>
          <p:cNvSpPr txBox="1"/>
          <p:nvPr/>
        </p:nvSpPr>
        <p:spPr>
          <a:xfrm>
            <a:off x="1101679" y="9615962"/>
            <a:ext cx="4877361" cy="370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349">
                <a:solidFill>
                  <a:srgbClr val="002217"/>
                </a:solidFill>
                <a:latin typeface="Canva Sans"/>
                <a:ea typeface="Canva Sans"/>
                <a:cs typeface="Canva Sans"/>
                <a:sym typeface="Canva Sans"/>
              </a:rPr>
              <a:t>Created by Umair, Sangmin, Ayo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E1019-CD5C-C010-D50E-5F2DDF9574E5}"/>
              </a:ext>
            </a:extLst>
          </p:cNvPr>
          <p:cNvSpPr txBox="1"/>
          <p:nvPr/>
        </p:nvSpPr>
        <p:spPr>
          <a:xfrm>
            <a:off x="345213" y="9138016"/>
            <a:ext cx="1759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www.canva.com</a:t>
            </a:r>
            <a:r>
              <a:rPr lang="en-US" dirty="0"/>
              <a:t>/design/DAG0nyhxI-U/U2JOct1QP7BZe7yXJRgHvg/</a:t>
            </a:r>
            <a:r>
              <a:rPr lang="en-US" dirty="0" err="1"/>
              <a:t>edit?utm_content</a:t>
            </a:r>
            <a:r>
              <a:rPr lang="en-US" dirty="0"/>
              <a:t>=DAG0nyhxI-U&amp;utm_campaign=</a:t>
            </a:r>
            <a:r>
              <a:rPr lang="en-US" dirty="0" err="1"/>
              <a:t>designshare&amp;utm_medium</a:t>
            </a:r>
            <a:r>
              <a:rPr lang="en-US" dirty="0"/>
              <a:t>=link2&amp;utm_source=</a:t>
            </a:r>
            <a:r>
              <a:rPr lang="en-US" dirty="0" err="1"/>
              <a:t>sharebutton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51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2835</Words>
  <Application>Microsoft Macintosh PowerPoint</Application>
  <PresentationFormat>Custom</PresentationFormat>
  <Paragraphs>402</Paragraphs>
  <Slides>24</Slides>
  <Notes>19</Notes>
  <HiddenSlides>1</HiddenSlides>
  <MMClips>3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DM Sans Bold</vt:lpstr>
      <vt:lpstr>Canva Sans</vt:lpstr>
      <vt:lpstr>Canva Sans Bold</vt:lpstr>
      <vt:lpstr>Canva Sans Italics</vt:lpstr>
      <vt:lpstr>Distillery Strong</vt:lpstr>
      <vt:lpstr>Arial</vt:lpstr>
      <vt:lpstr>Montserrat Bold</vt:lpstr>
      <vt:lpstr>Canva Sans Medium</vt:lpstr>
      <vt:lpstr>Montserrat</vt:lpstr>
      <vt:lpstr>Agrandir</vt:lpstr>
      <vt:lpstr>Moontime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Midterm</dc:title>
  <cp:lastModifiedBy>Matthew</cp:lastModifiedBy>
  <cp:revision>3</cp:revision>
  <dcterms:created xsi:type="dcterms:W3CDTF">2006-08-16T00:00:00Z</dcterms:created>
  <dcterms:modified xsi:type="dcterms:W3CDTF">2025-10-14T16:16:47Z</dcterms:modified>
  <dc:identifier>DAG0nyhxI-U</dc:identifier>
</cp:coreProperties>
</file>